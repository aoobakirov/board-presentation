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1C2C"/>
              </a:solidFill>
              <a:effectLst/>
            </c:spPr>
          </c:dPt>
          <c:dPt>
            <c:idx val="1"/>
            <c:bubble3D val="0"/>
            <c:spPr>
              <a:solidFill>
                <a:srgbClr val="8A97A4"/>
              </a:solidFill>
              <a:effectLst/>
            </c:spPr>
          </c:dPt>
          <c:dPt>
            <c:idx val="2"/>
            <c:bubble3D val="0"/>
            <c:spPr>
              <a:solidFill>
                <a:srgbClr val="2251FF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Себестоимость</c:v>
                </c:pt>
                <c:pt idx="1">
                  <c:v>Опер. расходы</c:v>
                </c:pt>
                <c:pt idx="2">
                  <c:v>Прибыль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77.5</c:v>
                </c:pt>
                <c:pt idx="1">
                  <c:v>8.5</c:v>
                </c:pt>
                <c:pt idx="2">
                  <c:v>14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51C2C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₸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51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QAZAQ-ASTYQ GROUP</c:v>
                  </c:pt>
                  <c:pt idx="1">
                    <c:v>ALBATAREEQ (ОАЭ)</c:v>
                  </c:pt>
                  <c:pt idx="2">
                    <c:v>Altyn Shyghys</c:v>
                  </c:pt>
                  <c:pt idx="3">
                    <c:v>Royal Export</c:v>
                  </c:pt>
                  <c:pt idx="4">
                    <c:v>ШыгысАгроТорг</c:v>
                  </c:pt>
                  <c:pt idx="5">
                    <c:v>Экспорт-М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517.9</c:v>
                </c:pt>
                <c:pt idx="1">
                  <c:v>216.3</c:v>
                </c:pt>
                <c:pt idx="2">
                  <c:v>164.1</c:v>
                </c:pt>
                <c:pt idx="3">
                  <c:v>29.5</c:v>
                </c:pt>
                <c:pt idx="4">
                  <c:v>22.4</c:v>
                </c:pt>
                <c:pt idx="5">
                  <c:v>16.9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51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51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₸</c:v>
                </c:pt>
              </c:strCache>
            </c:strRef>
          </c:tx>
          <c:spPr>
            <a:solidFill>
              <a:srgbClr val="051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51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Зарубежные перевозчики</c:v>
                  </c:pt>
                  <c:pt idx="1">
                    <c:v>Тариф КТЖ (ж/д)</c:v>
                  </c:pt>
                  <c:pt idx="2">
                    <c:v>Аренда вагонов</c:v>
                  </c:pt>
                  <c:pt idx="3">
                    <c:v>Прочие ж/д и ТЭУ</c:v>
                  </c:pt>
                  <c:pt idx="4">
                    <c:v>Операторы вагонов</c:v>
                  </c:pt>
                  <c:pt idx="5">
                    <c:v>Ремонт и страх.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369.9</c:v>
                </c:pt>
                <c:pt idx="1">
                  <c:v>254.6</c:v>
                </c:pt>
                <c:pt idx="2">
                  <c:v>102.3</c:v>
                </c:pt>
                <c:pt idx="3">
                  <c:v>49.2</c:v>
                </c:pt>
                <c:pt idx="4">
                  <c:v>34.5</c:v>
                </c:pt>
                <c:pt idx="5">
                  <c:v>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51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51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Гео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1C2C"/>
              </a:solidFill>
              <a:effectLst/>
            </c:spPr>
          </c:dPt>
          <c:dPt>
            <c:idx val="1"/>
            <c:bubble3D val="0"/>
            <c:spPr>
              <a:solidFill>
                <a:srgbClr val="2251FF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Внутренние (КЗ)</c:v>
                </c:pt>
                <c:pt idx="1">
                  <c:v>Зарубежные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446.5</c:v>
                </c:pt>
                <c:pt idx="1">
                  <c:v>369.9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51C2C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Управленческий отчёт за июль 2026. Кассовый метод, 5 счетов. Далее — итоги, ОПиУ, клиенты, затраты, денежный поток, выводы.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Полные суммы до тенге — в Excel-модели. Здесь — округление до млн для читаемости.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Операционные расходы 89,5 млн = ФОТ 52,5 + командировки 8,8 + админ 15,4 + налоги 12,8.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HHI 3105 — высокая концентрация. Один клиент = половина выручки.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Операционные расходы (ФОТ, командировки, админ, налоги) — 90 млн, 8,5% выручки.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Бизнес-поток за июль +17,9 млн ₸ = внешние поступления 1062 − выплаты 1044. Технические переводы между счетами исключены.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Резюме: прибыльный месяц; главный риск — зависимость от одного клиента; далее — диверсификация, контроль себестоимости, помесячный план-факт.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WAYSTAR GROUP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отчёт за июль 2026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3886200"/>
            <a:ext cx="3840480" cy="0"/>
          </a:xfrm>
          <a:prstGeom prst="line">
            <a:avLst/>
          </a:prstGeom>
          <a:noFill/>
          <a:ln w="25400">
            <a:solidFill>
              <a:srgbClr val="225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итоги, структура выручки и затрат, движение денежных средств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 «WayStar Group» · транспортно-экспедиторские услуги · кассовый метод по банковским выпискам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МЕСЯЦА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Июль — прибыльный месяц: чистый результат 127 млн ₸ при рентабельности 12%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банковские выписки 5 счетов (ЦентрКредит, Bank RBK), июль 2026 · кассовый метод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1 053</a:t>
            </a:r>
            <a:pPr algn="l" indent="0" marL="0">
              <a:buNone/>
            </a:pPr>
            <a:r>
              <a:rPr lang="en-US" sz="13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млн ₸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 операций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35858" y="192024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Валовая прибыль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35858" y="242316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</a:t>
            </a:r>
            <a:pPr algn="l" indent="0" marL="0">
              <a:buNone/>
            </a:pPr>
            <a:r>
              <a:rPr lang="en-US" sz="13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млн ₸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35858" y="333756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 22,5%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8698" y="2011680"/>
            <a:ext cx="0" cy="173736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636" y="192024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Операционная прибыль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1636" y="242316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pPr algn="l" indent="0" marL="0">
              <a:buNone/>
            </a:pPr>
            <a:r>
              <a:rPr lang="en-US" sz="13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млн ₸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31636" y="333756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14,0% от выручки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4476" y="2011680"/>
            <a:ext cx="0" cy="173736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7414" y="192024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результат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27414" y="242316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pPr algn="l" indent="0" marL="0">
              <a:buNone/>
            </a:pPr>
            <a:r>
              <a:rPr lang="en-US" sz="13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млн ₸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27414" y="3337560"/>
            <a:ext cx="2521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12,0% от выручки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90254" y="2011680"/>
            <a:ext cx="0" cy="173736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526280"/>
            <a:ext cx="10908792" cy="14173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63440"/>
            <a:ext cx="103601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Июль прибыльный и денежно-положительный: выручка 1,05 млрд ₸, валовая маржа 22,5%, чистый результат 127 млн ₸. Себестоимость перевозок — 77% выручки. Структурный риск — концентрация продаж на одном клиенте (49% выручки).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ПРИБЫЛИ И УБЫТКИ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тенге выручки приносит 14 копеек операционной прибыли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банковские выписки 5 счетов (ЦентрКредит, Bank RBK), июль 2026 · кассовый метод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583680" cy="56692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745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1 053 133 294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41448"/>
            <a:ext cx="6583680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4144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перевозок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244144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−816 333 005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4144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08376"/>
            <a:ext cx="6583680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08376"/>
            <a:ext cx="6583680" cy="56692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0083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Валовая прибыль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3008376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236 800 289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00837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575304"/>
            <a:ext cx="6583680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5753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расходы (ФОТ, командировки, админ, налоги)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3575304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−89 510 608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57530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142232"/>
            <a:ext cx="6583680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142232"/>
            <a:ext cx="6583680" cy="56692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1422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Операционная прибыль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80560" y="4142232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147 289 681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142232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6583680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709160"/>
            <a:ext cx="6583680" cy="56692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7091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результат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80560" y="47091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126 645 318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70916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276088"/>
            <a:ext cx="6583680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1 ₸ выручки</a:t>
            </a:r>
            <a:endParaRPr lang="en-US" sz="13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7452360" y="2194560"/>
          <a:ext cx="4069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· КОНЦЕНТРАЦИЯ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Половина выручки приходит от одного клиента — ключевой риск месяца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банковские выписки 5 счетов (ЦентрКредит, Bank RBK), июль 2026 · кассовый метод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по клиентам, млн ₸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4884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35240" y="19659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635240" y="25694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выручки — QAZAQ-ASTYQ GROUP (518 млн ₸)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35240" y="31729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85,3%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635240" y="3776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приходится на топ-3 клиентов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437997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3 105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635240" y="4983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концентрации HHI (&gt;2500 — высокий)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35240" y="1965960"/>
            <a:ext cx="0" cy="356616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5669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Импликация: потеря ключевого заказчика обрушит месячную выручку — приоритет №1 — диверсификация клиентской базы.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 выручки — перевозки; зарубежные экспедиторы и КТЖ дают 76% себестоимости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банковские выписки 5 счетов (ЦентрКредит, Bank RBK), июль 2026 · кассовый метод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перевозок, млн ₸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4884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перевозок, млн ₸</a:t>
            </a:r>
            <a:endParaRPr lang="en-US" sz="12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498080" y="214884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4983480"/>
            <a:ext cx="4206240" cy="105156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0" y="5074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= 77,5% выручки.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Зарубежные перевозчики и тариф КТЖ вместе — 624 млн ₸ (76% себестоимости): главный рычаг маржи.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ДЕНЕЖНЫЕ СРЕДСТВА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+147 млн ₸ полностью покрыл инвестиции и займы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CBD3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73952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банковские выписки 5 счетов (ЦентрКредит, Bank RBK), июль 2026 · кассовый метод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918411" cy="1828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258568"/>
            <a:ext cx="1808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2770632"/>
            <a:ext cx="1845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+147,3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4944" y="3502152"/>
            <a:ext cx="18086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7675" y="2057400"/>
            <a:ext cx="1918411" cy="1828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1" name="Text 9"/>
          <p:cNvSpPr/>
          <p:nvPr/>
        </p:nvSpPr>
        <p:spPr>
          <a:xfrm>
            <a:off x="2942539" y="2258568"/>
            <a:ext cx="1808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Инвестиционный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4251" y="2770632"/>
            <a:ext cx="1845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−42,1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942539" y="3502152"/>
            <a:ext cx="18086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58491" y="26060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35270" y="2057400"/>
            <a:ext cx="1918411" cy="1828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5190134" y="2258568"/>
            <a:ext cx="1808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71846" y="2770632"/>
            <a:ext cx="1845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−77,2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190134" y="3502152"/>
            <a:ext cx="18086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6086" y="26060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82866" y="2057400"/>
            <a:ext cx="1918411" cy="18288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7437730" y="2258568"/>
            <a:ext cx="1808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19442" y="2770632"/>
            <a:ext cx="1845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−10,1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437730" y="3502152"/>
            <a:ext cx="18086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53682" y="26060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30461" y="2057400"/>
            <a:ext cx="1918411" cy="18288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6" name="Text 24"/>
          <p:cNvSpPr/>
          <p:nvPr/>
        </p:nvSpPr>
        <p:spPr>
          <a:xfrm>
            <a:off x="9685325" y="2258568"/>
            <a:ext cx="1808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ПОТОК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67037" y="2770632"/>
            <a:ext cx="1845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+17,9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9685325" y="3502152"/>
            <a:ext cx="18086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01277" y="26060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40080" y="4434840"/>
            <a:ext cx="10908792" cy="150876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572000"/>
            <a:ext cx="103601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Операционная деятельность сгенерировала +147 млн ₸.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них 42 млн направлено на инвестиции (лизинг вагонов) и 77 млн — на обслуживание займов (погашение тела кредита, выданные займы).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— положительный денежный поток +17,9 млн ₸: компания генерирует деньги, а не проедает их.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И ПРИОРИТЕТЫ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Прибыльный месяц при одном структурном риске — концентрации клиентов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2C43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039112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рентабельность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54480" y="2441448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Валовая маржа 22,5%, операционная 14,0%, чистый результат 127 млн ₸ (12%). Месяц прибыльный и денежно-положительный (+17,9 млн ₸).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09981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3081528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концентрации выручки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54480" y="3483864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клиент — 49% выручки, топ-3 — 85% (HHI 3105). Диверсификация клиентской базы — приоритет №1.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142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4123944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77,5% выручки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— зарубежные перевозчики и тариф КТЖ (624 млн ₸). Контроль ж/д тарифа и ставок фрахта — ключевой рычаг маржи.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1846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5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5166360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контур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554480" y="556869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и план-факт помесячно, мониторинг денежной позиции и лимит на одного заказчика.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7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WayStar Group · Управленческий отчёт · июль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2026-08-05T07:44:45Z</dcterms:created>
  <dcterms:modified xsi:type="dcterms:W3CDTF">2026-08-05T07:44:45Z</dcterms:modified>
</cp:coreProperties>
</file>