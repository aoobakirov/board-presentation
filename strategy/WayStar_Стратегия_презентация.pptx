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FD0E0"/>
                </a:solidFill>
                <a:latin typeface="Calibri"/>
              </a:rPr>
              <a:t>WAYSTAR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Стратегия группы</a:t>
            </a:r>
          </a:p>
          <a:p>
            <a:pPr algn="l"/>
            <a:r>
              <a:rPr sz="3000" b="1">
                <a:solidFill>
                  <a:srgbClr val="AFC6DC"/>
                </a:solidFill>
                <a:latin typeface="Calibri"/>
              </a:rPr>
              <a:t>на 5 лет · 2026–2031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BFD0E0"/>
                </a:solidFill>
                <a:latin typeface="Calibri"/>
              </a:rPr>
              <a:t>Логистика  ·  Трейдинг  ·  Цифровые решения  ·  Международный центр в Дубае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F93A8"/>
                </a:solidFill>
                <a:latin typeface="Calibri"/>
              </a:rPr>
              <a:t>Конфиденциально · Проект для совета директоров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РЕЗЮМЕ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Стратегический тезис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44168"/>
            <a:ext cx="82296" cy="101498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150 000 т/мес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Объём перевозок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185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1850" y="1344168"/>
            <a:ext cx="82296" cy="101498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200+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788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Маршрутов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060" y="1344168"/>
            <a:ext cx="82296" cy="101498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09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3294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09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Дивизиона группы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827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270" y="1344168"/>
            <a:ext cx="82296" cy="1014984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430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C4772F"/>
                </a:solidFill>
                <a:latin typeface="Calibri"/>
              </a:rPr>
              <a:t>$50 млн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430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Оборот Дубая · год 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743200"/>
            <a:ext cx="544068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2926080"/>
            <a:ext cx="5020056" cy="3118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3294B"/>
                </a:solidFill>
                <a:latin typeface="Calibri"/>
              </a:rPr>
              <a:t>Кто мы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/>
            </a:r>
            <a:r>
              <a:rPr sz="1050" b="0">
                <a:solidFill>
                  <a:srgbClr val="2A3746"/>
                </a:solidFill>
                <a:latin typeface="Calibri"/>
              </a:rPr>
              <a:t>Вертикально интегрированная группа: логистика + трейдинг + цифровые решения.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/>
            </a:r>
            <a:r>
              <a:rPr sz="1050" b="0">
                <a:solidFill>
                  <a:srgbClr val="2A3746"/>
                </a:solidFill>
                <a:latin typeface="Calibri"/>
              </a:rPr>
              <a:t>Контролируем цепочку «производитель → порт → экспортный рынок».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/>
            </a:r>
            <a:r>
              <a:rPr sz="1050" b="0">
                <a:solidFill>
                  <a:srgbClr val="2A3746"/>
                </a:solidFill>
                <a:latin typeface="Calibri"/>
              </a:rPr>
              <a:t>Прямые контракты с переработчиками, экспорт до борта в порту Актау.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/>
            </a:r>
            <a:r>
              <a:rPr sz="1050" b="0">
                <a:solidFill>
                  <a:srgbClr val="2A3746"/>
                </a:solidFill>
                <a:latin typeface="Calibri"/>
              </a:rPr>
              <a:t>Собственный и привлечённый мультимодальный парк.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2743200"/>
            <a:ext cx="5440680" cy="342900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2926080"/>
            <a:ext cx="5020056" cy="3118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6"/>
                </a:solidFill>
                <a:latin typeface="Calibri"/>
              </a:rPr>
              <a:t>Куда идём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>Лидер </a:t>
            </a:r>
            <a:r>
              <a:rPr sz="1050" b="0">
                <a:solidFill>
                  <a:srgbClr val="2A3746"/>
                </a:solidFill>
                <a:latin typeface="Calibri"/>
              </a:rPr>
              <a:t>агро-экспортной логистики и трейдинга региона.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>Дубай — </a:t>
            </a:r>
            <a:r>
              <a:rPr sz="1050" b="0">
                <a:solidFill>
                  <a:srgbClr val="2A3746"/>
                </a:solidFill>
                <a:latin typeface="Calibri"/>
              </a:rPr>
              <a:t>международный сбыт и торговое финансирование, $50 млн в год 1.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>Парк </a:t>
            </a:r>
            <a:r>
              <a:rPr sz="1050" b="0">
                <a:solidFill>
                  <a:srgbClr val="2A3746"/>
                </a:solidFill>
                <a:latin typeface="Calibri"/>
              </a:rPr>
              <a:t>пищевых цистерн 20 → 5 000 под управлением (№1 в нише).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1">
                <a:solidFill>
                  <a:srgbClr val="2A3746"/>
                </a:solidFill>
                <a:latin typeface="Calibri"/>
              </a:rPr>
              <a:t>Управляем </a:t>
            </a:r>
            <a:r>
              <a:rPr sz="1050" b="0">
                <a:solidFill>
                  <a:srgbClr val="2A3746"/>
                </a:solidFill>
                <a:latin typeface="Calibri"/>
              </a:rPr>
              <a:t>по валовой прибыли, а не «оборотом ради оборота».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КТО 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Три дивизиона и вертикальная интеграция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356616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417320"/>
            <a:ext cx="3145536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F6690"/>
                </a:solidFill>
                <a:latin typeface="Calibri"/>
              </a:rPr>
              <a:t>Логистика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F6690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ЖД, авто, авиа, мультимодальные перевозки по РК, СНГ и на экспорт.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F6690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Парк: пищевые цистерны, крытые вагоны, полувагоны, зерновозы.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F6690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150 000 т/мес · 200+ маршрутов · 20 собственных единиц.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234440"/>
            <a:ext cx="356616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417320"/>
            <a:ext cx="3145536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4772F"/>
                </a:solidFill>
                <a:latin typeface="Calibri"/>
              </a:rPr>
              <a:t>Трейдинг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C4772F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Растительные масла, зерно, масличные, навалочные грузы.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C4772F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Прямые контракты с переработчиками, прозрачная цена.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C4772F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Экспорт до борта судна в порту Актау.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1234440"/>
            <a:ext cx="356616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1417320"/>
            <a:ext cx="3145536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3294B"/>
                </a:solidFill>
                <a:latin typeface="Calibri"/>
              </a:rPr>
              <a:t>Цифровые решения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Планирование отгрузок и контроль движения груза.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Прослеживаемость на каждом этапе маршрута.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3294B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Маржа на рейс и на сделку в реальном времени.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3294B"/>
                </a:solidFill>
                <a:latin typeface="Calibri"/>
              </a:rPr>
              <a:t>Цепочка создания стоимости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1867204" cy="8686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16477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Закуп у переработчика</a:t>
            </a:r>
          </a:p>
        </p:txBody>
      </p:sp>
      <p:sp>
        <p:nvSpPr>
          <p:cNvPr id="18" name="Chevron 17"/>
          <p:cNvSpPr/>
          <p:nvPr/>
        </p:nvSpPr>
        <p:spPr>
          <a:xfrm>
            <a:off x="2507284" y="477774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54756" y="4526280"/>
            <a:ext cx="1867204" cy="8686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64484" y="4526280"/>
            <a:ext cx="16477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Мультимодальная логистика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3400" y="477774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60872" y="4526280"/>
            <a:ext cx="1867204" cy="8686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70600" y="4526280"/>
            <a:ext cx="16477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Экспорт: Актау / Китай</a:t>
            </a:r>
          </a:p>
        </p:txBody>
      </p:sp>
      <p:sp>
        <p:nvSpPr>
          <p:cNvPr id="24" name="Chevron 23"/>
          <p:cNvSpPr/>
          <p:nvPr/>
        </p:nvSpPr>
        <p:spPr>
          <a:xfrm>
            <a:off x="7119516" y="477774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66988" y="4526280"/>
            <a:ext cx="1867204" cy="8686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76716" y="4526280"/>
            <a:ext cx="16477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Сбыт через Дубай</a:t>
            </a:r>
          </a:p>
        </p:txBody>
      </p:sp>
      <p:sp>
        <p:nvSpPr>
          <p:cNvPr id="27" name="Chevron 26"/>
          <p:cNvSpPr/>
          <p:nvPr/>
        </p:nvSpPr>
        <p:spPr>
          <a:xfrm>
            <a:off x="9425632" y="477774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73104" y="4526280"/>
            <a:ext cx="1867204" cy="86868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82832" y="4526280"/>
            <a:ext cx="16477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Цифровой контроль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4772F"/>
                </a:solidFill>
                <a:latin typeface="Calibri"/>
              </a:rPr>
              <a:t>Преимущество: </a:t>
            </a:r>
            <a:r>
              <a:rPr sz="1200" b="0">
                <a:solidFill>
                  <a:srgbClr val="2A3746"/>
                </a:solidFill>
                <a:latin typeface="Calibri"/>
              </a:rPr>
              <a:t>единый ответственный за всю поставку и дополнительная маржа на каждом звене — того, что нет у разрозненных подрядчиков.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ДИАГНОСТИКА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Рынок: окно возможностей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44168"/>
            <a:ext cx="82296" cy="1014984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E7D46"/>
                </a:solidFill>
                <a:latin typeface="Calibri"/>
              </a:rPr>
              <a:t>+54%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Экспорт растит. масла · №2 в Китай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185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1850" y="1344168"/>
            <a:ext cx="82296" cy="101498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788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$7 млрд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788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Агроэкспорт Казахстана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060" y="1344168"/>
            <a:ext cx="82296" cy="101498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109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×2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109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Молоко к ~2028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8270" y="1234440"/>
            <a:ext cx="2622042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270" y="1344168"/>
            <a:ext cx="82296" cy="1014984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4302" y="1380744"/>
            <a:ext cx="22562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C4772F"/>
                </a:solidFill>
                <a:latin typeface="Calibri"/>
              </a:rPr>
              <a:t>×3–4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4302" y="1947672"/>
            <a:ext cx="2237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Транскаспийский маршрут к 2030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2788920"/>
          <a:ext cx="11091672" cy="274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68880"/>
                <a:gridCol w="493776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Драйвер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Показатель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Значение для группы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Растительное масло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Пр-во +17,4%; экспорт $944 млн (+54%); цель топ-3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Флагман трейдинга и грузопоток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Зерно и масличные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Агроэкспорт $7 млрд; рост переработки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Трейдинг зерна, загрузка зерновозов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Молоко / пищепром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Удвоение до 1,2 млн т; инвестиции +57,7%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База для пищевых цистерн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Логистика РК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$29→36 млрд; автоперевозки +18,2%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Растущий рынок перевозок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Дубай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Мировой торгово-финансовый центр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Рынки сбыта и финансирование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4772F"/>
                </a:solidFill>
                <a:latin typeface="Calibri"/>
              </a:rPr>
              <a:t>Вывод: </a:t>
            </a:r>
            <a:r>
              <a:rPr sz="1200" b="0">
                <a:solidFill>
                  <a:srgbClr val="2A3746"/>
                </a:solidFill>
                <a:latin typeface="Calibri"/>
              </a:rPr>
              <a:t>агроэкспорт РК растёт двузначно, а группа уже владеет и логистикой, и трейдингом — осталось масштабировать цепочку и открыть сбыт через Дубай.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КУДА ИДЁМ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Амбиция группы 2031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11091672" cy="105156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E7D46"/>
                </a:solidFill>
                <a:latin typeface="Calibri"/>
              </a:rPr>
              <a:t>Видение.  </a:t>
            </a:r>
            <a:r>
              <a:rPr sz="1300" b="0">
                <a:solidFill>
                  <a:srgbClr val="2A3746"/>
                </a:solidFill>
                <a:latin typeface="Calibri"/>
              </a:rPr>
              <a:t>Интегрированный лидер агро-экспортной логистики и трейдинга Казахстана и региона: от контракта с переработчиком до поставки на рынки Азии, Ближнего Востока и Африки — с цифровым контролем и международным центром в Дубае.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514600"/>
          <a:ext cx="11091672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347472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Направление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Сегодня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Цель 2031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Трейдинг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масло/зерно через Актау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сбыт через Дубай на Ближний Восток, Африку, Ю. Азию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Дубай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действующий центр, оборот $50 млн (год 1) → рост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Парк пищевых цистерн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20 единиц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≈ 5 000 под управлением · №1 в РК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Логистика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мультимодальный парк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развитие вагонов и зерновозов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Цифровые решения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внутренняя платформа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контроль всей цепочки; продукт для рынка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Операционная маржа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базовая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рост за счёт интеграции и масштаба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Бизнес-модель: вертикальная интеграция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867204" cy="91440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16477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Закуп</a:t>
            </a:r>
          </a:p>
        </p:txBody>
      </p:sp>
      <p:sp>
        <p:nvSpPr>
          <p:cNvPr id="11" name="Chevron 10"/>
          <p:cNvSpPr/>
          <p:nvPr/>
        </p:nvSpPr>
        <p:spPr>
          <a:xfrm>
            <a:off x="2507284" y="164592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54756" y="1371600"/>
            <a:ext cx="1867204" cy="91440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4484" y="1371600"/>
            <a:ext cx="16477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Логистика</a:t>
            </a:r>
          </a:p>
        </p:txBody>
      </p:sp>
      <p:sp>
        <p:nvSpPr>
          <p:cNvPr id="14" name="Chevron 13"/>
          <p:cNvSpPr/>
          <p:nvPr/>
        </p:nvSpPr>
        <p:spPr>
          <a:xfrm>
            <a:off x="4813400" y="164592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0872" y="1371600"/>
            <a:ext cx="1867204" cy="91440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0600" y="1371600"/>
            <a:ext cx="16477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Порт Актау / Китай</a:t>
            </a:r>
          </a:p>
        </p:txBody>
      </p:sp>
      <p:sp>
        <p:nvSpPr>
          <p:cNvPr id="17" name="Chevron 16"/>
          <p:cNvSpPr/>
          <p:nvPr/>
        </p:nvSpPr>
        <p:spPr>
          <a:xfrm>
            <a:off x="7119516" y="164592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66988" y="1371600"/>
            <a:ext cx="1867204" cy="91440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76716" y="1371600"/>
            <a:ext cx="16477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Дубай — сбыт</a:t>
            </a:r>
          </a:p>
        </p:txBody>
      </p:sp>
      <p:sp>
        <p:nvSpPr>
          <p:cNvPr id="20" name="Chevron 19"/>
          <p:cNvSpPr/>
          <p:nvPr/>
        </p:nvSpPr>
        <p:spPr>
          <a:xfrm>
            <a:off x="9425632" y="1645920"/>
            <a:ext cx="256032" cy="365760"/>
          </a:xfrm>
          <a:prstGeom prst="chevron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73104" y="1371600"/>
            <a:ext cx="1867204" cy="914400"/>
          </a:xfrm>
          <a:prstGeom prst="roundRect">
            <a:avLst/>
          </a:prstGeom>
          <a:solidFill>
            <a:srgbClr val="EEF3F8"/>
          </a:solidFill>
          <a:ln w="15875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82832" y="1371600"/>
            <a:ext cx="164774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3294B"/>
                </a:solidFill>
                <a:latin typeface="Calibri"/>
              </a:rPr>
              <a:t>Финансирование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697480"/>
            <a:ext cx="3566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880360"/>
            <a:ext cx="3145536" cy="2798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4772F"/>
                </a:solidFill>
                <a:latin typeface="Calibri"/>
              </a:rPr>
              <a:t>Трейдинг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C4772F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Оборот и доступ к марже товара.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C4772F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Прямые контракты, прозрачная цена.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C4772F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Тонкая маржа — нужен оборотный капитал.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2697480"/>
            <a:ext cx="356616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2880360"/>
            <a:ext cx="3145536" cy="2798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F6690"/>
                </a:solidFill>
                <a:latin typeface="Calibri"/>
              </a:rPr>
              <a:t>Логистика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F6690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Маржа перевозки и надёжность.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F6690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Отгрузки под график судна.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F6690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Специализация: цистерны, зерновозы.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4152" y="2697480"/>
            <a:ext cx="3566160" cy="310896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93608" y="2880360"/>
            <a:ext cx="3145536" cy="2798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6"/>
                </a:solidFill>
                <a:latin typeface="Calibri"/>
              </a:rPr>
              <a:t>Синергия КЗ ↔ Дубай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Казахстан: сырьё и логистика (низкая себестоимость).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Дубай: сбыт, валюта, торговое финансирование.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2E7D46"/>
                </a:solidFill>
                <a:latin typeface="Calibri"/>
              </a:rPr>
              <a:t>▪  </a:t>
            </a:r>
            <a:r>
              <a:rPr sz="1050" b="0">
                <a:solidFill>
                  <a:srgbClr val="2A3746"/>
                </a:solidFill>
                <a:latin typeface="Calibri"/>
              </a:rPr>
              <a:t>Цифра связывает дивизионы.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СТРАТЕГИЧЕСКИЙ ВЫБОР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Где играем и как побеждаем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54406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417320"/>
            <a:ext cx="5020056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3294B"/>
                </a:solidFill>
                <a:latin typeface="Calibri"/>
              </a:rPr>
              <a:t>Где играем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13294B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Товары: </a:t>
            </a:r>
            <a:r>
              <a:rPr sz="1150" b="0">
                <a:solidFill>
                  <a:srgbClr val="2A3746"/>
                </a:solidFill>
                <a:latin typeface="Calibri"/>
              </a:rPr>
              <a:t>масло (флагман), зерно, масличные, пищевые наливные, навалочные.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13294B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База: </a:t>
            </a:r>
            <a:r>
              <a:rPr sz="1150" b="0">
                <a:solidFill>
                  <a:srgbClr val="2A3746"/>
                </a:solidFill>
                <a:latin typeface="Calibri"/>
              </a:rPr>
              <a:t>масличный и зерновой пояс Казахстана.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13294B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Ворота: </a:t>
            </a:r>
            <a:r>
              <a:rPr sz="1150" b="0">
                <a:solidFill>
                  <a:srgbClr val="2A3746"/>
                </a:solidFill>
                <a:latin typeface="Calibri"/>
              </a:rPr>
              <a:t>порт Актау (Каспий), Хоргос/Достык (Китай).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13294B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Рынки: </a:t>
            </a:r>
            <a:r>
              <a:rPr sz="1150" b="0">
                <a:solidFill>
                  <a:srgbClr val="2A3746"/>
                </a:solidFill>
                <a:latin typeface="Calibri"/>
              </a:rPr>
              <a:t>Ближний Восток, Африка, Южная Азия — через Дубай.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13294B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Фокус: </a:t>
            </a:r>
            <a:r>
              <a:rPr sz="1150" b="0">
                <a:solidFill>
                  <a:srgbClr val="2A3746"/>
                </a:solidFill>
                <a:latin typeface="Calibri"/>
              </a:rPr>
              <a:t>агро-товарные потоки; не распыляемся на весь генеральный груз.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234440"/>
            <a:ext cx="5440680" cy="493776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17320"/>
            <a:ext cx="5020056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E7D46"/>
                </a:solidFill>
                <a:latin typeface="Calibri"/>
              </a:rPr>
              <a:t>Как побеждаем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Интеграция: </a:t>
            </a:r>
            <a:r>
              <a:rPr sz="1150" b="0">
                <a:solidFill>
                  <a:srgbClr val="2A3746"/>
                </a:solidFill>
                <a:latin typeface="Calibri"/>
              </a:rPr>
              <a:t>единый ответственный, маржа на всей цепочке.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Парк: </a:t>
            </a:r>
            <a:r>
              <a:rPr sz="1150" b="0">
                <a:solidFill>
                  <a:srgbClr val="2A3746"/>
                </a:solidFill>
                <a:latin typeface="Calibri"/>
              </a:rPr>
              <a:t>собственный + привлечённый мультимодальный, 200+ маршрутов.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Дубай: </a:t>
            </a:r>
            <a:r>
              <a:rPr sz="1150" b="0">
                <a:solidFill>
                  <a:srgbClr val="2A3746"/>
                </a:solidFill>
                <a:latin typeface="Calibri"/>
              </a:rPr>
              <a:t>рынки сбыта + торговое финансирование + валюта.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Контракты: </a:t>
            </a:r>
            <a:r>
              <a:rPr sz="1150" b="0">
                <a:solidFill>
                  <a:srgbClr val="2A3746"/>
                </a:solidFill>
                <a:latin typeface="Calibri"/>
              </a:rPr>
              <a:t>прямая работа с переработчиками — прозрачная цена.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Цифра: </a:t>
            </a:r>
            <a:r>
              <a:rPr sz="1150" b="0">
                <a:solidFill>
                  <a:srgbClr val="2A3746"/>
                </a:solidFill>
                <a:latin typeface="Calibri"/>
              </a:rPr>
              <a:t>планирование, прослеживаемость, маржа на рейс/сделку.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1">
                <a:solidFill>
                  <a:srgbClr val="2A3746"/>
                </a:solidFill>
                <a:latin typeface="Calibri"/>
              </a:rPr>
              <a:t>Специализация: </a:t>
            </a:r>
            <a:r>
              <a:rPr sz="1150" b="0">
                <a:solidFill>
                  <a:srgbClr val="2A3746"/>
                </a:solidFill>
                <a:latin typeface="Calibri"/>
              </a:rPr>
              <a:t>пищевые цистерны и зерновозы — барьер и премия.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СТРАТЕГИЯ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Шесть стратегических столпов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3566160" cy="109728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536192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4772F"/>
                </a:solidFill>
                <a:latin typeface="Calibri"/>
              </a:rPr>
              <a:t>1 · Трейдинг-экспорт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148840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A3746"/>
                </a:solidFill>
                <a:latin typeface="Calibri"/>
              </a:rPr>
              <a:t>Масло, зерно, масличные; масштаб контрактов; сбыт через Актау и Дубай.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2801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280160"/>
            <a:ext cx="3566160" cy="109728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536192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46"/>
                </a:solidFill>
                <a:latin typeface="Calibri"/>
              </a:rPr>
              <a:t>2 · Дубай — 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48840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A3746"/>
                </a:solidFill>
                <a:latin typeface="Calibri"/>
              </a:rPr>
              <a:t>Офис логистика+трейдинг, $50 млн (год 1); рынки и финансирование.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12801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1280160"/>
            <a:ext cx="3566160" cy="109728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536192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F6690"/>
                </a:solidFill>
                <a:latin typeface="Calibri"/>
              </a:rPr>
              <a:t>3 · Логистика и парк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148840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A3746"/>
                </a:solidFill>
                <a:latin typeface="Calibri"/>
              </a:rPr>
              <a:t>Мультимодальный парк; цистерны 20 → 5 000; зерновозы.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947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794760"/>
            <a:ext cx="3566160" cy="1097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050792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3294B"/>
                </a:solidFill>
                <a:latin typeface="Calibri"/>
              </a:rPr>
              <a:t>4 · Цифровые решения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663440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A3746"/>
                </a:solidFill>
                <a:latin typeface="Calibri"/>
              </a:rPr>
              <a:t>Платформа планирования и контроля; маржа на рейс/сделку.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37947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06824" y="3794760"/>
            <a:ext cx="3566160" cy="109728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4050792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F6690"/>
                </a:solidFill>
                <a:latin typeface="Calibri"/>
              </a:rPr>
              <a:t>5 · Финансовый двигатель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4663440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A3746"/>
                </a:solidFill>
                <a:latin typeface="Calibri"/>
              </a:rPr>
              <a:t>Торговое финансирование, лизинг парка, Банк развития/агро, капитал Дубая.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37947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5008" y="3794760"/>
            <a:ext cx="3566160" cy="1097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4050792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3294B"/>
                </a:solidFill>
                <a:latin typeface="Calibri"/>
              </a:rPr>
              <a:t>6 · Люди и управление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4663440"/>
            <a:ext cx="314553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A3746"/>
                </a:solidFill>
                <a:latin typeface="Calibri"/>
              </a:rPr>
              <a:t>Международная команда; мотивация 75/25 и операционная модель.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ИНТЕРНАЦИОНАЛИЗАЦИЯ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Дубай — ход этого года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54864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417320"/>
            <a:ext cx="5065776" cy="2478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2F6690"/>
                </a:solidFill>
                <a:latin typeface="Calibri"/>
              </a:rPr>
              <a:t>Роль центра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200" b="0">
                <a:solidFill>
                  <a:srgbClr val="2F6690"/>
                </a:solidFill>
                <a:latin typeface="Calibri"/>
              </a:rPr>
              <a:t>▪  </a:t>
            </a:r>
            <a:r>
              <a:rPr sz="1200" b="1">
                <a:solidFill>
                  <a:srgbClr val="2A3746"/>
                </a:solidFill>
                <a:latin typeface="Calibri"/>
              </a:rPr>
              <a:t>Торговый деск: </a:t>
            </a:r>
            <a:r>
              <a:rPr sz="1200" b="0">
                <a:solidFill>
                  <a:srgbClr val="2A3746"/>
                </a:solidFill>
                <a:latin typeface="Calibri"/>
              </a:rPr>
              <a:t>сбыт масла и зерна на Ближний Восток, Африку, Ю. Азию.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200" b="0">
                <a:solidFill>
                  <a:srgbClr val="2F6690"/>
                </a:solidFill>
                <a:latin typeface="Calibri"/>
              </a:rPr>
              <a:t>▪  </a:t>
            </a:r>
            <a:r>
              <a:rPr sz="1200" b="1">
                <a:solidFill>
                  <a:srgbClr val="2A3746"/>
                </a:solidFill>
                <a:latin typeface="Calibri"/>
              </a:rPr>
              <a:t>Финансы: </a:t>
            </a:r>
            <a:r>
              <a:rPr sz="1200" b="0">
                <a:solidFill>
                  <a:srgbClr val="2A3746"/>
                </a:solidFill>
                <a:latin typeface="Calibri"/>
              </a:rPr>
              <a:t>аккредитивы, торговое финансирование, валютная выручка.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200" b="0">
                <a:solidFill>
                  <a:srgbClr val="2F6690"/>
                </a:solidFill>
                <a:latin typeface="Calibri"/>
              </a:rPr>
              <a:t>▪  </a:t>
            </a:r>
            <a:r>
              <a:rPr sz="1200" b="1">
                <a:solidFill>
                  <a:srgbClr val="2A3746"/>
                </a:solidFill>
                <a:latin typeface="Calibri"/>
              </a:rPr>
              <a:t>Витрина: </a:t>
            </a:r>
            <a:r>
              <a:rPr sz="1200" b="0">
                <a:solidFill>
                  <a:srgbClr val="2A3746"/>
                </a:solidFill>
                <a:latin typeface="Calibri"/>
              </a:rPr>
              <a:t>нейтральная юрисдикция и репутация для контрагентов.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34440"/>
            <a:ext cx="2596896" cy="2788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44168"/>
            <a:ext cx="82296" cy="2569464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380744"/>
            <a:ext cx="22311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C4772F"/>
                </a:solidFill>
                <a:latin typeface="Calibri"/>
              </a:rPr>
              <a:t>$50 млн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947672"/>
            <a:ext cx="22128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Оборот · год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3416" y="1234440"/>
            <a:ext cx="2596896" cy="2788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43416" y="1344168"/>
            <a:ext cx="82296" cy="2569464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9448" y="1380744"/>
            <a:ext cx="22311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E7D46"/>
                </a:solidFill>
                <a:latin typeface="Calibri"/>
              </a:rPr>
              <a:t>КЗ → Дубай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1947672"/>
            <a:ext cx="221284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Сырьё и логистика → сбыт и деньги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11091672" cy="1874519"/>
          </a:xfrm>
          <a:prstGeom prst="roundRect">
            <a:avLst/>
          </a:prstGeom>
          <a:solidFill>
            <a:srgbClr val="FBF2E6"/>
          </a:solidFill>
          <a:ln w="12700">
            <a:solidFill>
              <a:srgbClr val="C477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34840"/>
            <a:ext cx="105156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772F"/>
                </a:solidFill>
                <a:latin typeface="Calibri"/>
              </a:rPr>
              <a:t>Осторожно (взгляд консультанта).  </a:t>
            </a:r>
          </a:p>
          <a:p>
            <a:pPr algn="l"/>
            <a:r>
              <a:rPr sz="1200" b="0">
                <a:solidFill>
                  <a:srgbClr val="2A3746"/>
                </a:solidFill>
                <a:latin typeface="Calibri"/>
              </a:rPr>
              <a:t>$50 млн — это оборот, а не прибыль. Маржа трейдинга тонкая (единицы процентов) и требует оборотного капитала и управления риском цены и контрагента. </a:t>
            </a:r>
          </a:p>
          <a:p>
            <a:pPr algn="l"/>
            <a:r>
              <a:rPr sz="1200" b="1">
                <a:solidFill>
                  <a:srgbClr val="2A3746"/>
                </a:solidFill>
                <a:latin typeface="Calibri"/>
              </a:rPr>
              <a:t>Успех Дубая = торговое финансирование + хеджирование + надёжная логистика группы, а не только объём сделок.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ЭКОНОМИКА · ИЛЛЮСТРАТИВНО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Финансовая рамка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91672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83280"/>
                <a:gridCol w="1280160"/>
                <a:gridCol w="1280160"/>
                <a:gridCol w="1280160"/>
                <a:gridCol w="1280160"/>
                <a:gridCol w="1280160"/>
                <a:gridCol w="1307592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Оборот, $ млн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Тек.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1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2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3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4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5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Логистика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Трейдинг (Казахстан)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— из них Дубай (новый)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Цифровые решения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Оборот группы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~97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~178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~275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~378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~502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~648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389120"/>
            <a:ext cx="11091672" cy="173736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572000"/>
            <a:ext cx="105156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46"/>
                </a:solidFill>
                <a:latin typeface="Calibri"/>
              </a:rPr>
              <a:t>Главный принцип: управляем по валовой прибыли, а не по обороту.  </a:t>
            </a:r>
          </a:p>
          <a:p>
            <a:pPr algn="l"/>
            <a:r>
              <a:rPr sz="1200" b="0">
                <a:solidFill>
                  <a:srgbClr val="2A3746"/>
                </a:solidFill>
                <a:latin typeface="Calibri"/>
              </a:rPr>
              <a:t>Трейдинг наращивает оборот при тонкой марже; логистика и цифра дают маржу. Числа иллюстративны (заданная точка — Дубай $50 млн в год 1) — заменить на факт: оборот по дивизионам, юнит-экономику цистерны, маржу трейдинга, ставки финансирования.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ЛОГИСТИЧЕСКИЙ СТОЛП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Парк: 20 → 5 000 под управлением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0574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89888"/>
            <a:ext cx="82296" cy="96926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3294B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93392"/>
            <a:ext cx="1673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Сегодня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1280160"/>
            <a:ext cx="20574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07208" y="1389888"/>
            <a:ext cx="82296" cy="96926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1426464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1993392"/>
            <a:ext cx="1673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Год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65776" y="1280160"/>
            <a:ext cx="20574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5776" y="1389888"/>
            <a:ext cx="82296" cy="96926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426464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1 300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1993392"/>
            <a:ext cx="1673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Год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4344" y="1280160"/>
            <a:ext cx="20574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4344" y="1389888"/>
            <a:ext cx="82296" cy="969264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0376" y="1426464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F6690"/>
                </a:solidFill>
                <a:latin typeface="Calibri"/>
              </a:rPr>
              <a:t>2 800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6" y="1993392"/>
            <a:ext cx="1673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Год 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82912" y="1280160"/>
            <a:ext cx="20574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82912" y="1389888"/>
            <a:ext cx="82296" cy="969264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8944" y="1426464"/>
            <a:ext cx="1691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C4772F"/>
                </a:solidFill>
                <a:latin typeface="Calibri"/>
              </a:rPr>
              <a:t>5 000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8944" y="1993392"/>
            <a:ext cx="16733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A3746"/>
                </a:solidFill>
                <a:latin typeface="Calibri"/>
              </a:rPr>
              <a:t>Год 5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2788920"/>
          <a:ext cx="11091672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83280"/>
                <a:gridCol w="1280160"/>
                <a:gridCol w="1280160"/>
                <a:gridCol w="1280160"/>
                <a:gridCol w="1280160"/>
                <a:gridCol w="1280160"/>
                <a:gridCol w="130759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Единиц под управлением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Сейчас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1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2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3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4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Год 5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Собственные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1 000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1 500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Лизинг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1 200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2 200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Партнёрские / управляемые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3746"/>
                          </a:solidFill>
                          <a:latin typeface="Calibri"/>
                        </a:rPr>
                        <a:t>1 300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Всего парк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1 300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2 800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A3746"/>
                          </a:solidFill>
                          <a:latin typeface="Calibri"/>
                        </a:rPr>
                        <a:t>5 000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548640" y="4983480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772F"/>
                </a:solidFill>
                <a:latin typeface="Calibri"/>
              </a:rPr>
              <a:t>Умный капитал.  </a:t>
            </a:r>
          </a:p>
          <a:p>
            <a:pPr algn="l"/>
            <a:r>
              <a:rPr sz="1200" b="0">
                <a:solidFill>
                  <a:srgbClr val="2A3746"/>
                </a:solidFill>
                <a:latin typeface="Calibri"/>
              </a:rPr>
              <a:t>5 000 собственных цистерн ≈ $750 млн — нереально «в лоб». Путь: компактное собственное ядро + лизинг + партнёрская сеть + покупка региональных перевозчиков. Это достижимо и капиталоэффективно.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УПРАВЛЕНИЕ РИСКАМИ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Риски и их снятие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91672" cy="4754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6240"/>
                <a:gridCol w="1737360"/>
                <a:gridCol w="5148072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Влияние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Как снимаем</a:t>
                      </a:r>
                    </a:p>
                  </a:txBody>
                  <a:tcPr marL="82296" marR="54864" marT="18288" marB="18288" anchor="ctr">
                    <a:solidFill>
                      <a:srgbClr val="13294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Оборотный капитал и цена товара (трейдинг)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3746"/>
                          </a:solidFill>
                          <a:latin typeface="Calibri"/>
                        </a:rPr>
                        <a:t>Критическое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Аккредитивы, хеджирование, лимиты на сделку и контрагента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Запуск Дубая (новый рынок, команда)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Высокое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Опытные трейдеры, поэтапный старт, логистика группы как преимущество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Капитал на парк + оборотку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Высокое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Разные источники: лизинг для парка, торговое финансирование для трейдинга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Дефицит водителей и инфраструктуры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Высокое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Ранний набор, мойки с опережением, оплата 75/25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Узкие места коридора / порт Актау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Среднее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Диверсификация маршрутов, партнёрства с портом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Валюта и ставки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Среднее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Валютная выручка Дубая, фиксация лизинга, хеджирование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Распыление на 3 дивизиона + новая страна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A3746"/>
                          </a:solidFill>
                          <a:latin typeface="Calibri"/>
                        </a:rPr>
                        <a:t>Высокое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3746"/>
                          </a:solidFill>
                          <a:latin typeface="Calibri"/>
                        </a:rPr>
                        <a:t>Приоритеты по горизонтам, единая операционная модель, управление по прибыли</a:t>
                      </a:r>
                    </a:p>
                  </a:txBody>
                  <a:tcPr marL="82296" marR="54864" marT="18288" marB="18288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"/>
            <a:ext cx="11064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BFD0E0"/>
                </a:solidFill>
                <a:latin typeface="Calibri"/>
              </a:rPr>
              <a:t>ПЛАН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"/>
            <a:ext cx="11064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Calibri"/>
              </a:rPr>
              <a:t>Дорожная карта: три горизонта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55664"/>
            <a:ext cx="11091672" cy="12700"/>
          </a:xfrm>
          <a:prstGeom prst="rect">
            <a:avLst/>
          </a:prstGeom>
          <a:solidFill>
            <a:srgbClr val="CF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A8D"/>
                </a:solidFill>
                <a:latin typeface="Calibri"/>
              </a:rPr>
              <a:t>WayStar Group · Стратегия группы 2026–2031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6B7A8D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566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3566160" cy="82296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371600"/>
            <a:ext cx="3145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Горизонт 1 · Годы 1–2</a:t>
            </a:r>
          </a:p>
          <a:p>
            <a:pPr algn="l"/>
            <a:r>
              <a:rPr sz="1100" b="0">
                <a:solidFill>
                  <a:srgbClr val="EAF1F7"/>
                </a:solidFill>
                <a:latin typeface="Calibri"/>
              </a:rPr>
              <a:t>«Дубай и ядро»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31720"/>
            <a:ext cx="3108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Открыть Дубай, оборот $50 млн.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Навести порядок в управлении.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Настроить финансирование и лизинг.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Парк 20 → ~450; запуск платформы.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1280160"/>
            <a:ext cx="35661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280160"/>
            <a:ext cx="3566160" cy="82296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371600"/>
            <a:ext cx="3145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Горизонт 2 · Годы 3–4</a:t>
            </a:r>
          </a:p>
          <a:p>
            <a:pPr algn="l"/>
            <a:r>
              <a:rPr sz="1100" b="0">
                <a:solidFill>
                  <a:srgbClr val="EAF1F7"/>
                </a:solidFill>
                <a:latin typeface="Calibri"/>
              </a:rPr>
              <a:t>«Масштаб»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331720"/>
            <a:ext cx="3108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Масштаб трейдинга и направлений сбыта.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Парк ~450 → ~2 800; сеть моек.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Покупка 1–2 перевозчиков.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F6690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Развитие вагонного парка.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1280160"/>
            <a:ext cx="3566160" cy="4663440"/>
          </a:xfrm>
          <a:prstGeom prst="roundRect">
            <a:avLst/>
          </a:prstGeom>
          <a:solidFill>
            <a:srgbClr val="E8F3EC"/>
          </a:solidFill>
          <a:ln w="12700">
            <a:solidFill>
              <a:srgbClr val="CF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1280160"/>
            <a:ext cx="3566160" cy="8229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371600"/>
            <a:ext cx="3145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Горизонт 3 · Год 5</a:t>
            </a:r>
          </a:p>
          <a:p>
            <a:pPr algn="l"/>
            <a:r>
              <a:rPr sz="1100" b="0">
                <a:solidFill>
                  <a:srgbClr val="EAF1F7"/>
                </a:solidFill>
                <a:latin typeface="Calibri"/>
              </a:rPr>
              <a:t>«Лидер №1»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331720"/>
            <a:ext cx="3108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Оборот кратно выше базы; маржа ~12%.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№1 в пищевых цистернах РК.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Дубай — полноценный центр.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>
                <a:solidFill>
                  <a:srgbClr val="2E7D46"/>
                </a:solidFill>
                <a:latin typeface="Calibri"/>
              </a:rPr>
              <a:t>▪  </a:t>
            </a:r>
            <a:r>
              <a:rPr sz="1150" b="0">
                <a:solidFill>
                  <a:srgbClr val="2A3746"/>
                </a:solidFill>
                <a:latin typeface="Calibri"/>
              </a:rPr>
              <a:t>Готовность к новому циклу.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0292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Решение к совету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502920" cy="502920"/>
          </a:xfrm>
          <a:prstGeom prst="round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371600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Одобрить запуск международного центра в Дубае (оборот $50 млн, год 1).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84832"/>
            <a:ext cx="502920" cy="502920"/>
          </a:xfrm>
          <a:prstGeom prst="round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483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0848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Утвердить программу финансирования: лизинг парка + торговое финансирование трейдинга.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98064"/>
            <a:ext cx="502920" cy="502920"/>
          </a:xfrm>
          <a:prstGeom prst="round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798064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Назначить владельца выручки и запустить операционную модель управления.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11296"/>
            <a:ext cx="502920" cy="502920"/>
          </a:xfrm>
          <a:prstGeom prst="round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51129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11296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Утвердить цель «№1 в пищевых цистернах» и траекторию парка 20 → 5 000.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617720"/>
            <a:ext cx="10515600" cy="12700"/>
          </a:xfrm>
          <a:prstGeom prst="rect">
            <a:avLst/>
          </a:prstGeom>
          <a:solidFill>
            <a:srgbClr val="3A52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8920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ТОО «WayStar Group»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FD0E0"/>
                </a:solidFill>
                <a:latin typeface="Calibri"/>
              </a:rPr>
              <a:t>г. Астана, р-н Есиль, ул. Сығанақ, 60/4, БЦ «Abu Dhabi Plaza»</a:t>
            </a:r>
          </a:p>
          <a:p>
            <a:pPr algn="l"/>
            <a:r>
              <a:rPr sz="1100" b="0">
                <a:solidFill>
                  <a:srgbClr val="BFD0E0"/>
                </a:solidFill>
                <a:latin typeface="Calibri"/>
              </a:rPr>
              <a:t>+7 775 939 98 45   ·   info@waystarco.com   ·   www.waystar.kz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