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431" r:id="rId2"/>
    <p:sldId id="432" r:id="rId3"/>
    <p:sldId id="422" r:id="rId4"/>
    <p:sldId id="435" r:id="rId5"/>
    <p:sldId id="305" r:id="rId6"/>
    <p:sldId id="313" r:id="rId7"/>
    <p:sldId id="308" r:id="rId8"/>
    <p:sldId id="309" r:id="rId9"/>
    <p:sldId id="256" r:id="rId10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FC1"/>
    <a:srgbClr val="50A65E"/>
    <a:srgbClr val="FFFFFF"/>
    <a:srgbClr val="D219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790" autoAdjust="0"/>
    <p:restoredTop sz="96281" autoAdjust="0"/>
  </p:normalViewPr>
  <p:slideViewPr>
    <p:cSldViewPr snapToGrid="0">
      <p:cViewPr varScale="1">
        <p:scale>
          <a:sx n="104" d="100"/>
          <a:sy n="104" d="100"/>
        </p:scale>
        <p:origin x="240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851DB2-7CA0-4FA8-8B62-959577F109A1}" type="datetimeFigureOut">
              <a:rPr lang="ru-KZ" smtClean="0"/>
              <a:t>06.07.2026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1A3C37-8CD5-4A63-BA42-7E0BEA142EE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15100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C074E-8760-C84E-9F49-A08F7BF76495}" type="slidenum">
              <a:rPr lang="ru-KZ" smtClean="0"/>
              <a:t>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74881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9DFA5-C99A-648C-2D55-43F3478F1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FA28E2-9C0A-2E1A-0087-3FDF80ABA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960F33-5709-DD08-C74E-938ABB466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B61E-AC36-DA47-847E-12D1686414E6}" type="datetimeFigureOut">
              <a:rPr lang="ru-KZ" smtClean="0"/>
              <a:t>06.07.2026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EE5D3A-DBED-DBE0-1E87-006B219EA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99F22B-7F27-418E-55BB-7017BF4FB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D85E-E4AE-EF46-A3EF-BD7D899E780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16430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3B7EB-3241-DF59-3DF9-F4A6FA852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0C61EC-CAE6-34A7-4BE7-896B6929B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7C782-CDF8-2B78-4DC4-E13DB435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B61E-AC36-DA47-847E-12D1686414E6}" type="datetimeFigureOut">
              <a:rPr lang="ru-KZ" smtClean="0"/>
              <a:t>06.07.2026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BACDDC-C95B-4AE6-A3E3-CD149D8B8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443452-D773-EEBB-8972-3CE5165D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D85E-E4AE-EF46-A3EF-BD7D899E780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61543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24F656-FC3E-C7DC-A7A5-8AB83CAD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54667D-9630-61D6-C195-83C969403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50A4CD-A202-9059-C72F-D3797DC49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B61E-AC36-DA47-847E-12D1686414E6}" type="datetimeFigureOut">
              <a:rPr lang="ru-KZ" smtClean="0"/>
              <a:t>06.07.2026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5C9C3E-8B50-8FCC-3435-F903D1EC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E1EC64-4E61-746F-CDEA-39876809F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D85E-E4AE-EF46-A3EF-BD7D899E780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25060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0B7908-AF3A-E372-A467-15E942AB7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4165F2-B83F-899B-7E3D-391698BCB9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53FDDF2-1B94-554C-344D-20EE03B2C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4F8F688-51CD-1D23-4F09-906C59C81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B61E-AC36-DA47-847E-12D1686414E6}" type="datetimeFigureOut">
              <a:rPr lang="ru-KZ" smtClean="0"/>
              <a:t>06.07.2026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7CE8D2-EE59-F662-45FF-C9AB5D9A3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70CE55-8A8C-BBB5-6527-FE120494B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D85E-E4AE-EF46-A3EF-BD7D899E780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20565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0B8D0-60E1-7FB4-E1E8-B726DA4B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21C42E-31A2-80AA-3B52-CC044BB63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9BDF25-BD16-8FE0-AC44-16BCEFA91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3AFBB03-DAE1-4F81-C44C-3504EEAABD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65042F-D10A-F4F7-4A03-860325D53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0C5BF03-3AB9-A229-B490-6FEEBF21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B61E-AC36-DA47-847E-12D1686414E6}" type="datetimeFigureOut">
              <a:rPr lang="ru-KZ" smtClean="0"/>
              <a:t>06.07.2026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804617A-3746-6F7D-33A8-74C7C393F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60A0E30-282F-B706-F1BB-86BA1DDE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D85E-E4AE-EF46-A3EF-BD7D899E780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4865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34040-2DBE-9A7B-024E-C83FABB5F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DE06AAF-F2A6-0854-4E24-9FD541EAD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B61E-AC36-DA47-847E-12D1686414E6}" type="datetimeFigureOut">
              <a:rPr lang="ru-KZ" smtClean="0"/>
              <a:t>06.07.2026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A6AA54-6FC3-4A81-AD56-44AEC3EE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281025-F1F4-6C18-EF64-B24950268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D85E-E4AE-EF46-A3EF-BD7D899E780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13893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1A8C1BF-9E57-19BC-D9B4-2F3873EB4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B61E-AC36-DA47-847E-12D1686414E6}" type="datetimeFigureOut">
              <a:rPr lang="ru-KZ" smtClean="0"/>
              <a:t>06.07.2026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EFC442A-0710-C3A4-F951-2ECCF9C7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60A5DB-C006-EACC-7AB0-BFC45BC2F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D85E-E4AE-EF46-A3EF-BD7D899E780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20395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38F048-04D1-0DA9-8022-9203631A5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33D1C9-6D6E-E73A-6E03-F09D49D66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A60FB4F-89EB-7F9F-8D89-BE8B07BA7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51912D-3F7D-49DE-4B1B-967426C56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B61E-AC36-DA47-847E-12D1686414E6}" type="datetimeFigureOut">
              <a:rPr lang="ru-KZ" smtClean="0"/>
              <a:t>06.07.2026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A57F0E-4A0C-8092-EF4E-544EF2139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153CCB-5C8B-0F82-662F-8A508661C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D85E-E4AE-EF46-A3EF-BD7D899E780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39712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78ACB6-4E28-7465-246E-40D91287C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6820340-20A4-17F6-849C-DF63B60A88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2BDAAD8-77E2-A06F-16A0-FF199E6A2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2FE24B-BC05-1564-9791-DFD98AC30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B61E-AC36-DA47-847E-12D1686414E6}" type="datetimeFigureOut">
              <a:rPr lang="ru-KZ" smtClean="0"/>
              <a:t>06.07.2026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C23D59-E569-81DB-B50C-FD1A26B8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B49B13-3DC8-3EB2-1000-24DCB303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D85E-E4AE-EF46-A3EF-BD7D899E780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02350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91BFBF-4761-3AF1-ED87-C17A31E5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DE8E1E-66BE-83C7-40CC-5CF39C4F5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5DDAA7-FA2E-FF19-9141-8FB94D10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B61E-AC36-DA47-847E-12D1686414E6}" type="datetimeFigureOut">
              <a:rPr lang="ru-KZ" smtClean="0"/>
              <a:t>06.07.2026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BE19D-93E4-4C75-A94A-CAD2046D3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10E1D6-58AD-0867-C9B5-191E22766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D85E-E4AE-EF46-A3EF-BD7D899E780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8460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4B6CF87-0568-DFCC-4872-6215446B8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B26EB2-BCD1-3860-C611-D9E6CDC28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0989B4-7484-4AB3-D4FE-60681633A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B61E-AC36-DA47-847E-12D1686414E6}" type="datetimeFigureOut">
              <a:rPr lang="ru-KZ" smtClean="0"/>
              <a:t>06.07.2026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5EC25B-AC34-D3BD-8C00-72484D8DB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D7BA54-F327-056A-14BE-8C7F7AD61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DD85E-E4AE-EF46-A3EF-BD7D899E780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94025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4421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893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16F57-A008-EE55-AF6B-E76BE9C6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55164D-9AD8-1D76-A3F5-8769B07C4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42AFAA-5F6D-325A-68F4-E6BC416F6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BB61E-AC36-DA47-847E-12D1686414E6}" type="datetimeFigureOut">
              <a:rPr lang="ru-KZ" smtClean="0"/>
              <a:t>06.07.2026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6C6792-EE0A-4C85-17AB-54141B02E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D42D2D-BEB0-7613-4E87-905940767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DD85E-E4AE-EF46-A3EF-BD7D899E780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75401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7" Type="http://schemas.openxmlformats.org/officeDocument/2006/relationships/image" Target="../media/image17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1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98C2D9-90B4-3ACA-401C-AFA371212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AF73032-C8A2-3202-BF5A-E9CB03F15D4A}"/>
              </a:ext>
            </a:extLst>
          </p:cNvPr>
          <p:cNvSpPr/>
          <p:nvPr/>
        </p:nvSpPr>
        <p:spPr>
          <a:xfrm>
            <a:off x="6" y="6791564"/>
            <a:ext cx="12188952" cy="791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atin typeface="Century Gothic" panose="020B0502020202020204" pitchFamily="34" charset="0"/>
            </a:endParaRPr>
          </a:p>
        </p:txBody>
      </p:sp>
      <p:pic>
        <p:nvPicPr>
          <p:cNvPr id="11" name="Рисунок 10" descr="Изображение выглядит как текст, небо, на открытом воздухе, овощи">
            <a:extLst>
              <a:ext uri="{FF2B5EF4-FFF2-40B4-BE49-F238E27FC236}">
                <a16:creationId xmlns:a16="http://schemas.microsoft.com/office/drawing/2014/main" id="{1913B5DF-C2D7-7281-4CF9-F289ED2F6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36" y="12695"/>
            <a:ext cx="12195036" cy="6858000"/>
          </a:xfrm>
          <a:prstGeom prst="rect">
            <a:avLst/>
          </a:prstGeom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DD1E6B-6C52-38C3-4FFA-58C4E6A3B217}"/>
              </a:ext>
            </a:extLst>
          </p:cNvPr>
          <p:cNvSpPr/>
          <p:nvPr/>
        </p:nvSpPr>
        <p:spPr>
          <a:xfrm>
            <a:off x="6" y="0"/>
            <a:ext cx="12188952" cy="791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06F296-94A7-3C0B-3F95-BCC41BAA1618}"/>
              </a:ext>
            </a:extLst>
          </p:cNvPr>
          <p:cNvSpPr txBox="1"/>
          <p:nvPr/>
        </p:nvSpPr>
        <p:spPr>
          <a:xfrm>
            <a:off x="374468" y="-4618"/>
            <a:ext cx="11817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>
                <a:solidFill>
                  <a:srgbClr val="373737"/>
                </a:solidFill>
                <a:latin typeface="Aptos" panose="020B0502020202020204" pitchFamily="34" charset="0"/>
              </a:rPr>
              <a:t>Краткий маркетинговый обзор рынка удобрений</a:t>
            </a:r>
            <a:endParaRPr lang="ru-KZ" sz="3600" dirty="0">
              <a:solidFill>
                <a:schemeClr val="accent3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Прямоугольник: один усеченный угол 17">
            <a:extLst>
              <a:ext uri="{FF2B5EF4-FFF2-40B4-BE49-F238E27FC236}">
                <a16:creationId xmlns:a16="http://schemas.microsoft.com/office/drawing/2014/main" id="{75546ADF-03CD-82E2-F9D2-892395A231CF}"/>
              </a:ext>
            </a:extLst>
          </p:cNvPr>
          <p:cNvSpPr/>
          <p:nvPr/>
        </p:nvSpPr>
        <p:spPr>
          <a:xfrm>
            <a:off x="0" y="0"/>
            <a:ext cx="12192000" cy="844731"/>
          </a:xfrm>
          <a:custGeom>
            <a:avLst/>
            <a:gdLst>
              <a:gd name="csX0" fmla="*/ 0 w 12192000"/>
              <a:gd name="csY0" fmla="*/ 0 h 844731"/>
              <a:gd name="csX1" fmla="*/ 12051209 w 12192000"/>
              <a:gd name="csY1" fmla="*/ 0 h 844731"/>
              <a:gd name="csX2" fmla="*/ 12192000 w 12192000"/>
              <a:gd name="csY2" fmla="*/ 140791 h 844731"/>
              <a:gd name="csX3" fmla="*/ 12192000 w 12192000"/>
              <a:gd name="csY3" fmla="*/ 844731 h 844731"/>
              <a:gd name="csX4" fmla="*/ 0 w 12192000"/>
              <a:gd name="csY4" fmla="*/ 844731 h 844731"/>
              <a:gd name="csX5" fmla="*/ 0 w 12192000"/>
              <a:gd name="csY5" fmla="*/ 0 h 844731"/>
              <a:gd name="csX0" fmla="*/ 0 w 12192000"/>
              <a:gd name="csY0" fmla="*/ 0 h 844731"/>
              <a:gd name="csX1" fmla="*/ 12181837 w 12192000"/>
              <a:gd name="csY1" fmla="*/ 0 h 844731"/>
              <a:gd name="csX2" fmla="*/ 12192000 w 12192000"/>
              <a:gd name="csY2" fmla="*/ 140791 h 844731"/>
              <a:gd name="csX3" fmla="*/ 12192000 w 12192000"/>
              <a:gd name="csY3" fmla="*/ 844731 h 844731"/>
              <a:gd name="csX4" fmla="*/ 0 w 12192000"/>
              <a:gd name="csY4" fmla="*/ 844731 h 844731"/>
              <a:gd name="csX5" fmla="*/ 0 w 12192000"/>
              <a:gd name="csY5" fmla="*/ 0 h 844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2000" h="844731">
                <a:moveTo>
                  <a:pt x="0" y="0"/>
                </a:moveTo>
                <a:lnTo>
                  <a:pt x="12181837" y="0"/>
                </a:lnTo>
                <a:lnTo>
                  <a:pt x="12192000" y="140791"/>
                </a:lnTo>
                <a:lnTo>
                  <a:pt x="12192000" y="844731"/>
                </a:lnTo>
                <a:lnTo>
                  <a:pt x="0" y="84473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500" b="1" dirty="0">
                <a:solidFill>
                  <a:srgbClr val="373737"/>
                </a:solidFill>
                <a:latin typeface="Aptos" panose="020B0502020202020204" pitchFamily="34" charset="0"/>
              </a:rPr>
              <a:t>ПРОИЗВОДСТВО ОРГАНОМИНЕРАЛЬНЫХ УДОБРЕНИЙ </a:t>
            </a:r>
            <a:r>
              <a:rPr lang="en-US" sz="1500" b="1" dirty="0" err="1">
                <a:solidFill>
                  <a:srgbClr val="373737"/>
                </a:solidFill>
                <a:latin typeface="Aptos" panose="020B0502020202020204" pitchFamily="34" charset="0"/>
              </a:rPr>
              <a:t>KAZBIOFERT</a:t>
            </a:r>
            <a:endParaRPr lang="ru-KZ" sz="3200" b="1" dirty="0">
              <a:solidFill>
                <a:schemeClr val="accent4">
                  <a:lumMod val="20000"/>
                  <a:lumOff val="8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90472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EEC803-7591-8825-D43C-A10BFA9D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FA34C4DB-7CA1-3255-F9E5-B13FD8A4936E}"/>
              </a:ext>
            </a:extLst>
          </p:cNvPr>
          <p:cNvSpPr/>
          <p:nvPr/>
        </p:nvSpPr>
        <p:spPr>
          <a:xfrm>
            <a:off x="6" y="0"/>
            <a:ext cx="12188952" cy="791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atin typeface="Century Gothic" panose="020B0502020202020204" pitchFamily="34" charset="0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D1ABB660-F1F6-C0CF-07B8-C2CCB6F80723}"/>
              </a:ext>
            </a:extLst>
          </p:cNvPr>
          <p:cNvSpPr/>
          <p:nvPr/>
        </p:nvSpPr>
        <p:spPr>
          <a:xfrm>
            <a:off x="3048" y="6783926"/>
            <a:ext cx="12188952" cy="791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atin typeface="Century Gothic" panose="020B0502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502424-0EBB-1770-B5C3-88B0652F5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73" y="6396986"/>
            <a:ext cx="1326154" cy="426505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6116E4E9-EEBE-BF02-FF3C-E729BDA53038}"/>
              </a:ext>
            </a:extLst>
          </p:cNvPr>
          <p:cNvSpPr txBox="1">
            <a:spLocks/>
          </p:cNvSpPr>
          <p:nvPr/>
        </p:nvSpPr>
        <p:spPr>
          <a:xfrm>
            <a:off x="10074" y="69489"/>
            <a:ext cx="7548966" cy="42650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500" b="1" dirty="0">
                <a:solidFill>
                  <a:srgbClr val="373737"/>
                </a:solidFill>
                <a:latin typeface="Aptos" panose="020B0502020202020204" pitchFamily="34" charset="0"/>
                <a:ea typeface="Roboto" panose="02000000000000000000" pitchFamily="2" charset="0"/>
              </a:rPr>
              <a:t>Виды удобрений</a:t>
            </a:r>
            <a:endParaRPr lang="ru-KZ" sz="2000" b="1" dirty="0">
              <a:solidFill>
                <a:srgbClr val="018FC1"/>
              </a:solidFill>
              <a:latin typeface="Century Gothic" panose="020B0502020202020204" pitchFamily="34" charset="0"/>
              <a:ea typeface="Roboto" panose="02000000000000000000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5DBF53-472A-5B95-FA65-BDE76D09B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433" y="-2164740"/>
            <a:ext cx="4750181" cy="8381027"/>
          </a:xfrm>
          <a:prstGeom prst="rect">
            <a:avLst/>
          </a:prstGeom>
        </p:spPr>
      </p:pic>
      <p:pic>
        <p:nvPicPr>
          <p:cNvPr id="7" name="Рисунок 6" descr="Изображение выглядит как Наземный транспорт, текст, транспортное средство, колесо">
            <a:extLst>
              <a:ext uri="{FF2B5EF4-FFF2-40B4-BE49-F238E27FC236}">
                <a16:creationId xmlns:a16="http://schemas.microsoft.com/office/drawing/2014/main" id="{9DB9C2CF-1E7B-0FE8-C755-0921E0FCA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717" y="646770"/>
            <a:ext cx="4752544" cy="47525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099031-6EFA-AE2A-B78B-47E3ADF1029B}"/>
              </a:ext>
            </a:extLst>
          </p:cNvPr>
          <p:cNvSpPr txBox="1"/>
          <p:nvPr/>
        </p:nvSpPr>
        <p:spPr>
          <a:xfrm>
            <a:off x="5183074" y="741213"/>
            <a:ext cx="678320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Основные элементы питания</a:t>
            </a:r>
            <a:r>
              <a:rPr lang="en-US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в удобрениях:</a:t>
            </a:r>
          </a:p>
          <a:p>
            <a:pPr>
              <a:buNone/>
            </a:pP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Азот (</a:t>
            </a:r>
            <a:r>
              <a:rPr lang="ru-RU" sz="1500" b="1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), Фосфор (</a:t>
            </a:r>
            <a:r>
              <a:rPr lang="ru-RU" sz="1500" b="1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) и Калий (</a:t>
            </a:r>
            <a:r>
              <a:rPr lang="ru-RU" sz="1500" b="1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Виды удобрений: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Органические удобрения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— производятся из продуктов животного и растительных</a:t>
            </a:r>
            <a:r>
              <a:rPr lang="en-US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происхождения.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Простые удобрения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— содержат только один основной питательный элемент </a:t>
            </a:r>
            <a:r>
              <a:rPr lang="en-US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en-US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en-US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Неорганические (минеральные) удобрения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— производятся из химических веществ. Могут содержать </a:t>
            </a:r>
            <a:r>
              <a:rPr lang="en-US" sz="1500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NPK</a:t>
            </a:r>
            <a:r>
              <a:rPr lang="en-US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Органоминеральные удобрения 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– это смесь органических удобрений с минеральными удобрениями в одной грануле. При их производстве возможно корректировать содержания </a:t>
            </a:r>
            <a:r>
              <a:rPr lang="en-US" sz="1500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NPK</a:t>
            </a:r>
            <a:r>
              <a:rPr lang="en-US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согласно запросам.</a:t>
            </a:r>
          </a:p>
          <a:p>
            <a:pPr>
              <a:buNone/>
            </a:pP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Виды органоминеральных удобрений:</a:t>
            </a:r>
            <a:endParaRPr lang="ru-RU" sz="16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Комплексные удобрения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— многокомпонентные  удобрения, получаемые в результате химических реакций; каждая гранула содержит несколько питательных элементов </a:t>
            </a:r>
            <a:r>
              <a:rPr lang="en-US" sz="1500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NPK</a:t>
            </a:r>
            <a:r>
              <a:rPr lang="en-US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плюс дополнительные элементы Железо , магний , сера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Смешанные удобрения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— представляют собой гранулы или смеси различных простых (однокомпонентных) удобрений; при этом отдельные гранулы по-прежнему содержат только один питательный элемент.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3710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47CCD25-816C-F520-5427-AA55A7986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433" y="-1399992"/>
            <a:ext cx="4750181" cy="8381027"/>
          </a:xfrm>
          <a:prstGeom prst="rect">
            <a:avLst/>
          </a:prstGeom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4B70552E-311E-14FD-05BD-11B32BBAE0C6}"/>
              </a:ext>
            </a:extLst>
          </p:cNvPr>
          <p:cNvSpPr/>
          <p:nvPr/>
        </p:nvSpPr>
        <p:spPr>
          <a:xfrm>
            <a:off x="6" y="0"/>
            <a:ext cx="12188952" cy="791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atin typeface="Myriad Pro" panose="020B0503030403020204" pitchFamily="34" charset="0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B550272-E013-503D-01CA-D5AF26A9B11E}"/>
              </a:ext>
            </a:extLst>
          </p:cNvPr>
          <p:cNvSpPr/>
          <p:nvPr/>
        </p:nvSpPr>
        <p:spPr>
          <a:xfrm>
            <a:off x="3048" y="6783926"/>
            <a:ext cx="12188952" cy="791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atin typeface="Myriad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5CBDBE-B25E-D2B9-98AB-D208A6070192}"/>
              </a:ext>
            </a:extLst>
          </p:cNvPr>
          <p:cNvSpPr txBox="1"/>
          <p:nvPr/>
        </p:nvSpPr>
        <p:spPr>
          <a:xfrm>
            <a:off x="-1" y="77834"/>
            <a:ext cx="10748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>
              <a:lnSpc>
                <a:spcPct val="90000"/>
              </a:lnSpc>
              <a:spcBef>
                <a:spcPct val="0"/>
              </a:spcBef>
              <a:buNone/>
            </a:pPr>
            <a:r>
              <a:rPr lang="ru-RU" sz="1500" b="1" dirty="0">
                <a:solidFill>
                  <a:srgbClr val="373737"/>
                </a:solidFill>
                <a:latin typeface="Aptos" panose="020B0502020202020204" pitchFamily="34" charset="0"/>
                <a:ea typeface="Roboto" panose="02000000000000000000" pitchFamily="2" charset="0"/>
                <a:cs typeface="+mj-cs"/>
              </a:rPr>
              <a:t>Биогазовый завод с интегрированным производством удобрений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E62C40-B874-BF1B-2954-280D34B7E2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6854"/>
            <a:ext cx="1326154" cy="4265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AF642A-4453-F752-B2A6-F15934A4256A}"/>
              </a:ext>
            </a:extLst>
          </p:cNvPr>
          <p:cNvSpPr txBox="1"/>
          <p:nvPr/>
        </p:nvSpPr>
        <p:spPr>
          <a:xfrm>
            <a:off x="7552961" y="941769"/>
            <a:ext cx="455865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Объект расположен на площади 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17 га;</a:t>
            </a:r>
          </a:p>
          <a:p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Общая площадь производственных зданий и сооружений составляет: 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70 000 </a:t>
            </a:r>
            <a:r>
              <a:rPr lang="ru-RU" sz="1500" b="1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м2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Общий объем производства органоминеральных удобрений 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75 </a:t>
            </a:r>
            <a:r>
              <a:rPr lang="ru-RU" sz="1500" b="1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тыс.тонн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в год. 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Площадь производства удобрений : 7560 </a:t>
            </a:r>
            <a:r>
              <a:rPr lang="ru-RU" sz="1500" b="1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м2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Площадь складирования : 2880 </a:t>
            </a:r>
            <a:r>
              <a:rPr lang="ru-RU" sz="1500" b="1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м2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( по нижнему ярусу)</a:t>
            </a:r>
          </a:p>
          <a:p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В качестве сырья используется компост животного происхождения.</a:t>
            </a:r>
          </a:p>
          <a:p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Компост готовиться в течении 3 месяцев </a:t>
            </a:r>
            <a:r>
              <a:rPr lang="ru-RU" sz="1500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мезофильным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способом в анаэробной среде, после чего в течение 3 месяцев в аэробной среде, в температурных ячейках с последующей термообработкой. В итоге готовый компост содержит до 2-2-2 </a:t>
            </a:r>
            <a:r>
              <a:rPr lang="en-US" sz="1500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NPK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Промышленный компост не имеет запаха, не содержит посторенних примесей, обеззаражен и не имеет в составе патогенов и грибов. 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1D74B3D-AB78-8B9F-8314-EE905C6DEDF3}"/>
              </a:ext>
            </a:extLst>
          </p:cNvPr>
          <p:cNvSpPr/>
          <p:nvPr/>
        </p:nvSpPr>
        <p:spPr>
          <a:xfrm>
            <a:off x="271916" y="941769"/>
            <a:ext cx="7089517" cy="397082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80F24E8-9A95-EA17-B433-3E7779DD5D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636" y="998929"/>
            <a:ext cx="6853411" cy="385299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95387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49353-4FD1-5B0D-DF5B-E9662D3C4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B835048A-CE22-1096-3B2F-D6E3CB04D8A6}"/>
              </a:ext>
            </a:extLst>
          </p:cNvPr>
          <p:cNvSpPr/>
          <p:nvPr/>
        </p:nvSpPr>
        <p:spPr>
          <a:xfrm>
            <a:off x="6" y="0"/>
            <a:ext cx="12188952" cy="791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>
              <a:latin typeface="Century Gothic" panose="020B0502020202020204" pitchFamily="34" charset="0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A5E975D5-AEB1-AF4D-8D1D-62A52CF1EF6E}"/>
              </a:ext>
            </a:extLst>
          </p:cNvPr>
          <p:cNvSpPr/>
          <p:nvPr/>
        </p:nvSpPr>
        <p:spPr>
          <a:xfrm>
            <a:off x="3048" y="6783926"/>
            <a:ext cx="12188952" cy="791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>
              <a:latin typeface="Century Gothic" panose="020B0502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F797B2C-B2F3-2DC7-83FB-705D72AA2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73" y="6396986"/>
            <a:ext cx="1326154" cy="426505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BCB17B0F-2360-6BDC-3D60-2A91600D5B5E}"/>
              </a:ext>
            </a:extLst>
          </p:cNvPr>
          <p:cNvSpPr txBox="1">
            <a:spLocks/>
          </p:cNvSpPr>
          <p:nvPr/>
        </p:nvSpPr>
        <p:spPr>
          <a:xfrm>
            <a:off x="10074" y="69489"/>
            <a:ext cx="7548966" cy="42650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500" b="1" dirty="0">
                <a:solidFill>
                  <a:srgbClr val="373737"/>
                </a:solidFill>
                <a:latin typeface="Aptos" panose="020B0502020202020204" pitchFamily="34" charset="0"/>
                <a:ea typeface="Roboto" panose="02000000000000000000" pitchFamily="2" charset="0"/>
              </a:rPr>
              <a:t>Схема производства Органоминеральных удобрений </a:t>
            </a:r>
            <a:endParaRPr lang="ru-KZ" sz="2000" b="1" dirty="0">
              <a:solidFill>
                <a:srgbClr val="018FC1"/>
              </a:solidFill>
              <a:latin typeface="Century Gothic" panose="020B0502020202020204" pitchFamily="34" charset="0"/>
              <a:ea typeface="Roboto" panose="02000000000000000000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EC880F-6479-F725-F6AA-17960EF3C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626" y="-2464796"/>
            <a:ext cx="4750181" cy="838102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433D32-9B82-B4C4-0EA9-4E133C34E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226" y="662422"/>
            <a:ext cx="7772400" cy="5561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11F735-4910-CD14-53E1-B1ECD47D052E}"/>
              </a:ext>
            </a:extLst>
          </p:cNvPr>
          <p:cNvSpPr txBox="1"/>
          <p:nvPr/>
        </p:nvSpPr>
        <p:spPr>
          <a:xfrm>
            <a:off x="8176131" y="662423"/>
            <a:ext cx="38964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Компост животного происхождения смешивается с минеральными компонентами 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( Азотом</a:t>
            </a:r>
            <a:r>
              <a:rPr lang="en-US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- N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, фосфором</a:t>
            </a:r>
            <a:r>
              <a:rPr lang="en-US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-P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или калием</a:t>
            </a:r>
            <a:r>
              <a:rPr lang="en-US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-K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в зависимости от необходимой формы конечного продукта</a:t>
            </a:r>
            <a:r>
              <a:rPr lang="en-US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Планируемые продукты для выпуска: </a:t>
            </a:r>
          </a:p>
          <a:p>
            <a:pPr algn="ctr"/>
            <a:r>
              <a:rPr lang="en-US" sz="1500" b="1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NPK</a:t>
            </a:r>
            <a:r>
              <a:rPr lang="en-US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12-12-12</a:t>
            </a:r>
          </a:p>
          <a:p>
            <a:pPr algn="ctr"/>
            <a:r>
              <a:rPr lang="en-US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NP 8-21 (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без калия)</a:t>
            </a:r>
          </a:p>
          <a:p>
            <a:pPr algn="ctr"/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Согласно исследованиям и рекомендациям  </a:t>
            </a:r>
            <a:r>
              <a:rPr lang="en-US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FAO </a:t>
            </a:r>
            <a:r>
              <a:rPr lang="ru-RU" sz="1500" b="1" i="0" dirty="0">
                <a:solidFill>
                  <a:srgbClr val="373737"/>
                </a:solidFill>
                <a:effectLst/>
                <a:latin typeface="Aptos" panose="02020603050405020304" pitchFamily="18" charset="0"/>
                <a:cs typeface="Times New Roman" panose="02020603050405020304" pitchFamily="18" charset="0"/>
              </a:rPr>
              <a:t>Продовольственная и сельскохозяйственная организация ООН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питательные вещества в ОМУ приравнены 1 к 3 по отношению к минеральным удобрениям. </a:t>
            </a:r>
          </a:p>
          <a:p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За счет растворимости, органических связей, лучшей усвояемости и удерживания влаги за счет формирования органической губки в почве. </a:t>
            </a:r>
          </a:p>
          <a:p>
            <a:r>
              <a:rPr lang="en-US" sz="1500" b="1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NPK</a:t>
            </a:r>
            <a:r>
              <a:rPr lang="en-US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en-US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en-US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en-US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Минеральных удобрений равно </a:t>
            </a:r>
            <a:r>
              <a:rPr lang="en-US" sz="1500" b="1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NPK</a:t>
            </a:r>
            <a:r>
              <a:rPr lang="en-US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12-12-12 ОМУ </a:t>
            </a:r>
          </a:p>
          <a:p>
            <a:r>
              <a:rPr lang="en-US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NP 12-52 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Аммофос приравнен к </a:t>
            </a:r>
          </a:p>
          <a:p>
            <a:r>
              <a:rPr lang="en-US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NP 8-21 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ОМУ</a:t>
            </a:r>
            <a:endParaRPr lang="ru-RU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03263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F73AC-76BE-ED9D-E21D-3F31646C285B}"/>
              </a:ext>
            </a:extLst>
          </p:cNvPr>
          <p:cNvSpPr txBox="1"/>
          <p:nvPr/>
        </p:nvSpPr>
        <p:spPr>
          <a:xfrm>
            <a:off x="3814169" y="6058943"/>
            <a:ext cx="184731" cy="2742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0304">
              <a:defRPr/>
            </a:pPr>
            <a:endParaRPr lang="ru-KZ" sz="1182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4AD2D0-7552-069E-7A85-A22EE04B4934}"/>
              </a:ext>
            </a:extLst>
          </p:cNvPr>
          <p:cNvSpPr txBox="1"/>
          <p:nvPr/>
        </p:nvSpPr>
        <p:spPr>
          <a:xfrm>
            <a:off x="4981488" y="3835477"/>
            <a:ext cx="184731" cy="2742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0304">
              <a:defRPr/>
            </a:pPr>
            <a:endParaRPr lang="ru-KZ" sz="1182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8EACEC-1176-2BBF-2647-1CAD3BC6F8FB}"/>
              </a:ext>
            </a:extLst>
          </p:cNvPr>
          <p:cNvSpPr txBox="1"/>
          <p:nvPr/>
        </p:nvSpPr>
        <p:spPr>
          <a:xfrm>
            <a:off x="199070" y="35317"/>
            <a:ext cx="45368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500" b="1" dirty="0">
                <a:solidFill>
                  <a:srgbClr val="373737"/>
                </a:solidFill>
                <a:latin typeface="Aptos" panose="020B0502020202020204" pitchFamily="34" charset="0"/>
                <a:cs typeface="Times New Roman" panose="02020603050405020304" pitchFamily="18" charset="0"/>
              </a:rPr>
              <a:t>Результаты проведенных опытов</a:t>
            </a:r>
            <a:endParaRPr lang="ru-KZ" sz="2000" b="1" dirty="0">
              <a:solidFill>
                <a:srgbClr val="018FC1"/>
              </a:solidFill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600D038-2E9D-3B81-269F-76714EE94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23" y="472122"/>
            <a:ext cx="3030479" cy="228383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198218C-DB9F-9902-CADF-9916FAB602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465" y="472122"/>
            <a:ext cx="2939130" cy="22838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850FE7-B293-6A27-4585-3200FE2D7914}"/>
              </a:ext>
            </a:extLst>
          </p:cNvPr>
          <p:cNvSpPr txBox="1"/>
          <p:nvPr/>
        </p:nvSpPr>
        <p:spPr>
          <a:xfrm>
            <a:off x="284122" y="2777695"/>
            <a:ext cx="303047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KZ" sz="12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Акмолинская область , близ села Пухальск</a:t>
            </a:r>
          </a:p>
          <a:p>
            <a:r>
              <a:rPr lang="ru-KZ" sz="12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Урожайность Органоминеральных удобрений </a:t>
            </a:r>
            <a:r>
              <a:rPr lang="en-US" sz="1200" b="1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NPK</a:t>
            </a:r>
            <a:r>
              <a:rPr lang="en-US" sz="12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12-12-12</a:t>
            </a:r>
            <a:r>
              <a:rPr lang="ru-RU" sz="12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(80 кг/га)</a:t>
            </a:r>
            <a:r>
              <a:rPr lang="ru-RU" sz="12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на Кормовой кукурузе, показало 19% или 13,8 тонн за Га, в сравнении с применением ЖКУ. При внесении Органоминеральных удобрений один раз вместе с семенами. </a:t>
            </a:r>
          </a:p>
          <a:p>
            <a:r>
              <a:rPr lang="ru-RU" sz="12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При сравнении с </a:t>
            </a:r>
            <a:r>
              <a:rPr lang="ru-KZ" sz="12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Органоминеральных удобрений </a:t>
            </a:r>
            <a:r>
              <a:rPr lang="en-US" sz="1200" b="1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NPK</a:t>
            </a:r>
            <a:r>
              <a:rPr lang="en-US" sz="12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12-12-12</a:t>
            </a:r>
            <a:r>
              <a:rPr lang="ru-RU" sz="12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(80 кг/га) </a:t>
            </a:r>
            <a:r>
              <a:rPr lang="ru-RU" sz="12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на Кормовой кукурузе с ЖКУ и Карбамидом, </a:t>
            </a:r>
          </a:p>
          <a:p>
            <a:r>
              <a:rPr lang="ru-RU" sz="12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то урожайность составила 7%. 13,8 тонн за Га против 12,9 тонн за Га. Однако при комбинированном внесении ЖКУ и Карбамида дополнительно использовалась техника, что отрицательно влияет на общие расходы на Га.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817097-BA09-F954-7BFB-663FF4C07310}"/>
              </a:ext>
            </a:extLst>
          </p:cNvPr>
          <p:cNvSpPr txBox="1"/>
          <p:nvPr/>
        </p:nvSpPr>
        <p:spPr>
          <a:xfrm>
            <a:off x="3420465" y="2881145"/>
            <a:ext cx="297790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KZ" sz="12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Северно -Казахстанская область , близ села Арыкбалык</a:t>
            </a:r>
          </a:p>
          <a:p>
            <a:r>
              <a:rPr lang="ru-KZ" sz="12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Урожайность Органоминеральных удобрений </a:t>
            </a:r>
            <a:r>
              <a:rPr lang="en-US" sz="1200" b="1" dirty="0" err="1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NPK</a:t>
            </a:r>
            <a:r>
              <a:rPr lang="en-US" sz="12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12-12-12</a:t>
            </a:r>
            <a:r>
              <a:rPr lang="ru-RU" sz="12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(80 кг/га) </a:t>
            </a:r>
            <a:r>
              <a:rPr lang="ru-RU" sz="12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12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KZ" sz="12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Органоминеральных удобрений </a:t>
            </a:r>
            <a:r>
              <a:rPr lang="en-US" sz="12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NP </a:t>
            </a:r>
            <a:r>
              <a:rPr lang="ru-RU" sz="12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2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2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21 (80 кг/га) </a:t>
            </a:r>
            <a:r>
              <a:rPr lang="ru-RU" sz="12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на Ячмене, показало 25% прирост или 2,8</a:t>
            </a:r>
            <a:r>
              <a:rPr lang="en-US" sz="12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200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 тонны за Га против 2,26 Тонны за Га. При внесении Органоминеральных удобрений один раз вместе с семенами Аммофос 10-46 (80 кг/га) и Яра Милла 9-12-25( 80 кг/га) показали по 2% пророста урожайности относительно контроля. 2,3 тонн за га. </a:t>
            </a:r>
            <a:endParaRPr lang="ru-KZ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538763E-4292-C2D5-D28B-5E728E70B511}"/>
              </a:ext>
            </a:extLst>
          </p:cNvPr>
          <p:cNvSpPr/>
          <p:nvPr/>
        </p:nvSpPr>
        <p:spPr>
          <a:xfrm>
            <a:off x="1026365" y="1341714"/>
            <a:ext cx="1081160" cy="8004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1182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F63A2ABD-0995-B863-2AFD-23B8C0FD18EC}"/>
              </a:ext>
            </a:extLst>
          </p:cNvPr>
          <p:cNvSpPr/>
          <p:nvPr/>
        </p:nvSpPr>
        <p:spPr>
          <a:xfrm>
            <a:off x="4202971" y="1793070"/>
            <a:ext cx="1081160" cy="8004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sz="1182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E9ED58-9860-D73B-C1E0-6EB0E5F8E40B}"/>
              </a:ext>
            </a:extLst>
          </p:cNvPr>
          <p:cNvSpPr txBox="1"/>
          <p:nvPr/>
        </p:nvSpPr>
        <p:spPr>
          <a:xfrm rot="20981110">
            <a:off x="2306946" y="5899901"/>
            <a:ext cx="36936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sz="1500" dirty="0">
                <a:solidFill>
                  <a:srgbClr val="FF0000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Кормовая кукуруза +19% к урожайности </a:t>
            </a:r>
          </a:p>
          <a:p>
            <a:r>
              <a:rPr lang="ru-KZ" sz="1500" dirty="0">
                <a:solidFill>
                  <a:srgbClr val="FF0000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Ячмень +25% к урожайности </a:t>
            </a:r>
          </a:p>
        </p:txBody>
      </p:sp>
      <p:pic>
        <p:nvPicPr>
          <p:cNvPr id="1026" name="Picture 2" descr="Kusto Agro">
            <a:extLst>
              <a:ext uri="{FF2B5EF4-FFF2-40B4-BE49-F238E27FC236}">
                <a16:creationId xmlns:a16="http://schemas.microsoft.com/office/drawing/2014/main" id="{9BCCD264-27DE-D040-B40B-306C4B989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678" y="492567"/>
            <a:ext cx="969917" cy="64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Kusto Agro">
            <a:extLst>
              <a:ext uri="{FF2B5EF4-FFF2-40B4-BE49-F238E27FC236}">
                <a16:creationId xmlns:a16="http://schemas.microsoft.com/office/drawing/2014/main" id="{7AB7CE45-05EA-878A-9F0A-40F3D8DC2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210" y="492567"/>
            <a:ext cx="969917" cy="64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9F7B5FA-F0AD-0B96-94C1-BBEA65829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4232" y="492567"/>
            <a:ext cx="5688735" cy="506493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AF1361E-7A29-3F9E-AF88-CF2E8992FA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73" y="6396986"/>
            <a:ext cx="1326154" cy="426505"/>
          </a:xfrm>
          <a:prstGeom prst="rect">
            <a:avLst/>
          </a:prstGeom>
        </p:spPr>
      </p:pic>
      <p:sp>
        <p:nvSpPr>
          <p:cNvPr id="1027" name="Rectangle 102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8642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9CA7374-6697-275B-052E-427F401D8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138601"/>
              </p:ext>
            </p:extLst>
          </p:nvPr>
        </p:nvGraphicFramePr>
        <p:xfrm>
          <a:off x="406301" y="3429000"/>
          <a:ext cx="11379398" cy="25420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1397">
                  <a:extLst>
                    <a:ext uri="{9D8B030D-6E8A-4147-A177-3AD203B41FA5}">
                      <a16:colId xmlns:a16="http://schemas.microsoft.com/office/drawing/2014/main" val="2520153235"/>
                    </a:ext>
                  </a:extLst>
                </a:gridCol>
                <a:gridCol w="554636">
                  <a:extLst>
                    <a:ext uri="{9D8B030D-6E8A-4147-A177-3AD203B41FA5}">
                      <a16:colId xmlns:a16="http://schemas.microsoft.com/office/drawing/2014/main" val="1604029622"/>
                    </a:ext>
                  </a:extLst>
                </a:gridCol>
                <a:gridCol w="839450">
                  <a:extLst>
                    <a:ext uri="{9D8B030D-6E8A-4147-A177-3AD203B41FA5}">
                      <a16:colId xmlns:a16="http://schemas.microsoft.com/office/drawing/2014/main" val="2438359542"/>
                    </a:ext>
                  </a:extLst>
                </a:gridCol>
                <a:gridCol w="1141856">
                  <a:extLst>
                    <a:ext uri="{9D8B030D-6E8A-4147-A177-3AD203B41FA5}">
                      <a16:colId xmlns:a16="http://schemas.microsoft.com/office/drawing/2014/main" val="4049819630"/>
                    </a:ext>
                  </a:extLst>
                </a:gridCol>
                <a:gridCol w="1090331">
                  <a:extLst>
                    <a:ext uri="{9D8B030D-6E8A-4147-A177-3AD203B41FA5}">
                      <a16:colId xmlns:a16="http://schemas.microsoft.com/office/drawing/2014/main" val="2663282671"/>
                    </a:ext>
                  </a:extLst>
                </a:gridCol>
                <a:gridCol w="1137852">
                  <a:extLst>
                    <a:ext uri="{9D8B030D-6E8A-4147-A177-3AD203B41FA5}">
                      <a16:colId xmlns:a16="http://schemas.microsoft.com/office/drawing/2014/main" val="3636303275"/>
                    </a:ext>
                  </a:extLst>
                </a:gridCol>
                <a:gridCol w="1089451">
                  <a:extLst>
                    <a:ext uri="{9D8B030D-6E8A-4147-A177-3AD203B41FA5}">
                      <a16:colId xmlns:a16="http://schemas.microsoft.com/office/drawing/2014/main" val="3978715532"/>
                    </a:ext>
                  </a:extLst>
                </a:gridCol>
                <a:gridCol w="1316493">
                  <a:extLst>
                    <a:ext uri="{9D8B030D-6E8A-4147-A177-3AD203B41FA5}">
                      <a16:colId xmlns:a16="http://schemas.microsoft.com/office/drawing/2014/main" val="1669901086"/>
                    </a:ext>
                  </a:extLst>
                </a:gridCol>
                <a:gridCol w="1107932">
                  <a:extLst>
                    <a:ext uri="{9D8B030D-6E8A-4147-A177-3AD203B41FA5}">
                      <a16:colId xmlns:a16="http://schemas.microsoft.com/office/drawing/2014/main" val="3512905009"/>
                    </a:ext>
                  </a:extLst>
                </a:gridCol>
              </a:tblGrid>
              <a:tr h="8610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Цена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дол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Норма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внесения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кг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га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Дополнительные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затраты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дол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га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Урожайность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га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Разница в урожайности, ц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Разница в урожайности %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Экономический эффект, дол/га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Урожайность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га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FielView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529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Без удобрение (контроль)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32,7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22,6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6412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Аммофос NP (10-43)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413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29,77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-2,93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-9,0%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-78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4629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Аммиачная селитра N 34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381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29,1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-3,60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-11,0%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-85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25,4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0132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Яра Мила (NPK) 9-12-25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1 152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34,8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2,07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6,3%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-61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23,1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2509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Органо-минеральные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NPK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12-12-12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652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29,9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-2,83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-8,7%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-95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28,2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5882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Органо-минеральные NP 8-21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652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30,6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-2,07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-6,3%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-84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28,1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6189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План стар NP 10-46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3 478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278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32,1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2,37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-1,7%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-242</a:t>
                      </a:r>
                      <a:endParaRPr lang="ru-KZ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ru-KZ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77941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22ADDB0-0C66-65E8-8851-4858D99B5C6F}"/>
              </a:ext>
            </a:extLst>
          </p:cNvPr>
          <p:cNvSpPr txBox="1"/>
          <p:nvPr/>
        </p:nvSpPr>
        <p:spPr>
          <a:xfrm>
            <a:off x="406301" y="3091243"/>
            <a:ext cx="33387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Результаты опытов на яровом Ячмене </a:t>
            </a:r>
            <a:endParaRPr lang="ru-KZ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 descr="Изображение выглядит как небо, облако, Красочность, Прямоугольник&#10;&#10;Автоматически созданное описание">
            <a:extLst>
              <a:ext uri="{FF2B5EF4-FFF2-40B4-BE49-F238E27FC236}">
                <a16:creationId xmlns:a16="http://schemas.microsoft.com/office/drawing/2014/main" id="{12FB8A11-8CA3-BCDC-ADC2-2DBCD27F9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466" y="453734"/>
            <a:ext cx="4875233" cy="279139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FD8B3C-5610-85BA-0462-0AF75E069F09}"/>
              </a:ext>
            </a:extLst>
          </p:cNvPr>
          <p:cNvSpPr txBox="1"/>
          <p:nvPr/>
        </p:nvSpPr>
        <p:spPr>
          <a:xfrm>
            <a:off x="406301" y="603635"/>
            <a:ext cx="63842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/>
            <a:r>
              <a:rPr lang="ru-RU" sz="1500" spc="-1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Дата посева: 1 июня 2023 года; сорт – Крешендо; густота посева – 3,5 млн/га</a:t>
            </a:r>
            <a:endParaRPr lang="ru-KZ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500" spc="-1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Стоит отметить , что данный опыт проводился по двум методикам и результаты оказались противоречивыми. В работу был принят анализ с помощью ПО </a:t>
            </a:r>
            <a:r>
              <a:rPr lang="en-US" sz="1500" spc="-10" dirty="0" err="1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OneSoil</a:t>
            </a:r>
            <a:r>
              <a:rPr lang="en-US" sz="1500" spc="-1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500" spc="-1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которое брало во внимание данные с карты урожайности только в участках , которые корректно между собой сравнивать. Суть методики с следующем: 1) определяются зоны неоднородности поля за последние 6-</a:t>
            </a:r>
            <a:r>
              <a:rPr lang="ru-RU" sz="1500" spc="-10" dirty="0" err="1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ть</a:t>
            </a:r>
            <a:r>
              <a:rPr lang="ru-RU" sz="1500" spc="-1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лет, на эти зоны налаживается карта урожайности комбайна и в дальнейшем анализируется урожайность только в зонах с одинаковой однородностью </a:t>
            </a:r>
            <a:r>
              <a:rPr lang="en-US" sz="1500" spc="-1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KZ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CA1C6-AEDE-1E0A-99CF-471A06ED92F5}"/>
              </a:ext>
            </a:extLst>
          </p:cNvPr>
          <p:cNvSpPr txBox="1"/>
          <p:nvPr/>
        </p:nvSpPr>
        <p:spPr>
          <a:xfrm>
            <a:off x="199070" y="35317"/>
            <a:ext cx="45368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500" b="1" dirty="0">
                <a:solidFill>
                  <a:srgbClr val="373737"/>
                </a:solidFill>
                <a:latin typeface="Aptos" panose="020B0502020202020204" pitchFamily="34" charset="0"/>
                <a:cs typeface="Times New Roman" panose="02020603050405020304" pitchFamily="18" charset="0"/>
              </a:rPr>
              <a:t>Результаты проведенных опытов</a:t>
            </a:r>
            <a:endParaRPr lang="ru-KZ" sz="2000" b="1" dirty="0">
              <a:solidFill>
                <a:srgbClr val="018FC1"/>
              </a:solidFill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BC9A47-B863-8939-0847-50FAAD541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73" y="6396986"/>
            <a:ext cx="1326154" cy="4265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77952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D95140-B87E-6939-66CB-361F120B5AEF}"/>
              </a:ext>
            </a:extLst>
          </p:cNvPr>
          <p:cNvSpPr txBox="1"/>
          <p:nvPr/>
        </p:nvSpPr>
        <p:spPr>
          <a:xfrm>
            <a:off x="2983193" y="98665"/>
            <a:ext cx="6186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373737"/>
                </a:solidFill>
                <a:latin typeface="Aptos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lang="ru-RU" sz="1500" b="1" dirty="0">
                <a:solidFill>
                  <a:srgbClr val="373737"/>
                </a:solidFill>
                <a:latin typeface="Aptos" panose="02020603050405020304" pitchFamily="18" charset="0"/>
                <a:cs typeface="Times New Roman" panose="02020603050405020304" pitchFamily="18" charset="0"/>
              </a:rPr>
              <a:t>Результаты проведенных исследований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 algn="ctr"/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ТОО «Научно-производственный центр зернового хозяйства </a:t>
            </a:r>
            <a:endParaRPr lang="ru-KZ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500" dirty="0">
                <a:solidFill>
                  <a:srgbClr val="373737"/>
                </a:solidFill>
                <a:latin typeface="Aptos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им. А.И. Бараева»</a:t>
            </a:r>
            <a:endParaRPr lang="ru-KZ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9591E3-7909-926F-8ED4-7B769B119EFF}"/>
              </a:ext>
            </a:extLst>
          </p:cNvPr>
          <p:cNvSpPr txBox="1"/>
          <p:nvPr/>
        </p:nvSpPr>
        <p:spPr>
          <a:xfrm>
            <a:off x="253353" y="1094720"/>
            <a:ext cx="7842431" cy="28931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indent="295566"/>
            <a:r>
              <a:rPr lang="ru-RU" sz="1300" b="1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Заключение из отчета: </a:t>
            </a:r>
          </a:p>
          <a:p>
            <a:pPr indent="295566"/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Урожайность яровой пшеницы в контрольном варианте составила 9,6 ц/га, внесение аммофоса (</a:t>
            </a:r>
            <a:r>
              <a:rPr lang="en-US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20) достоверно повышало её на 1,6 ц/га. Применение комплексных </a:t>
            </a:r>
            <a:r>
              <a:rPr lang="en-US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Органоминеральных удобрений обеспечивало достоверную прибавку по отношению к контролю на уровне аммофоса. </a:t>
            </a:r>
            <a:endParaRPr lang="en-US" sz="13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95566"/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Удобрение </a:t>
            </a:r>
            <a:r>
              <a:rPr lang="en-US" sz="1300" dirty="0" err="1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NPK</a:t>
            </a:r>
            <a:r>
              <a:rPr lang="en-US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en-US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en-US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вносимое дозой 100 кг/га в </a:t>
            </a:r>
            <a:r>
              <a:rPr lang="ru-RU" sz="1300" dirty="0" err="1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ф.в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достоверно повышало урожайность по отношению к контролю на 11%, а увеличение дозы в два раза увеличивало её на </a:t>
            </a:r>
            <a:r>
              <a:rPr lang="ru-RU" sz="1300" b="1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21%. </a:t>
            </a:r>
            <a:endParaRPr lang="en-US" sz="13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95566"/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Внесение удобрений </a:t>
            </a:r>
            <a:r>
              <a:rPr lang="en-US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NP 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8-21-15</a:t>
            </a:r>
            <a:r>
              <a:rPr lang="en-US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</a:t>
            </a:r>
            <a:r>
              <a:rPr lang="ru-RU" sz="1300" baseline="-250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300" baseline="-250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дозе </a:t>
            </a:r>
            <a:r>
              <a:rPr lang="en-US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US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 обеспечивало прибавку зерна пшеницы в </a:t>
            </a:r>
            <a:r>
              <a:rPr lang="ru-RU" sz="1300" b="1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2,1 ц/га, что было на 22% выше контроля (9,6 ц/га). </a:t>
            </a:r>
            <a:endParaRPr lang="ru-KZ" sz="13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95566"/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Применения аммофоса и удобрений Органоминеральных удобрений повышало качества зерна пшеницы и соответствовало 1 классу, а в контроле - 2-му.! Применяемые удобрения повышали количество и качество клейковины до 28,7-30,4% и 74-75 </a:t>
            </a:r>
            <a:r>
              <a:rPr lang="ru-RU" sz="1300" dirty="0" err="1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ед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ИДК, при значениях на контроле - 25,5% и 64 ед. ИДК.</a:t>
            </a:r>
            <a:endParaRPr lang="ru-KZ" sz="13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95566"/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Учитывая вышеизложенное можно рекомендовать удобрения </a:t>
            </a:r>
            <a:r>
              <a:rPr lang="en-US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NP 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8-21-15</a:t>
            </a:r>
            <a:r>
              <a:rPr lang="en-US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</a:t>
            </a:r>
            <a:r>
              <a:rPr lang="ru-RU" sz="1300" baseline="-250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sz="1300" dirty="0" err="1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NPK</a:t>
            </a:r>
            <a:r>
              <a:rPr lang="en-US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en-US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en-US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3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испытуемых дозах при возделывании яровой пшеницы.</a:t>
            </a:r>
            <a:endParaRPr lang="ru-KZ" sz="13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Бараев атындағы АШҒӨО НПЦ зернового хозяйства им. Бараева">
            <a:extLst>
              <a:ext uri="{FF2B5EF4-FFF2-40B4-BE49-F238E27FC236}">
                <a16:creationId xmlns:a16="http://schemas.microsoft.com/office/drawing/2014/main" id="{08EF7CBC-C1CC-5C73-0080-36ADCC513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320" y="1102178"/>
            <a:ext cx="3845300" cy="2326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НПЦЗХ им. Бараева">
            <a:extLst>
              <a:ext uri="{FF2B5EF4-FFF2-40B4-BE49-F238E27FC236}">
                <a16:creationId xmlns:a16="http://schemas.microsoft.com/office/drawing/2014/main" id="{8D012EFD-DA94-A776-3A13-BC9A65FF8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8914" y="127315"/>
            <a:ext cx="1167136" cy="773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DEAB85-4125-1324-FF32-DCC17E24A1A0}"/>
              </a:ext>
            </a:extLst>
          </p:cNvPr>
          <p:cNvSpPr txBox="1"/>
          <p:nvPr/>
        </p:nvSpPr>
        <p:spPr>
          <a:xfrm>
            <a:off x="8428123" y="3601516"/>
            <a:ext cx="34296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>
                <a:solidFill>
                  <a:srgbClr val="373737"/>
                </a:solidFill>
                <a:latin typeface="Aptos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lang="ru-RU" sz="1500">
                <a:solidFill>
                  <a:srgbClr val="373737"/>
                </a:solidFill>
                <a:latin typeface="Aptos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ТОО «НПЦЗХ им. А.И. Бараева»</a:t>
            </a:r>
            <a:r>
              <a:rPr lang="ru-RU" sz="1500" b="1">
                <a:solidFill>
                  <a:srgbClr val="373737"/>
                </a:solidFill>
                <a:latin typeface="Aptos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1500" b="1">
                <a:solidFill>
                  <a:srgbClr val="373737"/>
                </a:solidFill>
                <a:latin typeface="Aptos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рекомендует! </a:t>
            </a:r>
            <a:endParaRPr lang="ru-KZ" sz="1600" b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AF775D-AE8C-FC83-2FE7-DC1DB8D8C4AE}"/>
              </a:ext>
            </a:extLst>
          </p:cNvPr>
          <p:cNvSpPr txBox="1"/>
          <p:nvPr/>
        </p:nvSpPr>
        <p:spPr>
          <a:xfrm>
            <a:off x="253353" y="4483916"/>
            <a:ext cx="11723057" cy="209288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ru-KZ" sz="1300" b="1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Наш комментарий к заключению НПЦЗХ им. А.И Бараева:</a:t>
            </a:r>
            <a:endParaRPr lang="ru-KZ" sz="13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kern="100" dirty="0">
                <a:solidFill>
                  <a:srgbClr val="373737"/>
                </a:solidFill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ru-KZ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Как мы видим</a:t>
            </a:r>
            <a:r>
              <a:rPr lang="ru-RU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ru-KZ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Органоминеральные удобрения </a:t>
            </a:r>
            <a:r>
              <a:rPr lang="ru-RU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 ОМУ) </a:t>
            </a:r>
            <a:r>
              <a:rPr lang="en-US" sz="1300" kern="100" dirty="0" err="1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NPK</a:t>
            </a:r>
            <a:r>
              <a:rPr lang="ru-RU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r>
              <a:rPr lang="en-US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en-US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en-US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NP</a:t>
            </a:r>
            <a:r>
              <a:rPr lang="ru-RU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8-21. Показали высокую урожайность при применении их в дозах 100 кг и 200 кг на гектар. Урожайность сопоставима с урожайностью Аммофоса.  </a:t>
            </a:r>
            <a:endParaRPr lang="ru-KZ" sz="13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этом </a:t>
            </a:r>
            <a:r>
              <a:rPr lang="ru-KZ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необходимо учитывать, что ОМУ в долгосрочной перспективе </a:t>
            </a:r>
            <a:r>
              <a:rPr lang="ru-RU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влияют </a:t>
            </a:r>
            <a:r>
              <a:rPr lang="ru-KZ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восстановление почвы. </a:t>
            </a:r>
            <a:r>
              <a:rPr lang="ru-RU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Препятствуют </a:t>
            </a:r>
            <a:r>
              <a:rPr lang="ru-KZ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деградации и максимально напалняют органикой, что в дальнейшем будет плодотворно влиять на производительность</a:t>
            </a:r>
            <a:r>
              <a:rPr lang="ru-RU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KZ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количество и качества урожая</a:t>
            </a:r>
            <a:r>
              <a:rPr lang="ru-RU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KZ" sz="13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применении ОМУ нет необходимости до вносить дополнительное количество удобрений. Тем самым фермер избегает дополнительных расходов на технику и на необходимый персонал.  </a:t>
            </a:r>
            <a:endParaRPr lang="ru-KZ" sz="13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kern="100" dirty="0">
                <a:solidFill>
                  <a:srgbClr val="373737"/>
                </a:solidFill>
                <a:effectLst/>
                <a:latin typeface="Apto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Стоимость ОМУ по сравнению с минеральными удобрениями значительно ниже. Так как 40%-60% это органическая часть, за счет которой мы получили доход в качестве выработанной электроэнергии.  </a:t>
            </a:r>
            <a:endParaRPr lang="ru-KZ" sz="13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KZ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3" name="Rectangle 205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55445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79BDF9-B31F-F841-4572-036CE181A9FD}"/>
              </a:ext>
            </a:extLst>
          </p:cNvPr>
          <p:cNvSpPr txBox="1"/>
          <p:nvPr/>
        </p:nvSpPr>
        <p:spPr>
          <a:xfrm>
            <a:off x="-11987" y="14249"/>
            <a:ext cx="11186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b="1" dirty="0">
                <a:solidFill>
                  <a:srgbClr val="373737"/>
                </a:solidFill>
                <a:latin typeface="Aptos"/>
              </a:rPr>
              <a:t>Продукция Биогазового завода: Органоминеральные Удобрения от 75 000 тонн в год</a:t>
            </a:r>
            <a:endParaRPr lang="ru-KZ" sz="2000" b="1" dirty="0">
              <a:solidFill>
                <a:srgbClr val="018FC1"/>
              </a:solidFill>
            </a:endParaRPr>
          </a:p>
        </p:txBody>
      </p:sp>
      <p:pic>
        <p:nvPicPr>
          <p:cNvPr id="1026" name="Picture 2" descr="Скачать картинки Золотая пшеница, стоковые фото Золотая ...">
            <a:extLst>
              <a:ext uri="{FF2B5EF4-FFF2-40B4-BE49-F238E27FC236}">
                <a16:creationId xmlns:a16="http://schemas.microsoft.com/office/drawing/2014/main" id="{6EF17CE3-7901-CB6E-F8BA-FC20267C1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72" y="5261845"/>
            <a:ext cx="11968223" cy="1525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982D19AE-9E9C-B09A-DE10-C4D16DC22E6D}"/>
              </a:ext>
            </a:extLst>
          </p:cNvPr>
          <p:cNvGraphicFramePr>
            <a:graphicFrameLocks noGrp="1"/>
          </p:cNvGraphicFramePr>
          <p:nvPr/>
        </p:nvGraphicFramePr>
        <p:xfrm>
          <a:off x="9252489" y="775232"/>
          <a:ext cx="2712692" cy="3042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941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Гарантированный состав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r>
                        <a:rPr sz="900" b="1" spc="-8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41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аничес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щ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ru-RU" sz="900" b="1" i="1" spc="-6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sz="900" b="1" i="1" spc="-6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41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щ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держани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аз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(N)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ru-RU" sz="900" b="1" i="1" spc="-14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409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Аммонийный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(N)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ru-RU" sz="900" b="1" i="1" spc="-5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41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чевинный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аз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(N)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ru-RU" sz="900" b="1" i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9409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анически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й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(N)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ru-RU" sz="900" b="1" i="1" spc="-4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911">
                <a:tc>
                  <a:txBody>
                    <a:bodyPr/>
                    <a:lstStyle/>
                    <a:p>
                      <a:pPr marL="69215" marR="77851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щ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держани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пен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ао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сида  фосфора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(P2O5)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6676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900" b="1" i="1" spc="-14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sz="900" b="1" i="1" spc="-14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004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833">
                <a:tc>
                  <a:txBody>
                    <a:bodyPr/>
                    <a:lstStyle/>
                    <a:p>
                      <a:pPr marL="69215" marR="1397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spc="-4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аст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оримы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й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пен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аоси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фосфора 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(P2O5)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6676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900" b="1" i="1" spc="-7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004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083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spc="-4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аст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оримы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й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сид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2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али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(K2O)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900" b="1" i="1" spc="-14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sz="900" b="1" i="1" spc="-14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7327">
                <a:tc>
                  <a:txBody>
                    <a:bodyPr/>
                    <a:lstStyle/>
                    <a:p>
                      <a:pPr marL="69215" marR="80200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щ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держани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мино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й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 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ль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й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кис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ты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092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900" b="1" i="1" spc="-1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004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9409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Влажность,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лее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900" b="1" i="1" spc="-6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8083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Эффе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тивная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он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ентрация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лее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900" b="1" i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sz="900" b="1" i="1" spc="-6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i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sz="900" b="1" i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</a:t>
                      </a:r>
                      <a:r>
                        <a:rPr sz="900" b="1" i="1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sz="900" b="1" i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sz="900" b="1" i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9406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900" b="1" i="1" spc="-1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5-7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8DAFFF18-F230-C089-9ADD-19C10818C608}"/>
              </a:ext>
            </a:extLst>
          </p:cNvPr>
          <p:cNvGraphicFramePr>
            <a:graphicFrameLocks noGrp="1"/>
          </p:cNvGraphicFramePr>
          <p:nvPr/>
        </p:nvGraphicFramePr>
        <p:xfrm>
          <a:off x="6586780" y="800275"/>
          <a:ext cx="2525437" cy="2745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3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941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Гарантированный состав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r>
                        <a:rPr sz="900" b="1" spc="-8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41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аничес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щ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ru-RU" sz="900" b="1" i="1" spc="-6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sz="900" b="1" i="1" spc="-6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41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щ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держани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аз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(N)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ru-RU" sz="900" b="1" i="1" spc="-14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409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Аммонийный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(N)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ru-RU" sz="900" b="1" i="1" spc="-5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41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чевинный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аз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(N)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ru-RU" sz="900" b="1" i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9409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анически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й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(N)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ru-RU" sz="900" b="1" i="1" spc="-4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911">
                <a:tc>
                  <a:txBody>
                    <a:bodyPr/>
                    <a:lstStyle/>
                    <a:p>
                      <a:pPr marL="69215" marR="77851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щ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держани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пен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ао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сида  фосфора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(P2O5)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6676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lang="ru-RU" sz="900" b="1" i="1" spc="-14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004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833">
                <a:tc>
                  <a:txBody>
                    <a:bodyPr/>
                    <a:lstStyle/>
                    <a:p>
                      <a:pPr marL="69215" marR="1397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spc="-4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аст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оримы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й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пен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аоси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фосфора 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(P2O5)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6676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lang="ru-RU" sz="900" b="1" i="1" spc="-7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004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7327">
                <a:tc>
                  <a:txBody>
                    <a:bodyPr/>
                    <a:lstStyle/>
                    <a:p>
                      <a:pPr marL="69215" marR="80200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щ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держани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мино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й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 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ль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й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кис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ты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092" marB="0"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900" b="1" i="1" spc="-1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0045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9409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Влажность,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лее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900" b="1" i="1" spc="-6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9333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Эффе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тивная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он</a:t>
                      </a:r>
                      <a:r>
                        <a:rPr sz="900" b="1" spc="-1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ентрация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лее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900" b="1" i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sz="900" b="1" i="1" spc="-6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i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sz="900" b="1" i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</a:t>
                      </a:r>
                      <a:r>
                        <a:rPr sz="900" b="1" i="1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sz="900" b="1" i="1" spc="-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sz="900" b="1" i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9406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</a:t>
                      </a:r>
                      <a:endParaRPr sz="9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927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D193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900" b="1" i="1" spc="-10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5-7</a:t>
                      </a:r>
                      <a:endParaRPr sz="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D19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7194113C-B2FD-E34D-26F9-E8EC56B101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5739487"/>
              </p:ext>
            </p:extLst>
          </p:nvPr>
        </p:nvGraphicFramePr>
        <p:xfrm>
          <a:off x="138539" y="518370"/>
          <a:ext cx="6142956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Лист" r:id="rId3" imgW="5638800" imgH="1460500" progId="Excel.Sheet.12">
                  <p:embed/>
                </p:oleObj>
              </mc:Choice>
              <mc:Fallback>
                <p:oleObj name="Лист" r:id="rId3" imgW="5638800" imgH="1460500" progId="Excel.Sheet.12">
                  <p:embed/>
                  <p:pic>
                    <p:nvPicPr>
                      <p:cNvPr id="7" name="Объект 6">
                        <a:extLst>
                          <a:ext uri="{FF2B5EF4-FFF2-40B4-BE49-F238E27FC236}">
                            <a16:creationId xmlns:a16="http://schemas.microsoft.com/office/drawing/2014/main" id="{7194113C-B2FD-E34D-26F9-E8EC56B101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539" y="518370"/>
                        <a:ext cx="6142956" cy="146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6">
            <a:extLst>
              <a:ext uri="{FF2B5EF4-FFF2-40B4-BE49-F238E27FC236}">
                <a16:creationId xmlns:a16="http://schemas.microsoft.com/office/drawing/2014/main" id="{2134E0DD-AD2E-B922-99DB-0DAD196EAE2E}"/>
              </a:ext>
            </a:extLst>
          </p:cNvPr>
          <p:cNvSpPr txBox="1"/>
          <p:nvPr/>
        </p:nvSpPr>
        <p:spPr>
          <a:xfrm>
            <a:off x="12312" y="2082881"/>
            <a:ext cx="64324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K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Font typeface="Wingdings" pitchFamily="2" charset="2"/>
              <a:buChar char="ü"/>
              <a:tabLst>
                <a:tab pos="457200" algn="l"/>
              </a:tabLst>
            </a:pPr>
            <a:r>
              <a:rPr lang="ru-RU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Л</a:t>
            </a:r>
            <a:r>
              <a:rPr lang="ru-KZ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егко </a:t>
            </a:r>
            <a:r>
              <a:rPr lang="ru-RU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усвояемые</a:t>
            </a:r>
            <a:r>
              <a:rPr lang="ru-KZ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 элемент</a:t>
            </a:r>
            <a:r>
              <a:rPr lang="ru-RU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ы в органическом ядре гранулы (</a:t>
            </a:r>
            <a:r>
              <a:rPr lang="en-US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NPK </a:t>
            </a:r>
            <a:r>
              <a:rPr lang="ru-RU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2-2-1)  </a:t>
            </a:r>
            <a:endParaRPr lang="ru-KZ" sz="1200" b="1" kern="100" dirty="0">
              <a:solidFill>
                <a:srgbClr val="4D892B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itchFamily="2" charset="2"/>
              <a:buChar char="ü"/>
              <a:tabLst>
                <a:tab pos="457200" algn="l"/>
              </a:tabLst>
            </a:pPr>
            <a:r>
              <a:rPr lang="en-US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PH </a:t>
            </a:r>
            <a:r>
              <a:rPr lang="ru-KZ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ниже 6 </a:t>
            </a:r>
          </a:p>
          <a:p>
            <a:pPr marL="342900" lvl="0" indent="-342900">
              <a:buFont typeface="Wingdings" pitchFamily="2" charset="2"/>
              <a:buChar char="ü"/>
              <a:tabLst>
                <a:tab pos="457200" algn="l"/>
              </a:tabLst>
            </a:pPr>
            <a:r>
              <a:rPr lang="ru-KZ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Удержание влаги за счет губчатого строения органической части гранулы </a:t>
            </a:r>
          </a:p>
          <a:p>
            <a:pPr marL="342900" lvl="0" indent="-342900">
              <a:buFont typeface="Wingdings" pitchFamily="2" charset="2"/>
              <a:buChar char="ü"/>
              <a:tabLst>
                <a:tab pos="457200" algn="l"/>
              </a:tabLst>
            </a:pPr>
            <a:r>
              <a:rPr lang="ru-KZ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Быстро растворимая гранула </a:t>
            </a:r>
          </a:p>
          <a:p>
            <a:pPr marL="342900" lvl="0" indent="-342900">
              <a:buFont typeface="Wingdings" pitchFamily="2" charset="2"/>
              <a:buChar char="ü"/>
              <a:tabLst>
                <a:tab pos="457200" algn="l"/>
              </a:tabLst>
            </a:pPr>
            <a:r>
              <a:rPr lang="ru-RU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Прирост урожайности</a:t>
            </a:r>
            <a:r>
              <a:rPr lang="en-US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от 20% </a:t>
            </a:r>
            <a:endParaRPr lang="ru-KZ" sz="1200" b="1" kern="100" dirty="0">
              <a:solidFill>
                <a:srgbClr val="4D892B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itchFamily="2" charset="2"/>
              <a:buChar char="ü"/>
              <a:tabLst>
                <a:tab pos="457200" algn="l"/>
              </a:tabLst>
            </a:pPr>
            <a:r>
              <a:rPr lang="ru-RU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Возможность одномоментного внесения всех необходимых элементов </a:t>
            </a:r>
            <a:r>
              <a:rPr lang="en-US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NPK </a:t>
            </a:r>
            <a:r>
              <a:rPr lang="ru-RU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при посеве. </a:t>
            </a:r>
            <a:endParaRPr lang="ru-KZ" sz="1200" b="1" kern="100" dirty="0">
              <a:solidFill>
                <a:srgbClr val="4D892B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itchFamily="2" charset="2"/>
              <a:buChar char="ü"/>
              <a:tabLst>
                <a:tab pos="457200" algn="l"/>
              </a:tabLst>
            </a:pPr>
            <a:r>
              <a:rPr lang="ru-RU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До 40% содержания органического вещества</a:t>
            </a:r>
            <a:endParaRPr lang="ru-KZ" sz="1200" b="1" kern="100" dirty="0">
              <a:solidFill>
                <a:srgbClr val="4D892B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itchFamily="2" charset="2"/>
              <a:buChar char="ü"/>
              <a:tabLst>
                <a:tab pos="457200" algn="l"/>
              </a:tabLst>
            </a:pPr>
            <a:r>
              <a:rPr lang="ru-RU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Естественное содержание Гуминовой и </a:t>
            </a:r>
            <a:r>
              <a:rPr lang="ru-RU" sz="1200" b="1" kern="100" dirty="0" err="1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Фульвовой</a:t>
            </a:r>
            <a:r>
              <a:rPr lang="ru-RU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 кислоты. </a:t>
            </a:r>
            <a:endParaRPr lang="ru-KZ" sz="1200" b="1" kern="100" dirty="0">
              <a:solidFill>
                <a:srgbClr val="4D892B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itchFamily="2" charset="2"/>
              <a:buChar char="ü"/>
              <a:tabLst>
                <a:tab pos="457200" algn="l"/>
              </a:tabLst>
            </a:pPr>
            <a:r>
              <a:rPr lang="ru-RU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Улучшения и восстановление качества почвы</a:t>
            </a:r>
            <a:endParaRPr lang="ru-KZ" sz="1200" b="1" kern="100" dirty="0">
              <a:solidFill>
                <a:srgbClr val="4D892B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itchFamily="2" charset="2"/>
              <a:buChar char="ü"/>
              <a:tabLst>
                <a:tab pos="457200" algn="l"/>
              </a:tabLst>
            </a:pPr>
            <a:r>
              <a:rPr lang="ru-RU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Отказ от севооборота </a:t>
            </a:r>
            <a:endParaRPr lang="ru-KZ" sz="1200" b="1" kern="100" dirty="0">
              <a:solidFill>
                <a:srgbClr val="4D892B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itchFamily="2" charset="2"/>
              <a:buChar char="ü"/>
              <a:tabLst>
                <a:tab pos="457200" algn="l"/>
              </a:tabLst>
            </a:pPr>
            <a:r>
              <a:rPr lang="ru-RU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При ежегодном применении, увеличение плодородного слоя на 2%. </a:t>
            </a:r>
            <a:endParaRPr lang="ru-KZ" sz="1200" b="1" kern="100" dirty="0">
              <a:solidFill>
                <a:srgbClr val="4D892B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itchFamily="2" charset="2"/>
              <a:buChar char="ü"/>
              <a:tabLst>
                <a:tab pos="457200" algn="l"/>
              </a:tabLst>
            </a:pPr>
            <a:r>
              <a:rPr lang="ru-RU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Возможность приготовления органоминеральных удобрений в любой</a:t>
            </a:r>
          </a:p>
          <a:p>
            <a:pPr lvl="0">
              <a:tabLst>
                <a:tab pos="457200" algn="l"/>
              </a:tabLst>
            </a:pPr>
            <a:r>
              <a:rPr lang="ru-RU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 концентрации </a:t>
            </a:r>
            <a:r>
              <a:rPr lang="en-US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NPK </a:t>
            </a:r>
            <a:r>
              <a:rPr lang="ru-RU" sz="1200" b="1" kern="100" dirty="0">
                <a:solidFill>
                  <a:srgbClr val="373737"/>
                </a:solidFill>
                <a:effectLst/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согласно запросам и результатам анализа почвы </a:t>
            </a:r>
          </a:p>
          <a:p>
            <a:pPr marL="285750" lvl="0" indent="-285750">
              <a:buFont typeface="Wingdings" pitchFamily="2" charset="2"/>
              <a:buChar char="ü"/>
              <a:tabLst>
                <a:tab pos="457200" algn="l"/>
              </a:tabLst>
            </a:pPr>
            <a:r>
              <a:rPr lang="ru-RU" sz="1200" b="1" kern="100" dirty="0">
                <a:solidFill>
                  <a:srgbClr val="373737"/>
                </a:solidFill>
                <a:latin typeface="Aptos"/>
                <a:ea typeface="Calibri" panose="020F0502020204030204" pitchFamily="34" charset="0"/>
                <a:cs typeface="Times New Roman" panose="02020603050405020304" pitchFamily="18" charset="0"/>
              </a:rPr>
              <a:t>Не содержит патогенных организмов, грибов, семян сорных трав</a:t>
            </a:r>
            <a:endParaRPr lang="ru-RU" sz="1200" b="1" kern="100" dirty="0">
              <a:solidFill>
                <a:srgbClr val="4D892B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tabLst>
                <a:tab pos="457200" algn="l"/>
              </a:tabLst>
            </a:pPr>
            <a:r>
              <a:rPr lang="ru-KZ" sz="1200" b="1" dirty="0">
                <a:solidFill>
                  <a:srgbClr val="373737"/>
                </a:solidFill>
                <a:latin typeface="Aptos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0CC1B-4219-05C8-6217-B24E4C1A01D7}"/>
              </a:ext>
            </a:extLst>
          </p:cNvPr>
          <p:cNvSpPr txBox="1"/>
          <p:nvPr/>
        </p:nvSpPr>
        <p:spPr>
          <a:xfrm>
            <a:off x="7072622" y="498005"/>
            <a:ext cx="155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sz="1500" dirty="0">
                <a:solidFill>
                  <a:srgbClr val="373737"/>
                </a:solidFill>
                <a:latin typeface="Aptos"/>
              </a:rPr>
              <a:t>ОМУ 12-12-12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4CB3B0-3A8D-D54D-E75B-EA1562BC1A0A}"/>
              </a:ext>
            </a:extLst>
          </p:cNvPr>
          <p:cNvSpPr txBox="1"/>
          <p:nvPr/>
        </p:nvSpPr>
        <p:spPr>
          <a:xfrm>
            <a:off x="10043616" y="479521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sz="1500" dirty="0">
                <a:solidFill>
                  <a:srgbClr val="373737"/>
                </a:solidFill>
                <a:latin typeface="Aptos"/>
              </a:rPr>
              <a:t>ОМУ 8-21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0F34B0A-B403-3EA6-8AE3-9FB9A7FF6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842" y="3608506"/>
            <a:ext cx="1985587" cy="286243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145D078-D943-293D-3B58-F463EA8E2D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641" y="3622559"/>
            <a:ext cx="889987" cy="28622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1DC9AB-6B1B-6935-8D20-875DD36AE1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8579" y="3830629"/>
            <a:ext cx="2288110" cy="286243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DF57C6-E30C-B204-CF27-83C45139B9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156" y="3844078"/>
            <a:ext cx="903272" cy="29050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4F86AD1-DC72-55DA-525A-4C6494460F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73" y="6396986"/>
            <a:ext cx="1326154" cy="426505"/>
          </a:xfrm>
          <a:prstGeom prst="rect">
            <a:avLst/>
          </a:prstGeom>
        </p:spPr>
      </p:pic>
      <p:sp>
        <p:nvSpPr>
          <p:cNvPr id="1027" name="Rectangle 102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35551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675" y="91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3737"/>
                </a:solidFill>
                <a:latin typeface="Aptos" panose="020B0502020202020204" pitchFamily="34" charset="0"/>
                <a:ea typeface="Calibri" pitchFamily="34" charset="-122"/>
                <a:cs typeface="Calibri" pitchFamily="34" charset="-120"/>
              </a:rPr>
              <a:t>Kazbiofert — варианты работы </a:t>
            </a:r>
            <a:r>
              <a:rPr lang="en-US" sz="1500" b="1" dirty="0" err="1">
                <a:solidFill>
                  <a:srgbClr val="373737"/>
                </a:solidFill>
                <a:latin typeface="Aptos" panose="020B0502020202020204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500" b="1" dirty="0">
                <a:solidFill>
                  <a:srgbClr val="373737"/>
                </a:solidFill>
                <a:latin typeface="Aptos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373737"/>
                </a:solidFill>
                <a:latin typeface="Aptos" panose="020B0502020202020204" pitchFamily="34" charset="0"/>
                <a:ea typeface="Calibri" pitchFamily="34" charset="-122"/>
                <a:cs typeface="Calibri" pitchFamily="34" charset="-120"/>
              </a:rPr>
              <a:t>дистрибьюторами</a:t>
            </a:r>
            <a:endParaRPr lang="en-US" sz="2000" dirty="0">
              <a:solidFill>
                <a:srgbClr val="018FC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52359" y="405293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Базовые допущения: </a:t>
            </a:r>
            <a:r>
              <a:rPr lang="en-US" sz="14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ru-RU" sz="14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есь</a:t>
            </a:r>
            <a:r>
              <a:rPr lang="en-US" sz="14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РК + экспорт • Условия EXW • Цена формируется “по рынку” (окно фиксации по заявке 3–7 дней)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40464" y="923544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5" name="Text 3"/>
          <p:cNvSpPr/>
          <p:nvPr/>
        </p:nvSpPr>
        <p:spPr>
          <a:xfrm>
            <a:off x="947967" y="98755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8FC1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Торговые модели (объём/охват)</a:t>
            </a:r>
            <a:endParaRPr lang="en-US" sz="1200" dirty="0">
              <a:solidFill>
                <a:srgbClr val="018FC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742568" y="1015420"/>
            <a:ext cx="2938812" cy="164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8FC1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Контроль клиента / ключевые сделки</a:t>
            </a:r>
            <a:endParaRPr lang="en-US" sz="1200" dirty="0">
              <a:solidFill>
                <a:srgbClr val="018FC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432644" y="99177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8FC1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Запас/оборачиваемость + экспорт</a:t>
            </a:r>
            <a:endParaRPr lang="en-US" sz="1200" dirty="0">
              <a:solidFill>
                <a:srgbClr val="018FC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32894" y="1266444"/>
            <a:ext cx="3703320" cy="16870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9" name="Text 7"/>
          <p:cNvSpPr/>
          <p:nvPr/>
        </p:nvSpPr>
        <p:spPr>
          <a:xfrm>
            <a:off x="661494" y="2086771"/>
            <a:ext cx="3361866" cy="1818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AutoNum type="arabicParenR"/>
            </a:pPr>
            <a:r>
              <a:rPr lang="en-US" sz="1200" b="1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Buy–Sell (</a:t>
            </a:r>
            <a:r>
              <a:rPr lang="en-US" sz="1200" b="1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неэксклюзив</a:t>
            </a:r>
            <a:r>
              <a:rPr lang="en-US" sz="1200" b="1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)</a:t>
            </a:r>
            <a:endParaRPr lang="ru-RU" sz="1200" b="1" dirty="0">
              <a:solidFill>
                <a:srgbClr val="0F766E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Дистриб</a:t>
            </a:r>
            <a:r>
              <a:rPr lang="ru-RU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ьютор</a:t>
            </a:r>
            <a:r>
              <a:rPr lang="ru-RU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покупает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у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перепродаёт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(EXW) —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основной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скелет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”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продаж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Риск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конечной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дебиторки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демпинга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дистрибьюторе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Управление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через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матрицу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скидок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бонусов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короткое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окно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фиксации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цены</a:t>
            </a:r>
            <a:endParaRPr lang="en-US" sz="1200" dirty="0"/>
          </a:p>
          <a:p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894" y="3136392"/>
            <a:ext cx="3703320" cy="18105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12" name="Text 10"/>
          <p:cNvSpPr/>
          <p:nvPr/>
        </p:nvSpPr>
        <p:spPr>
          <a:xfrm>
            <a:off x="568896" y="3200400"/>
            <a:ext cx="3474720" cy="158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2) Эксклюзив по макрорегиону “за </a:t>
            </a:r>
            <a:r>
              <a:rPr lang="en-US" sz="1200" b="1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KPI</a:t>
            </a:r>
            <a:r>
              <a:rPr lang="en-US" sz="1200" b="1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”</a:t>
            </a:r>
            <a:endParaRPr lang="ru-RU" sz="1200" b="1" dirty="0">
              <a:solidFill>
                <a:srgbClr val="0F766E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Эксклюзив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даётся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только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при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выполнении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плана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покрытия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демо-полей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выполнен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KPI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эксклюзив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снимается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делится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ввод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второго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партнёра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Цель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дисциплина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регионе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агросервис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прогнозируемый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спрос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70332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2894" y="5225796"/>
            <a:ext cx="370332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04634" y="5617717"/>
            <a:ext cx="4337934" cy="899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3) Мастер-дистриб + </a:t>
            </a:r>
            <a:r>
              <a:rPr lang="en-US" sz="1200" b="1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дилерская</a:t>
            </a:r>
            <a:r>
              <a:rPr lang="en-US" sz="1200" b="1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сеть</a:t>
            </a:r>
            <a:endParaRPr lang="ru-RU" sz="1200" b="1" dirty="0">
              <a:solidFill>
                <a:srgbClr val="0F766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1–2 “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якоря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”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масштабируют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сеть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дилеров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РК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Единая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матрица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скидок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дилеров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меньше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конфликтов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между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каналами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сохраняет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право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прямых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Key Accounts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списку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endParaRPr lang="ru-RU" sz="1200" b="1" dirty="0">
              <a:solidFill>
                <a:srgbClr val="0F766E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80560" y="1277586"/>
            <a:ext cx="3703320" cy="167592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sz="1200" dirty="0"/>
          </a:p>
        </p:txBody>
      </p:sp>
      <p:sp>
        <p:nvSpPr>
          <p:cNvPr id="18" name="Text 16"/>
          <p:cNvSpPr/>
          <p:nvPr/>
        </p:nvSpPr>
        <p:spPr>
          <a:xfrm>
            <a:off x="4664307" y="1442799"/>
            <a:ext cx="3474720" cy="2914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4) Агент / комиссия (контракт </a:t>
            </a:r>
            <a:r>
              <a:rPr lang="en-US" sz="1200" b="1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у</a:t>
            </a:r>
            <a:r>
              <a:rPr lang="en-US" sz="1200" b="1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1200" b="1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ru-RU" sz="1200" b="1" dirty="0">
              <a:solidFill>
                <a:srgbClr val="1D4E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ru-RU" sz="1200" b="1" dirty="0">
              <a:solidFill>
                <a:srgbClr val="1D4E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3200399"/>
            <a:ext cx="3703320" cy="174250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sz="1200" dirty="0"/>
          </a:p>
        </p:txBody>
      </p:sp>
      <p:sp>
        <p:nvSpPr>
          <p:cNvPr id="21" name="Text 19"/>
          <p:cNvSpPr/>
          <p:nvPr/>
        </p:nvSpPr>
        <p:spPr>
          <a:xfrm>
            <a:off x="4520529" y="3274608"/>
            <a:ext cx="3618498" cy="2729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5) Key Accounts напрямую + партнёр как сервис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58818" y="3587753"/>
            <a:ext cx="4066186" cy="16087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Агрохолдинги/теплицы — прямой контракт (EXW)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Партнёр зарабатывает на логистике/складе/агросопровождении (отдельный договор)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Снижает риск “потери” стратегических клиентов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97891" y="1299632"/>
            <a:ext cx="3703320" cy="16870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528226" y="13350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6) Консигнация / ответхранение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52704" y="1533371"/>
            <a:ext cx="36165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Товар на складе партнёра, право собственности у Kazbiofert до реализации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Оплата — по отчёту продаж (7–14 дней), лимит остатков +</a:t>
            </a:r>
            <a:r>
              <a:rPr lang="en-US" sz="15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инвентаризация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Ускоряет продажи, но требует сильного контроля и процедур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412480" y="3200400"/>
            <a:ext cx="3588731" cy="174250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528226" y="3247107"/>
            <a:ext cx="3442890" cy="30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7) Экспортный трейдер (Buy–Sell export)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57004" y="3519172"/>
            <a:ext cx="35122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Kazbiofert продаёт EXW трейдеру; он ведёт экспорт/логистику/риски страны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Быстрый выход на страны, где нужны регистрация/сертификация/локальный канал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Альтернатива: агентская модель (№4) для контроля отношений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80559" y="5568901"/>
            <a:ext cx="7490556" cy="81265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664307" y="5698016"/>
            <a:ext cx="7123059" cy="514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Легенда: EXW — самовывоз покупателя/его логиста со склада Kazbiofert. “Цена по рынку” управляется: </a:t>
            </a:r>
            <a:endParaRPr lang="ru-RU" sz="1200" b="1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(1) окно фиксации 3–7 дней, (2) матрица скидок/ретро-бонусов, (3) список Key Accounts.</a:t>
            </a:r>
            <a:endParaRPr lang="en-US" sz="1200" b="1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042B76AC-CD21-721C-50AF-5482C579510A}"/>
              </a:ext>
            </a:extLst>
          </p:cNvPr>
          <p:cNvSpPr/>
          <p:nvPr/>
        </p:nvSpPr>
        <p:spPr>
          <a:xfrm>
            <a:off x="4651287" y="154591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Партнёр приводит клиента/экспортного покупателя → получает % от оплаты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• Контроль условий/клиентской базы сохраняется у Kazbiofert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3737"/>
                </a:solidFill>
                <a:latin typeface="Aptos"/>
                <a:ea typeface="Calibri" pitchFamily="34" charset="-122"/>
                <a:cs typeface="Calibri" pitchFamily="34" charset="-120"/>
              </a:rPr>
              <a:t>• Подходит для крупных сделок и экспортных контрактов</a:t>
            </a:r>
            <a:endParaRPr lang="en-US" sz="12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3B65CB0-123A-1DC7-BC26-B6F714DB4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962" y="6353367"/>
            <a:ext cx="1326154" cy="426505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35964</TotalTime>
  <Words>1894</Words>
  <Application>Microsoft Macintosh PowerPoint</Application>
  <PresentationFormat>Широкоэкранный</PresentationFormat>
  <Paragraphs>235</Paragraphs>
  <Slides>9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Century Gothic</vt:lpstr>
      <vt:lpstr>Myriad Pro</vt:lpstr>
      <vt:lpstr>Times New Roman</vt:lpstr>
      <vt:lpstr>Wingdings</vt:lpstr>
      <vt:lpstr>Тема Office</vt:lpstr>
      <vt:lpstr>Лист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Ilyas M</cp:lastModifiedBy>
  <cp:revision>139</cp:revision>
  <dcterms:created xsi:type="dcterms:W3CDTF">2024-08-21T08:52:42Z</dcterms:created>
  <dcterms:modified xsi:type="dcterms:W3CDTF">2026-07-06T07:14:17Z</dcterms:modified>
</cp:coreProperties>
</file>