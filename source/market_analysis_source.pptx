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3" r:id="rId2"/>
    <p:sldId id="427" r:id="rId3"/>
    <p:sldId id="419" r:id="rId4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имбек Аубакиров" userId="0d2dddd8a3c35c3e" providerId="LiveId" clId="{E5D989C1-7977-45AF-8B9E-1EEA63DBB1CC}"/>
    <pc:docChg chg="custSel modSld">
      <pc:chgData name="Алимбек Аубакиров" userId="0d2dddd8a3c35c3e" providerId="LiveId" clId="{E5D989C1-7977-45AF-8B9E-1EEA63DBB1CC}" dt="2026-07-08T07:14:32.120" v="1" actId="478"/>
      <pc:docMkLst>
        <pc:docMk/>
      </pc:docMkLst>
      <pc:sldChg chg="delSp modSp mod">
        <pc:chgData name="Алимбек Аубакиров" userId="0d2dddd8a3c35c3e" providerId="LiveId" clId="{E5D989C1-7977-45AF-8B9E-1EEA63DBB1CC}" dt="2026-07-08T07:14:32.120" v="1" actId="478"/>
        <pc:sldMkLst>
          <pc:docMk/>
          <pc:sldMk cId="2587311127" sldId="419"/>
        </pc:sldMkLst>
        <pc:graphicFrameChg chg="del">
          <ac:chgData name="Алимбек Аубакиров" userId="0d2dddd8a3c35c3e" providerId="LiveId" clId="{E5D989C1-7977-45AF-8B9E-1EEA63DBB1CC}" dt="2026-07-08T07:14:32.120" v="1" actId="478"/>
          <ac:graphicFrameMkLst>
            <pc:docMk/>
            <pc:sldMk cId="2587311127" sldId="419"/>
            <ac:graphicFrameMk id="33" creationId="{F01D2DDE-A3AD-E96C-8E3B-94B139782175}"/>
          </ac:graphicFrameMkLst>
        </pc:graphicFrameChg>
        <pc:picChg chg="ord">
          <ac:chgData name="Алимбек Аубакиров" userId="0d2dddd8a3c35c3e" providerId="LiveId" clId="{E5D989C1-7977-45AF-8B9E-1EEA63DBB1CC}" dt="2026-07-08T07:14:31.036" v="0" actId="167"/>
          <ac:picMkLst>
            <pc:docMk/>
            <pc:sldMk cId="2587311127" sldId="419"/>
            <ac:picMk id="4" creationId="{35C51CED-3850-7C6F-2757-87BCDC094FC9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auba\Downloads\fertilisers_global_2012_202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auba\Downloads\fertilisers_global_2012_202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auba\Downloads\fertilisers_global_2012_202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2dddd8a3c35c3e/Desktop/!&#1056;&#1040;&#1041;&#1054;&#1058;&#1040;/BoD%20Kusto/&#1044;&#1083;&#1103;%20&#1044;&#1072;&#1091;&#1083;&#1077;&#1090;&#1072;%20&#1053;_2026/&#1069;&#1082;&#1089;&#1087;%5eJ%20&#1080;&#1084;&#1087;%5eJ%20&#1087;&#1086;&#1090;&#1088;&#1077;&#1073;&#1083;&#1077;&#1085;&#1080;&#1077;%20&#1054;&#1052;&#1059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2dddd8a3c35c3e/Desktop/!&#1056;&#1040;&#1041;&#1054;&#1058;&#1040;/BoD%20Kusto/&#1044;&#1083;&#1103;%20&#1044;&#1072;&#1091;&#1083;&#1077;&#1090;&#1072;%20&#1053;_2026/&#1069;&#1082;&#1089;&#1087;%5eJ%20&#1080;&#1084;&#1087;%5eJ%20&#1087;&#1086;&#1090;&#1088;&#1077;&#1073;&#1083;&#1077;&#1085;&#1080;&#1077;%20&#1054;&#1052;&#1059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d2dddd8a3c35c3e/Desktop/!&#1056;&#1040;&#1041;&#1054;&#1058;&#1040;/BoD%20Kusto/&#1044;&#1083;&#1103;%20&#1044;&#1072;&#1091;&#1083;&#1077;&#1090;&#1072;%20&#1053;_2026/&#1069;&#1082;&#1089;&#1087;%5eJ%20&#1080;&#1084;&#1087;%5eJ%20&#1087;&#1086;&#1090;&#1088;&#1077;&#1073;&#1083;&#1077;&#1085;&#1080;&#1077;%20&#1054;&#1052;&#1059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40;&#1083;&#1080;&#1084;&#1073;&#1077;&#1082;\OneDrive\&#1056;&#1072;&#1073;&#1086;&#1095;&#1080;&#1081;%20&#1089;&#1090;&#1086;&#1083;\&#1057;&#1044;%20&#1040;&#1087;&#1088;&#1077;&#1083;&#1100;%202025\&#1044;&#1072;&#1085;&#1085;&#1099;&#1077;%20&#1087;&#1086;%20&#1080;&#1084;&#1087;&#1086;&#1088;&#1090;&#1091;%20&#1074;%20&#1073;&#1083;&#1080;&#1078;&#1085;&#1077;&#1084;%20&#1079;&#1072;&#1088;&#1091;&#1073;&#1077;&#1078;&#1100;&#1077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Production!$B$4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Production!$A$5:$A$18</c:f>
              <c:numCache>
                <c:formatCode>0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Production!$B$5:$B$18</c:f>
              <c:numCache>
                <c:formatCode>0</c:formatCode>
                <c:ptCount val="14"/>
                <c:pt idx="0">
                  <c:v>110</c:v>
                </c:pt>
                <c:pt idx="1">
                  <c:v>115</c:v>
                </c:pt>
                <c:pt idx="2">
                  <c:v>116</c:v>
                </c:pt>
                <c:pt idx="3">
                  <c:v>121</c:v>
                </c:pt>
                <c:pt idx="4">
                  <c:v>117</c:v>
                </c:pt>
                <c:pt idx="5">
                  <c:v>118</c:v>
                </c:pt>
                <c:pt idx="6">
                  <c:v>117</c:v>
                </c:pt>
                <c:pt idx="7">
                  <c:v>123</c:v>
                </c:pt>
                <c:pt idx="8">
                  <c:v>121</c:v>
                </c:pt>
                <c:pt idx="9">
                  <c:v>119</c:v>
                </c:pt>
                <c:pt idx="10" formatCode="0.0">
                  <c:v>156.5</c:v>
                </c:pt>
                <c:pt idx="11">
                  <c:v>163</c:v>
                </c:pt>
                <c:pt idx="12" formatCode="0.0">
                  <c:v>167.1</c:v>
                </c:pt>
                <c:pt idx="13" formatCode="0.0">
                  <c:v>171.1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30-4854-9068-DC0A13A96F6B}"/>
            </c:ext>
          </c:extLst>
        </c:ser>
        <c:ser>
          <c:idx val="1"/>
          <c:order val="1"/>
          <c:tx>
            <c:strRef>
              <c:f>Production!$C$4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Production!$A$5:$A$18</c:f>
              <c:numCache>
                <c:formatCode>0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Production!$C$5:$C$18</c:f>
              <c:numCache>
                <c:formatCode>0</c:formatCode>
                <c:ptCount val="14"/>
                <c:pt idx="0">
                  <c:v>44</c:v>
                </c:pt>
                <c:pt idx="1">
                  <c:v>45</c:v>
                </c:pt>
                <c:pt idx="2">
                  <c:v>46</c:v>
                </c:pt>
                <c:pt idx="3">
                  <c:v>47</c:v>
                </c:pt>
                <c:pt idx="4">
                  <c:v>48</c:v>
                </c:pt>
                <c:pt idx="5">
                  <c:v>47</c:v>
                </c:pt>
                <c:pt idx="6">
                  <c:v>44</c:v>
                </c:pt>
                <c:pt idx="7">
                  <c:v>47</c:v>
                </c:pt>
                <c:pt idx="8">
                  <c:v>47</c:v>
                </c:pt>
                <c:pt idx="9">
                  <c:v>48</c:v>
                </c:pt>
                <c:pt idx="10" formatCode="0.0">
                  <c:v>51.1</c:v>
                </c:pt>
                <c:pt idx="11" formatCode="0.0">
                  <c:v>54.2</c:v>
                </c:pt>
                <c:pt idx="12" formatCode="0.0">
                  <c:v>54.8</c:v>
                </c:pt>
                <c:pt idx="13" formatCode="0.0">
                  <c:v>55.3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030-4854-9068-DC0A13A96F6B}"/>
            </c:ext>
          </c:extLst>
        </c:ser>
        <c:ser>
          <c:idx val="2"/>
          <c:order val="2"/>
          <c:tx>
            <c:strRef>
              <c:f>Production!$D$4</c:f>
              <c:strCache>
                <c:ptCount val="1"/>
                <c:pt idx="0">
                  <c:v>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Production!$A$5:$A$18</c:f>
              <c:numCache>
                <c:formatCode>0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Production!$D$5:$D$18</c:f>
              <c:numCache>
                <c:formatCode>0</c:formatCode>
                <c:ptCount val="14"/>
                <c:pt idx="0">
                  <c:v>36</c:v>
                </c:pt>
                <c:pt idx="1">
                  <c:v>35</c:v>
                </c:pt>
                <c:pt idx="2">
                  <c:v>41</c:v>
                </c:pt>
                <c:pt idx="3">
                  <c:v>41</c:v>
                </c:pt>
                <c:pt idx="4">
                  <c:v>41</c:v>
                </c:pt>
                <c:pt idx="5">
                  <c:v>44</c:v>
                </c:pt>
                <c:pt idx="6">
                  <c:v>46</c:v>
                </c:pt>
                <c:pt idx="7">
                  <c:v>43</c:v>
                </c:pt>
                <c:pt idx="8">
                  <c:v>45</c:v>
                </c:pt>
                <c:pt idx="9">
                  <c:v>47</c:v>
                </c:pt>
                <c:pt idx="10" formatCode="0.0">
                  <c:v>46.2</c:v>
                </c:pt>
                <c:pt idx="11" formatCode="0.0">
                  <c:v>52.1</c:v>
                </c:pt>
                <c:pt idx="12" formatCode="0.0">
                  <c:v>53.3</c:v>
                </c:pt>
                <c:pt idx="13" formatCode="0.0">
                  <c:v>54.4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030-4854-9068-DC0A13A96F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554217328"/>
        <c:axId val="554213008"/>
      </c:barChart>
      <c:catAx>
        <c:axId val="55421732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554213008"/>
        <c:crosses val="autoZero"/>
        <c:auto val="1"/>
        <c:lblAlgn val="ctr"/>
        <c:lblOffset val="100"/>
        <c:noMultiLvlLbl val="0"/>
      </c:catAx>
      <c:valAx>
        <c:axId val="55421300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554217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8465756036797489E-2"/>
          <c:y val="4.6667213771360051E-2"/>
          <c:w val="0.9199117890515156"/>
          <c:h val="0.7062076376631770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Consumption!$B$4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Consumption!$A$5:$A$18</c:f>
              <c:numCache>
                <c:formatCode>0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Consumption!$B$5:$B$18</c:f>
              <c:numCache>
                <c:formatCode>0</c:formatCode>
                <c:ptCount val="14"/>
                <c:pt idx="0">
                  <c:v>105</c:v>
                </c:pt>
                <c:pt idx="1">
                  <c:v>107</c:v>
                </c:pt>
                <c:pt idx="2">
                  <c:v>108</c:v>
                </c:pt>
                <c:pt idx="3">
                  <c:v>107</c:v>
                </c:pt>
                <c:pt idx="4">
                  <c:v>108</c:v>
                </c:pt>
                <c:pt idx="5">
                  <c:v>110</c:v>
                </c:pt>
                <c:pt idx="6">
                  <c:v>109</c:v>
                </c:pt>
                <c:pt idx="7">
                  <c:v>105</c:v>
                </c:pt>
                <c:pt idx="8">
                  <c:v>111</c:v>
                </c:pt>
                <c:pt idx="9">
                  <c:v>109</c:v>
                </c:pt>
                <c:pt idx="10" formatCode="0.0">
                  <c:v>110.9</c:v>
                </c:pt>
                <c:pt idx="11">
                  <c:v>114</c:v>
                </c:pt>
                <c:pt idx="12" formatCode="0.0">
                  <c:v>115.9</c:v>
                </c:pt>
                <c:pt idx="13">
                  <c:v>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D2-4238-8B03-1A61F8A76FB8}"/>
            </c:ext>
          </c:extLst>
        </c:ser>
        <c:ser>
          <c:idx val="1"/>
          <c:order val="1"/>
          <c:tx>
            <c:strRef>
              <c:f>Consumption!$C$4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Consumption!$A$5:$A$18</c:f>
              <c:numCache>
                <c:formatCode>0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Consumption!$C$5:$C$18</c:f>
              <c:numCache>
                <c:formatCode>0</c:formatCode>
                <c:ptCount val="14"/>
                <c:pt idx="0">
                  <c:v>44</c:v>
                </c:pt>
                <c:pt idx="1">
                  <c:v>44</c:v>
                </c:pt>
                <c:pt idx="2">
                  <c:v>44</c:v>
                </c:pt>
                <c:pt idx="3">
                  <c:v>44</c:v>
                </c:pt>
                <c:pt idx="4">
                  <c:v>43</c:v>
                </c:pt>
                <c:pt idx="5">
                  <c:v>45</c:v>
                </c:pt>
                <c:pt idx="6">
                  <c:v>44</c:v>
                </c:pt>
                <c:pt idx="7">
                  <c:v>44</c:v>
                </c:pt>
                <c:pt idx="8">
                  <c:v>48</c:v>
                </c:pt>
                <c:pt idx="9">
                  <c:v>46</c:v>
                </c:pt>
                <c:pt idx="10" formatCode="0.0">
                  <c:v>44.2</c:v>
                </c:pt>
                <c:pt idx="11" formatCode="0.0">
                  <c:v>46.6</c:v>
                </c:pt>
                <c:pt idx="12">
                  <c:v>47</c:v>
                </c:pt>
                <c:pt idx="13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D2-4238-8B03-1A61F8A76FB8}"/>
            </c:ext>
          </c:extLst>
        </c:ser>
        <c:ser>
          <c:idx val="2"/>
          <c:order val="2"/>
          <c:tx>
            <c:strRef>
              <c:f>Consumption!$D$4</c:f>
              <c:strCache>
                <c:ptCount val="1"/>
                <c:pt idx="0">
                  <c:v>K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Consumption!$A$5:$A$18</c:f>
              <c:numCache>
                <c:formatCode>0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Consumption!$D$5:$D$18</c:f>
              <c:numCache>
                <c:formatCode>0</c:formatCode>
                <c:ptCount val="14"/>
                <c:pt idx="0">
                  <c:v>32</c:v>
                </c:pt>
                <c:pt idx="1">
                  <c:v>33</c:v>
                </c:pt>
                <c:pt idx="2">
                  <c:v>36</c:v>
                </c:pt>
                <c:pt idx="3">
                  <c:v>36</c:v>
                </c:pt>
                <c:pt idx="4">
                  <c:v>37</c:v>
                </c:pt>
                <c:pt idx="5">
                  <c:v>39</c:v>
                </c:pt>
                <c:pt idx="6">
                  <c:v>39</c:v>
                </c:pt>
                <c:pt idx="7">
                  <c:v>37</c:v>
                </c:pt>
                <c:pt idx="8">
                  <c:v>39</c:v>
                </c:pt>
                <c:pt idx="9">
                  <c:v>40</c:v>
                </c:pt>
                <c:pt idx="10" formatCode="0.0">
                  <c:v>34.299999999999997</c:v>
                </c:pt>
                <c:pt idx="11">
                  <c:v>37</c:v>
                </c:pt>
                <c:pt idx="12" formatCode="0.0">
                  <c:v>39.6</c:v>
                </c:pt>
                <c:pt idx="1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3D2-4238-8B03-1A61F8A76F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100"/>
        <c:axId val="283352096"/>
        <c:axId val="283354496"/>
      </c:barChart>
      <c:catAx>
        <c:axId val="283352096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283354496"/>
        <c:crosses val="autoZero"/>
        <c:auto val="1"/>
        <c:lblAlgn val="ctr"/>
        <c:lblOffset val="100"/>
        <c:noMultiLvlLbl val="0"/>
      </c:catAx>
      <c:valAx>
        <c:axId val="283354496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283352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Production!$H$2</c:f>
              <c:strCache>
                <c:ptCount val="1"/>
                <c:pt idx="0">
                  <c:v>Производство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Production!$I$1:$V$1</c:f>
              <c:numCache>
                <c:formatCode>General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Production!$I$2:$V$2</c:f>
              <c:numCache>
                <c:formatCode>General</c:formatCode>
                <c:ptCount val="14"/>
                <c:pt idx="0">
                  <c:v>190</c:v>
                </c:pt>
                <c:pt idx="1">
                  <c:v>195</c:v>
                </c:pt>
                <c:pt idx="2">
                  <c:v>203</c:v>
                </c:pt>
                <c:pt idx="3">
                  <c:v>209</c:v>
                </c:pt>
                <c:pt idx="4">
                  <c:v>206</c:v>
                </c:pt>
                <c:pt idx="5">
                  <c:v>209</c:v>
                </c:pt>
                <c:pt idx="6">
                  <c:v>207</c:v>
                </c:pt>
                <c:pt idx="7">
                  <c:v>213</c:v>
                </c:pt>
                <c:pt idx="8">
                  <c:v>213</c:v>
                </c:pt>
                <c:pt idx="9">
                  <c:v>214</c:v>
                </c:pt>
                <c:pt idx="10">
                  <c:v>253.8</c:v>
                </c:pt>
                <c:pt idx="11">
                  <c:v>269.3</c:v>
                </c:pt>
                <c:pt idx="12">
                  <c:v>275.2</c:v>
                </c:pt>
                <c:pt idx="13">
                  <c:v>280.79999999999995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44E-4F24-BA73-887FF1781580}"/>
            </c:ext>
          </c:extLst>
        </c:ser>
        <c:ser>
          <c:idx val="1"/>
          <c:order val="1"/>
          <c:tx>
            <c:strRef>
              <c:f>Production!$H$3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Production!$I$1:$V$1</c:f>
              <c:numCache>
                <c:formatCode>General</c:formatCode>
                <c:ptCount val="14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  <c:pt idx="12">
                  <c:v>2024</c:v>
                </c:pt>
                <c:pt idx="13">
                  <c:v>2025</c:v>
                </c:pt>
              </c:numCache>
            </c:numRef>
          </c:cat>
          <c:val>
            <c:numRef>
              <c:f>Production!$I$3:$V$3</c:f>
              <c:numCache>
                <c:formatCode>General</c:formatCode>
                <c:ptCount val="14"/>
                <c:pt idx="0">
                  <c:v>181</c:v>
                </c:pt>
                <c:pt idx="1">
                  <c:v>184</c:v>
                </c:pt>
                <c:pt idx="2">
                  <c:v>188</c:v>
                </c:pt>
                <c:pt idx="3">
                  <c:v>187</c:v>
                </c:pt>
                <c:pt idx="4">
                  <c:v>188</c:v>
                </c:pt>
                <c:pt idx="5">
                  <c:v>194</c:v>
                </c:pt>
                <c:pt idx="6">
                  <c:v>192</c:v>
                </c:pt>
                <c:pt idx="7">
                  <c:v>186</c:v>
                </c:pt>
                <c:pt idx="8">
                  <c:v>198</c:v>
                </c:pt>
                <c:pt idx="9">
                  <c:v>195</c:v>
                </c:pt>
                <c:pt idx="10">
                  <c:v>189.4</c:v>
                </c:pt>
                <c:pt idx="11">
                  <c:v>197.6</c:v>
                </c:pt>
                <c:pt idx="12">
                  <c:v>202.5</c:v>
                </c:pt>
                <c:pt idx="13">
                  <c:v>205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4E-4F24-BA73-887FF1781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6252944"/>
        <c:axId val="556253424"/>
      </c:lineChart>
      <c:catAx>
        <c:axId val="55625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556253424"/>
        <c:crosses val="autoZero"/>
        <c:auto val="1"/>
        <c:lblAlgn val="ctr"/>
        <c:lblOffset val="100"/>
        <c:noMultiLvlLbl val="0"/>
      </c:catAx>
      <c:valAx>
        <c:axId val="556253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556252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50"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Лист1!$B$5</c:f>
              <c:strCache>
                <c:ptCount val="1"/>
                <c:pt idx="0">
                  <c:v>Экспорт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Лист1!$C$4:$I$4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Лист1!$C$5:$I$5</c:f>
              <c:numCache>
                <c:formatCode>_-* #\ ##0_-;\-* #\ ##0_-;_-* "-"??_-;_-@_-</c:formatCode>
                <c:ptCount val="7"/>
                <c:pt idx="0">
                  <c:v>380</c:v>
                </c:pt>
                <c:pt idx="1">
                  <c:v>545</c:v>
                </c:pt>
                <c:pt idx="2">
                  <c:v>450.9</c:v>
                </c:pt>
                <c:pt idx="3">
                  <c:v>302.10000000000002</c:v>
                </c:pt>
                <c:pt idx="4">
                  <c:v>574.5</c:v>
                </c:pt>
                <c:pt idx="5">
                  <c:v>623</c:v>
                </c:pt>
                <c:pt idx="6">
                  <c:v>661.1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5E-4C25-899A-635077D63FBF}"/>
            </c:ext>
          </c:extLst>
        </c:ser>
        <c:ser>
          <c:idx val="1"/>
          <c:order val="1"/>
          <c:tx>
            <c:strRef>
              <c:f>Лист1!$B$6</c:f>
              <c:strCache>
                <c:ptCount val="1"/>
                <c:pt idx="0">
                  <c:v>Импорт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Лист1!$C$4:$I$4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Лист1!$C$6:$I$6</c:f>
              <c:numCache>
                <c:formatCode>_-* #\ ##0_-;\-* #\ ##0_-;_-* "-"??_-;_-@_-</c:formatCode>
                <c:ptCount val="7"/>
                <c:pt idx="0">
                  <c:v>505</c:v>
                </c:pt>
                <c:pt idx="1">
                  <c:v>605</c:v>
                </c:pt>
                <c:pt idx="2">
                  <c:v>604.20000000000005</c:v>
                </c:pt>
                <c:pt idx="3">
                  <c:v>521.5</c:v>
                </c:pt>
                <c:pt idx="4">
                  <c:v>544.29999999999995</c:v>
                </c:pt>
                <c:pt idx="5">
                  <c:v>591.5</c:v>
                </c:pt>
                <c:pt idx="6">
                  <c:v>679.3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5E-4C25-899A-635077D63F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2088976576"/>
        <c:axId val="2088977536"/>
      </c:barChart>
      <c:catAx>
        <c:axId val="2088976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2088977536"/>
        <c:crosses val="autoZero"/>
        <c:auto val="1"/>
        <c:lblAlgn val="ctr"/>
        <c:lblOffset val="100"/>
        <c:noMultiLvlLbl val="0"/>
      </c:catAx>
      <c:valAx>
        <c:axId val="2088977536"/>
        <c:scaling>
          <c:orientation val="minMax"/>
        </c:scaling>
        <c:delete val="0"/>
        <c:axPos val="l"/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2088976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9708149422302996"/>
          <c:y val="4.3459827938174343E-2"/>
          <c:w val="0.30345768395088724"/>
          <c:h val="6.96796527989468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KZ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Лист1!$B$10</c:f>
              <c:strCache>
                <c:ptCount val="1"/>
                <c:pt idx="0">
                  <c:v>Производство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Лист1!$C$9:$I$9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Лист1!$C$10:$I$10</c:f>
              <c:numCache>
                <c:formatCode>_-* #\ ##0_-;\-* #\ ##0_-;_-* "-"??_-;_-@_-</c:formatCode>
                <c:ptCount val="7"/>
                <c:pt idx="0">
                  <c:v>571.23</c:v>
                </c:pt>
                <c:pt idx="1">
                  <c:v>586.79999999999995</c:v>
                </c:pt>
                <c:pt idx="2">
                  <c:v>640.79999999999995</c:v>
                </c:pt>
                <c:pt idx="3">
                  <c:v>858.67000000000007</c:v>
                </c:pt>
                <c:pt idx="4">
                  <c:v>1407</c:v>
                </c:pt>
                <c:pt idx="5">
                  <c:v>800</c:v>
                </c:pt>
                <c:pt idx="6">
                  <c:v>814.29500000000007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CD-4024-82F8-E2FD594E14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2088938176"/>
        <c:axId val="2088942976"/>
      </c:barChart>
      <c:catAx>
        <c:axId val="2088938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2088942976"/>
        <c:crosses val="autoZero"/>
        <c:auto val="1"/>
        <c:lblAlgn val="ctr"/>
        <c:lblOffset val="100"/>
        <c:noMultiLvlLbl val="0"/>
      </c:catAx>
      <c:valAx>
        <c:axId val="2088942976"/>
        <c:scaling>
          <c:orientation val="minMax"/>
        </c:scaling>
        <c:delete val="0"/>
        <c:axPos val="l"/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2088938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Лист1!$C$12:$I$12</c:f>
              <c:numCache>
                <c:formatCode>General</c:formatCod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</c:numCache>
            </c:numRef>
          </c:cat>
          <c:val>
            <c:numRef>
              <c:f>Лист1!$C$13:$I$13</c:f>
              <c:numCache>
                <c:formatCode>_-* #\ ##0_-;\-* #\ ##0_-;_-* "-"??_-;_-@_-</c:formatCode>
                <c:ptCount val="7"/>
                <c:pt idx="0">
                  <c:v>696.23</c:v>
                </c:pt>
                <c:pt idx="1">
                  <c:v>646.79999999999995</c:v>
                </c:pt>
                <c:pt idx="2">
                  <c:v>809.30000000000007</c:v>
                </c:pt>
                <c:pt idx="3">
                  <c:v>1106.4000000000001</c:v>
                </c:pt>
                <c:pt idx="4">
                  <c:v>985.8</c:v>
                </c:pt>
                <c:pt idx="5">
                  <c:v>815.5</c:v>
                </c:pt>
                <c:pt idx="6">
                  <c:v>1190.1999999999998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2-4820-98F2-67920E2523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2777888"/>
        <c:axId val="482778368"/>
      </c:barChart>
      <c:catAx>
        <c:axId val="482777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482778368"/>
        <c:crosses val="autoZero"/>
        <c:auto val="1"/>
        <c:lblAlgn val="ctr"/>
        <c:lblOffset val="100"/>
        <c:noMultiLvlLbl val="0"/>
      </c:catAx>
      <c:valAx>
        <c:axId val="482778368"/>
        <c:scaling>
          <c:orientation val="minMax"/>
        </c:scaling>
        <c:delete val="0"/>
        <c:axPos val="l"/>
        <c:numFmt formatCode="_-* #\ ##0_-;\-* #\ 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482777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Лист2!$C$3</c:f>
              <c:strCache>
                <c:ptCount val="1"/>
                <c:pt idx="0">
                  <c:v>Импорт (тонн)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Лист2!$B$9:$B$11</c:f>
              <c:strCache>
                <c:ptCount val="3"/>
                <c:pt idx="0">
                  <c:v>Россия</c:v>
                </c:pt>
                <c:pt idx="1">
                  <c:v>Китай</c:v>
                </c:pt>
                <c:pt idx="2">
                  <c:v>Бразилия</c:v>
                </c:pt>
              </c:strCache>
            </c:strRef>
          </c:cat>
          <c:val>
            <c:numRef>
              <c:f>Лист2!$C$9:$C$11</c:f>
              <c:numCache>
                <c:formatCode>_-* #\ ##0_-;\-* #\ ##0_-;_-* "-"??_-;_-@_-</c:formatCode>
                <c:ptCount val="3"/>
                <c:pt idx="0">
                  <c:v>1000000</c:v>
                </c:pt>
                <c:pt idx="1">
                  <c:v>13300000</c:v>
                </c:pt>
                <c:pt idx="2">
                  <c:v>39000000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0-435D-902A-3786A6E8E0CF}"/>
            </c:ext>
          </c:extLst>
        </c:ser>
        <c:ser>
          <c:idx val="1"/>
          <c:order val="1"/>
          <c:tx>
            <c:strRef>
              <c:f>Лист2!$D$3</c:f>
              <c:strCache>
                <c:ptCount val="1"/>
                <c:pt idx="0">
                  <c:v>Потребление (тонн)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entury Gothic" panose="020B0502020202020204" pitchFamily="34" charset="0"/>
                      <a:ea typeface="+mn-ea"/>
                      <a:cs typeface="+mn-cs"/>
                    </a:defRPr>
                  </a:pPr>
                  <a:endParaRPr lang="ru-K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1D60-435D-902A-3786A6E8E0CF}"/>
                </c:ext>
              </c:extLst>
            </c:dLbl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entury Gothic" panose="020B0502020202020204" pitchFamily="34" charset="0"/>
                      <a:ea typeface="+mn-ea"/>
                      <a:cs typeface="+mn-cs"/>
                    </a:defRPr>
                  </a:pPr>
                  <a:endParaRPr lang="ru-K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D60-435D-902A-3786A6E8E0CF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Century Gothic" panose="020B0502020202020204" pitchFamily="34" charset="0"/>
                      <a:ea typeface="+mn-ea"/>
                      <a:cs typeface="+mn-cs"/>
                    </a:defRPr>
                  </a:pPr>
                  <a:endParaRPr lang="ru-KZ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D60-435D-902A-3786A6E8E0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Лист2!$B$9:$B$11</c:f>
              <c:strCache>
                <c:ptCount val="3"/>
                <c:pt idx="0">
                  <c:v>Россия</c:v>
                </c:pt>
                <c:pt idx="1">
                  <c:v>Китай</c:v>
                </c:pt>
                <c:pt idx="2">
                  <c:v>Бразилия</c:v>
                </c:pt>
              </c:strCache>
            </c:strRef>
          </c:cat>
          <c:val>
            <c:numRef>
              <c:f>Лист2!$D$9:$D$11</c:f>
              <c:numCache>
                <c:formatCode>_-* #\ ##0_-;\-* #\ ##0_-;_-* "-"??_-;_-@_-</c:formatCode>
                <c:ptCount val="3"/>
                <c:pt idx="0">
                  <c:v>5100000</c:v>
                </c:pt>
                <c:pt idx="1">
                  <c:v>55000000</c:v>
                </c:pt>
                <c:pt idx="2">
                  <c:v>45000000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60-435D-902A-3786A6E8E0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49310607"/>
        <c:axId val="549313487"/>
      </c:barChart>
      <c:catAx>
        <c:axId val="549310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549313487"/>
        <c:crosses val="autoZero"/>
        <c:auto val="1"/>
        <c:lblAlgn val="ctr"/>
        <c:lblOffset val="100"/>
        <c:noMultiLvlLbl val="0"/>
      </c:catAx>
      <c:valAx>
        <c:axId val="549313487"/>
        <c:scaling>
          <c:orientation val="minMax"/>
        </c:scaling>
        <c:delete val="1"/>
        <c:axPos val="l"/>
        <c:numFmt formatCode="_-* #\ ##0_-;\-* #\ ##0_-;_-* &quot;-&quot;??_-;_-@_-" sourceLinked="1"/>
        <c:majorTickMark val="none"/>
        <c:minorTickMark val="none"/>
        <c:tickLblPos val="nextTo"/>
        <c:crossAx val="549310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r>
              <a:rPr lang="ru-RU"/>
              <a:t>Фактическое внесение кг/га</a:t>
            </a:r>
          </a:p>
        </c:rich>
      </c:tx>
      <c:layout>
        <c:manualLayout>
          <c:xMode val="edge"/>
          <c:yMode val="edge"/>
          <c:x val="0.18031040582459562"/>
          <c:y val="0.1200395721004089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5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Лист2!$B$4:$B$11</c:f>
              <c:strCache>
                <c:ptCount val="8"/>
                <c:pt idx="0">
                  <c:v>Казахстан</c:v>
                </c:pt>
                <c:pt idx="1">
                  <c:v>Узбекистан</c:v>
                </c:pt>
                <c:pt idx="2">
                  <c:v>Кыргызстан</c:v>
                </c:pt>
                <c:pt idx="3">
                  <c:v>Туркменистан</c:v>
                </c:pt>
                <c:pt idx="4">
                  <c:v>Таджикистан</c:v>
                </c:pt>
                <c:pt idx="5">
                  <c:v>Россия</c:v>
                </c:pt>
                <c:pt idx="6">
                  <c:v>Китай</c:v>
                </c:pt>
                <c:pt idx="7">
                  <c:v>Бразилия</c:v>
                </c:pt>
              </c:strCache>
            </c:strRef>
          </c:cat>
          <c:val>
            <c:numRef>
              <c:f>Лист2!$L$4:$L$11</c:f>
              <c:numCache>
                <c:formatCode>General</c:formatCode>
                <c:ptCount val="8"/>
                <c:pt idx="0">
                  <c:v>10</c:v>
                </c:pt>
                <c:pt idx="1">
                  <c:v>200</c:v>
                </c:pt>
                <c:pt idx="2">
                  <c:v>100</c:v>
                </c:pt>
                <c:pt idx="3">
                  <c:v>160</c:v>
                </c:pt>
                <c:pt idx="4">
                  <c:v>130</c:v>
                </c:pt>
                <c:pt idx="5">
                  <c:v>170</c:v>
                </c:pt>
                <c:pt idx="6">
                  <c:v>330</c:v>
                </c:pt>
                <c:pt idx="7">
                  <c:v>340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FA-43A6-B5C4-AD96D8BE9C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33113039"/>
        <c:axId val="233113519"/>
      </c:barChart>
      <c:catAx>
        <c:axId val="233113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233113519"/>
        <c:crosses val="autoZero"/>
        <c:auto val="1"/>
        <c:lblAlgn val="ctr"/>
        <c:lblOffset val="100"/>
        <c:noMultiLvlLbl val="0"/>
      </c:catAx>
      <c:valAx>
        <c:axId val="2331135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33113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Лист2!$C$3</c:f>
              <c:strCache>
                <c:ptCount val="1"/>
                <c:pt idx="0">
                  <c:v>Импорт (тонн)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Лист2!$B$5:$B$8</c:f>
              <c:strCache>
                <c:ptCount val="4"/>
                <c:pt idx="0">
                  <c:v>Узбекистан</c:v>
                </c:pt>
                <c:pt idx="1">
                  <c:v>Кыргызстан</c:v>
                </c:pt>
                <c:pt idx="2">
                  <c:v>Туркменистан</c:v>
                </c:pt>
                <c:pt idx="3">
                  <c:v>Таджикистан</c:v>
                </c:pt>
              </c:strCache>
            </c:strRef>
          </c:cat>
          <c:val>
            <c:numRef>
              <c:f>Лист2!$C$5:$C$8</c:f>
              <c:numCache>
                <c:formatCode>_-* #\ ##0_-;\-* #\ ##0_-;_-* "-"??_-;_-@_-</c:formatCode>
                <c:ptCount val="4"/>
                <c:pt idx="0">
                  <c:v>313000</c:v>
                </c:pt>
                <c:pt idx="1">
                  <c:v>286000</c:v>
                </c:pt>
                <c:pt idx="2">
                  <c:v>52000</c:v>
                </c:pt>
                <c:pt idx="3">
                  <c:v>203139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77-461F-B918-043670CB6037}"/>
            </c:ext>
          </c:extLst>
        </c:ser>
        <c:ser>
          <c:idx val="1"/>
          <c:order val="1"/>
          <c:tx>
            <c:strRef>
              <c:f>Лист2!$D$3</c:f>
              <c:strCache>
                <c:ptCount val="1"/>
                <c:pt idx="0">
                  <c:v>Потребление (тонн)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8.3333333333333332E-3"/>
                  <c:y val="-7.407407407407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77-461F-B918-043670CB6037}"/>
                </c:ext>
              </c:extLst>
            </c:dLbl>
            <c:dLbl>
              <c:idx val="3"/>
              <c:layout>
                <c:manualLayout>
                  <c:x val="-1.0185067526415994E-16"/>
                  <c:y val="-6.94444444444445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277-461F-B918-043670CB60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pitchFamily="34" charset="0"/>
                    <a:ea typeface="+mn-ea"/>
                    <a:cs typeface="+mn-cs"/>
                  </a:defRPr>
                </a:pPr>
                <a:endParaRPr lang="ru-K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Лист2!$B$5:$B$8</c:f>
              <c:strCache>
                <c:ptCount val="4"/>
                <c:pt idx="0">
                  <c:v>Узбекистан</c:v>
                </c:pt>
                <c:pt idx="1">
                  <c:v>Кыргызстан</c:v>
                </c:pt>
                <c:pt idx="2">
                  <c:v>Туркменистан</c:v>
                </c:pt>
                <c:pt idx="3">
                  <c:v>Таджикистан</c:v>
                </c:pt>
              </c:strCache>
            </c:strRef>
          </c:cat>
          <c:val>
            <c:numRef>
              <c:f>Лист2!$D$5:$D$8</c:f>
              <c:numCache>
                <c:formatCode>_-* #\ ##0_-;\-* #\ ##0_-;_-* "-"??_-;_-@_-</c:formatCode>
                <c:ptCount val="4"/>
                <c:pt idx="0">
                  <c:v>1200000</c:v>
                </c:pt>
                <c:pt idx="1">
                  <c:v>300000</c:v>
                </c:pt>
                <c:pt idx="2">
                  <c:v>100000</c:v>
                </c:pt>
                <c:pt idx="3">
                  <c:v>250000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277-461F-B918-043670CB60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47147487"/>
        <c:axId val="547145567"/>
      </c:barChart>
      <c:catAx>
        <c:axId val="547147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ea typeface="+mn-ea"/>
                <a:cs typeface="+mn-cs"/>
              </a:defRPr>
            </a:pPr>
            <a:endParaRPr lang="ru-KZ"/>
          </a:p>
        </c:txPr>
        <c:crossAx val="547145567"/>
        <c:crosses val="autoZero"/>
        <c:auto val="1"/>
        <c:lblAlgn val="ctr"/>
        <c:lblOffset val="100"/>
        <c:noMultiLvlLbl val="0"/>
      </c:catAx>
      <c:valAx>
        <c:axId val="547145567"/>
        <c:scaling>
          <c:orientation val="minMax"/>
        </c:scaling>
        <c:delete val="1"/>
        <c:axPos val="l"/>
        <c:numFmt formatCode="_-* #\ ##0_-;\-* #\ ##0_-;_-* &quot;-&quot;??_-;_-@_-" sourceLinked="1"/>
        <c:majorTickMark val="none"/>
        <c:minorTickMark val="none"/>
        <c:tickLblPos val="nextTo"/>
        <c:crossAx val="547147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  <a:ea typeface="+mn-ea"/>
              <a:cs typeface="+mn-cs"/>
            </a:defRPr>
          </a:pPr>
          <a:endParaRPr lang="ru-KZ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Century Gothic" panose="020B0502020202020204" pitchFamily="34" charset="0"/>
        </a:defRPr>
      </a:pPr>
      <a:endParaRPr lang="ru-K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D8E6A-F0B7-0F9C-72B4-1B6BF3111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7DF927-A101-0D30-1F03-0352652DB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26BFB-AC80-7711-C0DC-08B79ABE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874AA8-B2B8-2DD1-E589-D23DC9F0B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E92C4B-8375-C3C5-62D0-95EEC8A0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9208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42143-1567-EA18-59F9-7CC64AA87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C0EDDD-4E9A-20FE-BFCC-0B55EC31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B81242-9164-0258-A8F0-8B11B3790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83F37D-508F-1DF5-A8CA-7C6A14AFD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D54E8A-0B5C-CC06-1D18-AB5CD900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6139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7CA51-D42F-2B9E-E1FA-1966A8680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C4DEAD-8EFD-1F9E-130D-AD3348B6D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47C3D0-E9B1-10E9-2287-9D0BF1105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402A3F-D0FA-2C1F-6BC9-67DAA971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C4DFE7-7D83-2F70-D153-BAE6244E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82966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D116B-4951-C073-08AC-524D23CE1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588444-B337-FE87-82F3-C2A105612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98DF9B-AAC8-6DC6-B181-8C40239F3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8C018C-1781-87B2-C4F6-041FC1774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36867F-A69E-329C-C9CB-D12046B7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3AEF2D-086B-ED63-AE9F-15EF31BC7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08354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4036AD-50F6-E85D-A828-1FB12F8D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2513DD-3124-EFD3-346D-772E59D21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B4E6083-CF15-C1C7-EAA7-19C2AED92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2C2B015-B5E2-6177-2942-32D7567D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8C157B5-F3A6-FD30-7C95-9A8E239C90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4774074-DB7F-1F64-CA73-C7480190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34A08B9-11FF-9CF2-9310-D531CFF9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922668-84B8-538F-EDB2-C9892205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47713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2E109-D306-E552-2865-03B0FA32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F02D711-B02B-813A-37F6-CDFD9428C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EA44374-93A8-8084-6025-88BB43A9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191E24-8481-43D7-C619-26A289504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75602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2353F9-A75B-DC0A-2AB3-AE45085BA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E94292-F551-017D-488E-6E03DE4F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9D95EBB-B43A-EB68-4334-B457B404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810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2DFDDA-CFA5-BF55-2288-0094BB60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A69015-818F-2876-6EDC-279FC726A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CAFE01-2C1C-CDD1-D892-2C03BA17C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B2D625-2D77-C6E8-CE5C-B7DAD3EDB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6B9ADF-5F29-273F-84B5-0CCFD044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CC2643-1BDE-03F8-6212-5E18364C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7224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31FAA7-A184-6221-402C-6C38C090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8EAD6A-96FB-F4C6-B00C-E08E009FE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E876CE-E468-4398-CBEA-98E510AE8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6723A5-B0DA-7B4D-AD45-B6221FE0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7CCDAC4-FBB8-A718-34DE-E831032C7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F00B02-50F1-7773-3F33-9BF78D30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4547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4647D-CA53-BC36-A6EB-D76B702E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F2EBCB-8FA3-3FF6-8139-736DF4513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CF52C-6A64-9BDF-C2A1-67B8B93F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B8C8CA-3EE2-BC2E-C10D-6DFC8CE9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331360-5BD5-5DA8-91FC-B3090021F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1302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23AB48C-AFB8-BF5F-4DA0-7D58F6B94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D12A81-8A4E-D6B5-E5E3-890183A19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B9544E-2FC3-D077-83F7-283887D3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B9F594-AB43-4A7B-33AC-D3BF3C6B5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2B1A7B-0C8C-021A-B9BD-93606BE5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4133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BC43A-A4AD-3D20-DF98-CEDED5B1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2368B7-CC28-7C44-B0EE-60009F313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8F4E5C-0DB4-093D-585C-F188A7B0F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9CAD4-443D-4E97-A9E0-C1B3FF5FE73E}" type="datetimeFigureOut">
              <a:rPr lang="ru-KZ" smtClean="0"/>
              <a:t>08.07.2026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A97842-305B-C1F3-05CE-EA672EDAB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5A578A-FE8E-BFA2-8395-3295AF1ED6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CA4800-B7AC-4ADF-8988-1F77D0C18148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14179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F6BCB-218F-1515-E9A4-2E02CAB4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EE1A528-5194-8974-F10A-6D61D902ED4F}"/>
              </a:ext>
            </a:extLst>
          </p:cNvPr>
          <p:cNvSpPr/>
          <p:nvPr/>
        </p:nvSpPr>
        <p:spPr>
          <a:xfrm>
            <a:off x="6178719" y="3322320"/>
            <a:ext cx="5535761" cy="33184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Мировое </a:t>
            </a: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производство 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удобрений (289 млн тонн в 2025 году) </a:t>
            </a:r>
            <a:r>
              <a:rPr lang="ru-RU" b="1" dirty="0">
                <a:solidFill>
                  <a:srgbClr val="002060"/>
                </a:solidFill>
                <a:latin typeface="Century Gothic" panose="020B0502020202020204" pitchFamily="34" charset="0"/>
              </a:rPr>
              <a:t>превышает спрос 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как в совокупности, так и по каждому питательному элементу (азот, фосфор, калий). </a:t>
            </a:r>
          </a:p>
          <a:p>
            <a:pPr algn="just"/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По структуре питательных веществ мировое производство и потребление преимущественно приходится на азот, фосфор и калий.</a:t>
            </a:r>
          </a:p>
          <a:p>
            <a:pPr algn="just"/>
            <a:r>
              <a:rPr lang="en-US" dirty="0">
                <a:solidFill>
                  <a:srgbClr val="002060"/>
                </a:solidFill>
                <a:latin typeface="Century Gothic" panose="020B0502020202020204" pitchFamily="34" charset="0"/>
              </a:rPr>
              <a:t>*</a:t>
            </a:r>
            <a:r>
              <a:rPr lang="ru-RU" dirty="0">
                <a:solidFill>
                  <a:srgbClr val="002060"/>
                </a:solidFill>
                <a:latin typeface="Century Gothic" panose="020B0502020202020204" pitchFamily="34" charset="0"/>
              </a:rPr>
              <a:t>Большая доля потребления азотных удобрений не отражена в статистике, т.к большой объем химии идет в ВПК.</a:t>
            </a:r>
            <a:endParaRPr lang="ru-KZ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F955E32E-D7AE-1181-500A-CD52905EA18E}"/>
              </a:ext>
            </a:extLst>
          </p:cNvPr>
          <p:cNvSpPr/>
          <p:nvPr/>
        </p:nvSpPr>
        <p:spPr>
          <a:xfrm>
            <a:off x="6" y="0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3DE2F29-4FD9-8B0F-A663-90AE286DC4C4}"/>
              </a:ext>
            </a:extLst>
          </p:cNvPr>
          <p:cNvSpPr/>
          <p:nvPr/>
        </p:nvSpPr>
        <p:spPr>
          <a:xfrm>
            <a:off x="3048" y="6783926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930787-CC2F-2EDF-3902-21006CFF6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423113"/>
            <a:ext cx="1326154" cy="426505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DEB86E69-0B3C-00DE-3776-B06F8B77D8F4}"/>
              </a:ext>
            </a:extLst>
          </p:cNvPr>
          <p:cNvSpPr txBox="1">
            <a:spLocks/>
          </p:cNvSpPr>
          <p:nvPr/>
        </p:nvSpPr>
        <p:spPr>
          <a:xfrm>
            <a:off x="10074" y="69489"/>
            <a:ext cx="7548966" cy="4265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18FC1"/>
                </a:solidFill>
                <a:latin typeface="Century Gothic" panose="020B0502020202020204" pitchFamily="34" charset="0"/>
                <a:ea typeface="Roboto" panose="02000000000000000000" pitchFamily="2" charset="0"/>
              </a:rPr>
              <a:t>Мировой рынок удобрений</a:t>
            </a:r>
            <a:endParaRPr lang="ru-KZ" sz="2400" b="1" dirty="0">
              <a:solidFill>
                <a:srgbClr val="018FC1"/>
              </a:solidFill>
              <a:latin typeface="Century Gothic" panose="020B0502020202020204" pitchFamily="34" charset="0"/>
              <a:ea typeface="Roboto" panose="02000000000000000000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20B97B-17B7-3D53-96D7-C74F8291D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433" y="-2164740"/>
            <a:ext cx="4750181" cy="8381027"/>
          </a:xfrm>
          <a:prstGeom prst="rect">
            <a:avLst/>
          </a:prstGeom>
        </p:spPr>
      </p:pic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25F36972-8015-F8A9-38B4-43FEABDDA33B}"/>
              </a:ext>
            </a:extLst>
          </p:cNvPr>
          <p:cNvGraphicFramePr>
            <a:graphicFrameLocks/>
          </p:cNvGraphicFramePr>
          <p:nvPr/>
        </p:nvGraphicFramePr>
        <p:xfrm>
          <a:off x="80386" y="966080"/>
          <a:ext cx="5639694" cy="1890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C25EA75C-B0AD-601E-A7AD-BEC48386B06B}"/>
              </a:ext>
            </a:extLst>
          </p:cNvPr>
          <p:cNvGraphicFramePr>
            <a:graphicFrameLocks noGrp="1"/>
          </p:cNvGraphicFramePr>
          <p:nvPr/>
        </p:nvGraphicFramePr>
        <p:xfrm>
          <a:off x="451394" y="928009"/>
          <a:ext cx="5116286" cy="22860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365449">
                  <a:extLst>
                    <a:ext uri="{9D8B030D-6E8A-4147-A177-3AD203B41FA5}">
                      <a16:colId xmlns:a16="http://schemas.microsoft.com/office/drawing/2014/main" val="3744569813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417713062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25320402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2303127233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633245272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2281400043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186940984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2786912058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2908476522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3645145611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1202736946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2668276452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2108815129"/>
                    </a:ext>
                  </a:extLst>
                </a:gridCol>
                <a:gridCol w="365449">
                  <a:extLst>
                    <a:ext uri="{9D8B030D-6E8A-4147-A177-3AD203B41FA5}">
                      <a16:colId xmlns:a16="http://schemas.microsoft.com/office/drawing/2014/main" val="89049886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190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195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203</a:t>
                      </a:r>
                      <a:endParaRPr lang="ru-KZ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209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206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209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207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213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213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214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254</a:t>
                      </a:r>
                      <a:endParaRPr lang="ru-KZ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269</a:t>
                      </a:r>
                      <a:endParaRPr lang="ru-KZ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275</a:t>
                      </a:r>
                      <a:endParaRPr lang="ru-KZ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289</a:t>
                      </a:r>
                      <a:endParaRPr lang="ru-KZ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39985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3CD873A-A5D1-F9BC-7D97-6975718E2024}"/>
              </a:ext>
            </a:extLst>
          </p:cNvPr>
          <p:cNvSpPr txBox="1"/>
          <p:nvPr/>
        </p:nvSpPr>
        <p:spPr>
          <a:xfrm>
            <a:off x="0" y="511146"/>
            <a:ext cx="6024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Aptos Narrow" panose="020B0004020202020204" pitchFamily="34" charset="0"/>
              </a:rPr>
              <a:t>Структура мирового производства удобрений, млн тонн</a:t>
            </a:r>
            <a:endParaRPr lang="ru-KZ" b="1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D10E6-CCDA-3F29-5924-784FAF25201D}"/>
              </a:ext>
            </a:extLst>
          </p:cNvPr>
          <p:cNvSpPr txBox="1"/>
          <p:nvPr/>
        </p:nvSpPr>
        <p:spPr>
          <a:xfrm>
            <a:off x="6178719" y="503567"/>
            <a:ext cx="6024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Aptos Narrow" panose="020B0004020202020204" pitchFamily="34" charset="0"/>
              </a:rPr>
              <a:t>Структура мирового потребления удобрений, млн тонн</a:t>
            </a:r>
            <a:endParaRPr lang="ru-KZ" b="1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2C844118-4D9D-14B6-0E21-0106A5530E52}"/>
              </a:ext>
            </a:extLst>
          </p:cNvPr>
          <p:cNvGraphicFramePr>
            <a:graphicFrameLocks/>
          </p:cNvGraphicFramePr>
          <p:nvPr/>
        </p:nvGraphicFramePr>
        <p:xfrm>
          <a:off x="5731124" y="753100"/>
          <a:ext cx="6460876" cy="2216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4737B927-70A2-1656-99D5-2E7230DF0854}"/>
              </a:ext>
            </a:extLst>
          </p:cNvPr>
          <p:cNvGraphicFramePr>
            <a:graphicFrameLocks noGrp="1"/>
          </p:cNvGraphicFramePr>
          <p:nvPr/>
        </p:nvGraphicFramePr>
        <p:xfrm>
          <a:off x="5934324" y="945339"/>
          <a:ext cx="6191234" cy="17526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442231">
                  <a:extLst>
                    <a:ext uri="{9D8B030D-6E8A-4147-A177-3AD203B41FA5}">
                      <a16:colId xmlns:a16="http://schemas.microsoft.com/office/drawing/2014/main" val="1448098201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497833586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1444004550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2666696780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3874979222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298343079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3937183344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1618151470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421261376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1036519688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1064250658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1841700672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2291068169"/>
                    </a:ext>
                  </a:extLst>
                </a:gridCol>
                <a:gridCol w="442231">
                  <a:extLst>
                    <a:ext uri="{9D8B030D-6E8A-4147-A177-3AD203B41FA5}">
                      <a16:colId xmlns:a16="http://schemas.microsoft.com/office/drawing/2014/main" val="2457530846"/>
                    </a:ext>
                  </a:extLst>
                </a:gridCol>
              </a:tblGrid>
              <a:tr h="1479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181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184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188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187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188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194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192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186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198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195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189,4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197,6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>
                          <a:effectLst/>
                          <a:latin typeface="Century Gothic" panose="020B0502020202020204" pitchFamily="34" charset="0"/>
                        </a:rPr>
                        <a:t>202,5</a:t>
                      </a:r>
                      <a:endParaRPr lang="ru-KZ" sz="11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KZ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205</a:t>
                      </a:r>
                      <a:endParaRPr lang="ru-KZ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2636698"/>
                  </a:ext>
                </a:extLst>
              </a:tr>
            </a:tbl>
          </a:graphicData>
        </a:graphic>
      </p:graphicFrame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FE9E3746-4129-AE88-3735-3FF4E8382CF7}"/>
              </a:ext>
            </a:extLst>
          </p:cNvPr>
          <p:cNvGraphicFramePr>
            <a:graphicFrameLocks/>
          </p:cNvGraphicFramePr>
          <p:nvPr/>
        </p:nvGraphicFramePr>
        <p:xfrm>
          <a:off x="0" y="3766908"/>
          <a:ext cx="5330710" cy="2219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2958A02C-45A2-FAAD-1192-26E3B30DBAC8}"/>
              </a:ext>
            </a:extLst>
          </p:cNvPr>
          <p:cNvSpPr txBox="1"/>
          <p:nvPr/>
        </p:nvSpPr>
        <p:spPr>
          <a:xfrm>
            <a:off x="817499" y="3397576"/>
            <a:ext cx="47501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2060"/>
                </a:solidFill>
                <a:latin typeface="Aptos Narrow" panose="020B0004020202020204" pitchFamily="34" charset="0"/>
              </a:rPr>
              <a:t>Кривые производства и потребления</a:t>
            </a:r>
            <a:endParaRPr lang="ru-KZ" b="1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388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76D5D-8763-1F75-0CE5-1838A04B9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1D089E-3BB3-4178-0892-503BC35F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433" y="-2164740"/>
            <a:ext cx="4750181" cy="8381027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8D543516-F48D-ACB3-E8AF-E3EB916EB566}"/>
              </a:ext>
            </a:extLst>
          </p:cNvPr>
          <p:cNvSpPr/>
          <p:nvPr/>
        </p:nvSpPr>
        <p:spPr>
          <a:xfrm>
            <a:off x="6" y="0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6F8075A4-0EEA-AF6C-6138-C2034EB4CC28}"/>
              </a:ext>
            </a:extLst>
          </p:cNvPr>
          <p:cNvSpPr/>
          <p:nvPr/>
        </p:nvSpPr>
        <p:spPr>
          <a:xfrm>
            <a:off x="3048" y="6783926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D1A630-9197-7F9F-B2A2-2B4C11B19D0E}"/>
              </a:ext>
            </a:extLst>
          </p:cNvPr>
          <p:cNvSpPr txBox="1"/>
          <p:nvPr/>
        </p:nvSpPr>
        <p:spPr>
          <a:xfrm>
            <a:off x="-35173" y="3530919"/>
            <a:ext cx="122271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sz="1200" b="1" dirty="0">
              <a:latin typeface="Century Gothic" panose="020B0502020202020204" pitchFamily="34" charset="0"/>
            </a:endParaRPr>
          </a:p>
          <a:p>
            <a:pPr algn="just"/>
            <a:r>
              <a:rPr lang="ru-RU" sz="1200" dirty="0">
                <a:latin typeface="Century Gothic" panose="020B0502020202020204" pitchFamily="34" charset="0"/>
              </a:rPr>
              <a:t>Исходя из стат. данных за </a:t>
            </a:r>
            <a:r>
              <a:rPr lang="en-US" sz="1200" dirty="0">
                <a:latin typeface="Century Gothic" panose="020B0502020202020204" pitchFamily="34" charset="0"/>
              </a:rPr>
              <a:t>7 </a:t>
            </a:r>
            <a:r>
              <a:rPr lang="ru-RU" sz="1200" dirty="0">
                <a:latin typeface="Century Gothic" panose="020B0502020202020204" pitchFamily="34" charset="0"/>
              </a:rPr>
              <a:t> лет видно, что торговый баланс отрицателен, однако в последние годы идет выравнивание структуры экспорта и импорта.  Основные поставщики на сегодняшний день – </a:t>
            </a:r>
            <a:r>
              <a:rPr lang="ru-RU" sz="1200" b="1" dirty="0">
                <a:latin typeface="Century Gothic" panose="020B0502020202020204" pitchFamily="34" charset="0"/>
              </a:rPr>
              <a:t>Россия и Узбекистан</a:t>
            </a:r>
            <a:r>
              <a:rPr lang="ru-RU" sz="120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ru-RU" sz="1200" dirty="0">
              <a:latin typeface="Century Gothic" panose="020B0502020202020204" pitchFamily="34" charset="0"/>
            </a:endParaRPr>
          </a:p>
          <a:p>
            <a:pPr algn="just"/>
            <a:r>
              <a:rPr lang="ru-RU" sz="1200" dirty="0">
                <a:latin typeface="Century Gothic" panose="020B0502020202020204" pitchFamily="34" charset="0"/>
              </a:rPr>
              <a:t>Рынки для экспорта отечественной продукции более обширные, на сегодняшний день основная доля экспорта отечественных удобрений приходится на </a:t>
            </a:r>
            <a:r>
              <a:rPr lang="ru-RU" sz="1200" b="1" dirty="0">
                <a:latin typeface="Century Gothic" panose="020B0502020202020204" pitchFamily="34" charset="0"/>
              </a:rPr>
              <a:t>Россию,</a:t>
            </a:r>
            <a:r>
              <a:rPr lang="ru-RU" sz="1200" dirty="0">
                <a:latin typeface="Century Gothic" panose="020B0502020202020204" pitchFamily="34" charset="0"/>
              </a:rPr>
              <a:t> </a:t>
            </a:r>
            <a:r>
              <a:rPr lang="ru-RU" sz="1200" b="1" dirty="0">
                <a:latin typeface="Century Gothic" panose="020B0502020202020204" pitchFamily="34" charset="0"/>
              </a:rPr>
              <a:t>Бразилию (по 100 </a:t>
            </a:r>
            <a:r>
              <a:rPr lang="ru-RU" sz="1200" b="1" dirty="0" err="1">
                <a:latin typeface="Century Gothic" panose="020B0502020202020204" pitchFamily="34" charset="0"/>
              </a:rPr>
              <a:t>тыс</a:t>
            </a:r>
            <a:r>
              <a:rPr lang="ru-RU" sz="1200" b="1" dirty="0">
                <a:latin typeface="Century Gothic" panose="020B0502020202020204" pitchFamily="34" charset="0"/>
              </a:rPr>
              <a:t> тонн), Афганистан, Кыргызстан, Украина, Сербия, Латвия, Литва, Перу. </a:t>
            </a:r>
            <a:r>
              <a:rPr lang="ru-RU" sz="1200" dirty="0">
                <a:latin typeface="Century Gothic" panose="020B0502020202020204" pitchFamily="34" charset="0"/>
              </a:rPr>
              <a:t>В основном это минеральные удобрения </a:t>
            </a:r>
            <a:r>
              <a:rPr lang="en-US" sz="1200" dirty="0">
                <a:latin typeface="Century Gothic" panose="020B0502020202020204" pitchFamily="34" charset="0"/>
              </a:rPr>
              <a:t>NP </a:t>
            </a:r>
            <a:r>
              <a:rPr lang="ru-RU" sz="1200" dirty="0">
                <a:latin typeface="Century Gothic" panose="020B0502020202020204" pitchFamily="34" charset="0"/>
              </a:rPr>
              <a:t>и </a:t>
            </a:r>
            <a:r>
              <a:rPr lang="en-US" sz="1200" dirty="0">
                <a:latin typeface="Century Gothic" panose="020B0502020202020204" pitchFamily="34" charset="0"/>
              </a:rPr>
              <a:t>NPK</a:t>
            </a:r>
            <a:r>
              <a:rPr lang="ru-RU" sz="1200" dirty="0">
                <a:latin typeface="Century Gothic" panose="020B0502020202020204" pitchFamily="34" charset="0"/>
              </a:rPr>
              <a:t>.</a:t>
            </a:r>
            <a:r>
              <a:rPr lang="en-US" sz="1200" dirty="0">
                <a:latin typeface="Century Gothic" panose="020B0502020202020204" pitchFamily="34" charset="0"/>
              </a:rPr>
              <a:t> </a:t>
            </a:r>
            <a:r>
              <a:rPr lang="ru-RU" sz="1200" dirty="0">
                <a:latin typeface="Century Gothic" panose="020B0502020202020204" pitchFamily="34" charset="0"/>
              </a:rPr>
              <a:t>В Бразилии по данным </a:t>
            </a:r>
            <a:r>
              <a:rPr lang="en-US" sz="1200" dirty="0">
                <a:latin typeface="Century Gothic" panose="020B0502020202020204" pitchFamily="34" charset="0"/>
              </a:rPr>
              <a:t>Reuters</a:t>
            </a:r>
            <a:r>
              <a:rPr lang="ru-RU" sz="1200" dirty="0">
                <a:latin typeface="Century Gothic" panose="020B0502020202020204" pitchFamily="34" charset="0"/>
              </a:rPr>
              <a:t> общий объем потребления составляет </a:t>
            </a:r>
            <a:r>
              <a:rPr lang="en-US" sz="1200" dirty="0">
                <a:latin typeface="Century Gothic" panose="020B0502020202020204" pitchFamily="34" charset="0"/>
              </a:rPr>
              <a:t>~4</a:t>
            </a:r>
            <a:r>
              <a:rPr lang="ru-RU" sz="1200" dirty="0">
                <a:latin typeface="Century Gothic" panose="020B0502020202020204" pitchFamily="34" charset="0"/>
              </a:rPr>
              <a:t>4</a:t>
            </a:r>
            <a:r>
              <a:rPr lang="kk-KZ" sz="1200" dirty="0">
                <a:latin typeface="Century Gothic" panose="020B0502020202020204" pitchFamily="34" charset="0"/>
              </a:rPr>
              <a:t> млн тонн в год из которых 85% - импорт</a:t>
            </a:r>
            <a:r>
              <a:rPr lang="ru-RU" sz="1200" dirty="0">
                <a:latin typeface="Century Gothic" panose="020B0502020202020204" pitchFamily="34" charset="0"/>
              </a:rPr>
              <a:t>, среднее внесение на га – 344 кг/га, в Узбекистане среднее внесение на га – 150 кг/га, в Афганистане 6,6 кг/га, в РК средний показатель – 4-5 кг/га при норме 80-100 кг/га (по данным МФЦА).</a:t>
            </a:r>
          </a:p>
          <a:p>
            <a:pPr algn="just"/>
            <a:endParaRPr lang="ru-RU" sz="1200" dirty="0">
              <a:latin typeface="Century Gothic" panose="020B0502020202020204" pitchFamily="34" charset="0"/>
            </a:endParaRPr>
          </a:p>
          <a:p>
            <a:pPr algn="just"/>
            <a:r>
              <a:rPr lang="ru-RU" sz="1200" dirty="0">
                <a:latin typeface="Century Gothic" panose="020B0502020202020204" pitchFamily="34" charset="0"/>
              </a:rPr>
              <a:t>На планируемом заводе будет производиться </a:t>
            </a:r>
            <a:r>
              <a:rPr lang="ru-RU" sz="1200" b="1" dirty="0">
                <a:latin typeface="Century Gothic" panose="020B0502020202020204" pitchFamily="34" charset="0"/>
              </a:rPr>
              <a:t>до 75 тыс. тонн удобрений </a:t>
            </a:r>
            <a:r>
              <a:rPr lang="ru-RU" sz="1200" dirty="0">
                <a:latin typeface="Century Gothic" panose="020B0502020202020204" pitchFamily="34" charset="0"/>
              </a:rPr>
              <a:t>– это </a:t>
            </a:r>
            <a:r>
              <a:rPr lang="en-US" sz="1200" b="1" dirty="0">
                <a:latin typeface="Century Gothic" panose="020B0502020202020204" pitchFamily="34" charset="0"/>
              </a:rPr>
              <a:t>~6% </a:t>
            </a:r>
            <a:r>
              <a:rPr lang="ru-RU" sz="1200" dirty="0">
                <a:latin typeface="Century Gothic" panose="020B0502020202020204" pitchFamily="34" charset="0"/>
              </a:rPr>
              <a:t>от всего потребления в РК без учета экспорта.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F5764-A796-D4AB-F1B1-327500D3EE87}"/>
              </a:ext>
            </a:extLst>
          </p:cNvPr>
          <p:cNvSpPr txBox="1"/>
          <p:nvPr/>
        </p:nvSpPr>
        <p:spPr>
          <a:xfrm>
            <a:off x="9140113" y="523219"/>
            <a:ext cx="31451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entury Gothic" panose="020B0502020202020204" pitchFamily="34" charset="0"/>
              </a:rPr>
              <a:t>Потребление в РК, тыс. тонн</a:t>
            </a:r>
            <a:endParaRPr lang="ru-KZ" sz="1200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4F4638-4D9A-05B4-47F1-CC95B090F839}"/>
              </a:ext>
            </a:extLst>
          </p:cNvPr>
          <p:cNvSpPr txBox="1"/>
          <p:nvPr/>
        </p:nvSpPr>
        <p:spPr>
          <a:xfrm>
            <a:off x="723008" y="575473"/>
            <a:ext cx="3297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entury Gothic" panose="020B0502020202020204" pitchFamily="34" charset="0"/>
              </a:rPr>
              <a:t>Производство удобрений в РК, тыс. тонн</a:t>
            </a:r>
            <a:endParaRPr lang="ru-KZ" sz="1200" dirty="0">
              <a:latin typeface="Century Gothic" panose="020B0502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342AF-D014-4BD5-9384-AB11B5159AEF}"/>
              </a:ext>
            </a:extLst>
          </p:cNvPr>
          <p:cNvSpPr txBox="1"/>
          <p:nvPr/>
        </p:nvSpPr>
        <p:spPr>
          <a:xfrm>
            <a:off x="5170715" y="575474"/>
            <a:ext cx="31451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Century Gothic" panose="020B0502020202020204" pitchFamily="34" charset="0"/>
              </a:rPr>
              <a:t>Торговый баланс, тыс. тонн</a:t>
            </a:r>
            <a:endParaRPr lang="ru-KZ" sz="1200" dirty="0">
              <a:latin typeface="Century Gothic" panose="020B0502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B039DE-AD02-A950-B48D-88B6830D5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396986"/>
            <a:ext cx="1326154" cy="426505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388DA263-50FE-F42E-28B2-C2197F1F5EF3}"/>
              </a:ext>
            </a:extLst>
          </p:cNvPr>
          <p:cNvSpPr txBox="1">
            <a:spLocks/>
          </p:cNvSpPr>
          <p:nvPr/>
        </p:nvSpPr>
        <p:spPr>
          <a:xfrm>
            <a:off x="10074" y="69489"/>
            <a:ext cx="7548966" cy="4265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18FC1"/>
                </a:solidFill>
                <a:latin typeface="Century Gothic" panose="020B0502020202020204" pitchFamily="34" charset="0"/>
                <a:ea typeface="Roboto" panose="02000000000000000000" pitchFamily="2" charset="0"/>
              </a:rPr>
              <a:t>Торговый баланс Казахстана и его структура</a:t>
            </a:r>
            <a:endParaRPr lang="ru-KZ" sz="2400" b="1" dirty="0">
              <a:solidFill>
                <a:srgbClr val="018FC1"/>
              </a:solidFill>
              <a:latin typeface="Century Gothic" panose="020B0502020202020204" pitchFamily="34" charset="0"/>
              <a:ea typeface="Roboto" panose="02000000000000000000" pitchFamily="2" charset="0"/>
            </a:endParaRPr>
          </a:p>
        </p:txBody>
      </p:sp>
      <p:graphicFrame>
        <p:nvGraphicFramePr>
          <p:cNvPr id="7" name="Диаграмма 6">
            <a:extLst>
              <a:ext uri="{FF2B5EF4-FFF2-40B4-BE49-F238E27FC236}">
                <a16:creationId xmlns:a16="http://schemas.microsoft.com/office/drawing/2014/main" id="{19A6398C-903D-17D7-9FF7-A9CE3B820F32}"/>
              </a:ext>
            </a:extLst>
          </p:cNvPr>
          <p:cNvGraphicFramePr>
            <a:graphicFrameLocks/>
          </p:cNvGraphicFramePr>
          <p:nvPr/>
        </p:nvGraphicFramePr>
        <p:xfrm>
          <a:off x="3632426" y="734231"/>
          <a:ext cx="4683424" cy="3027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F9105DEE-4EFB-F276-A07B-AF9A9B9DDF9D}"/>
              </a:ext>
            </a:extLst>
          </p:cNvPr>
          <p:cNvGraphicFramePr>
            <a:graphicFrameLocks/>
          </p:cNvGraphicFramePr>
          <p:nvPr/>
        </p:nvGraphicFramePr>
        <p:xfrm>
          <a:off x="-98587" y="705263"/>
          <a:ext cx="398765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DCF20353-B936-02AA-E1AA-AB0E1260C3D7}"/>
              </a:ext>
            </a:extLst>
          </p:cNvPr>
          <p:cNvGraphicFramePr>
            <a:graphicFrameLocks/>
          </p:cNvGraphicFramePr>
          <p:nvPr/>
        </p:nvGraphicFramePr>
        <p:xfrm>
          <a:off x="8203474" y="767841"/>
          <a:ext cx="4081773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A87A361-7161-3FFE-F5C7-901F8C0CAF6B}"/>
              </a:ext>
            </a:extLst>
          </p:cNvPr>
          <p:cNvSpPr txBox="1"/>
          <p:nvPr/>
        </p:nvSpPr>
        <p:spPr>
          <a:xfrm>
            <a:off x="219080" y="5409909"/>
            <a:ext cx="61917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sz="1200" b="1" dirty="0">
                <a:latin typeface="Century Gothic" panose="020B0502020202020204" pitchFamily="34" charset="0"/>
              </a:rPr>
              <a:t>Перевозка минеральных удобрении в </a:t>
            </a:r>
            <a:r>
              <a:rPr lang="ru-KZ" sz="1200" b="1" dirty="0" err="1">
                <a:latin typeface="Century Gothic" panose="020B0502020202020204" pitchFamily="34" charset="0"/>
              </a:rPr>
              <a:t>биг</a:t>
            </a:r>
            <a:r>
              <a:rPr lang="ru-KZ" sz="1200" b="1" dirty="0">
                <a:latin typeface="Century Gothic" panose="020B0502020202020204" pitchFamily="34" charset="0"/>
              </a:rPr>
              <a:t>/бэг ПВ:</a:t>
            </a:r>
            <a:endParaRPr lang="ru-RU" sz="1200" b="1" dirty="0">
              <a:latin typeface="Century Gothic" panose="020B0502020202020204" pitchFamily="34" charset="0"/>
            </a:endParaRPr>
          </a:p>
          <a:p>
            <a:endParaRPr lang="ru-RU" sz="1200" dirty="0">
              <a:latin typeface="Century Gothic" panose="020B0502020202020204" pitchFamily="34" charset="0"/>
            </a:endParaRPr>
          </a:p>
          <a:p>
            <a:r>
              <a:rPr lang="ru-KZ" sz="1200" dirty="0" err="1">
                <a:latin typeface="Century Gothic" panose="020B0502020202020204" pitchFamily="34" charset="0"/>
              </a:rPr>
              <a:t>Манкент</a:t>
            </a:r>
            <a:r>
              <a:rPr lang="ru-KZ" sz="1200" dirty="0">
                <a:latin typeface="Century Gothic" panose="020B0502020202020204" pitchFamily="34" charset="0"/>
              </a:rPr>
              <a:t>-Кокшетау 950</a:t>
            </a:r>
            <a:r>
              <a:rPr lang="ru-RU" sz="1200" dirty="0">
                <a:latin typeface="Century Gothic" panose="020B0502020202020204" pitchFamily="34" charset="0"/>
              </a:rPr>
              <a:t> </a:t>
            </a:r>
            <a:r>
              <a:rPr lang="ru-KZ" sz="1200" dirty="0">
                <a:latin typeface="Century Gothic" panose="020B0502020202020204" pitchFamily="34" charset="0"/>
              </a:rPr>
              <a:t>000 тенге с НДС</a:t>
            </a:r>
            <a:endParaRPr lang="ru-RU" sz="1200" dirty="0">
              <a:latin typeface="Century Gothic" panose="020B0502020202020204" pitchFamily="34" charset="0"/>
            </a:endParaRPr>
          </a:p>
          <a:p>
            <a:r>
              <a:rPr lang="ru-KZ" sz="1200" dirty="0" err="1">
                <a:latin typeface="Century Gothic" panose="020B0502020202020204" pitchFamily="34" charset="0"/>
              </a:rPr>
              <a:t>Манкент</a:t>
            </a:r>
            <a:r>
              <a:rPr lang="ru-KZ" sz="1200" dirty="0">
                <a:latin typeface="Century Gothic" panose="020B0502020202020204" pitchFamily="34" charset="0"/>
              </a:rPr>
              <a:t>-Алматы 515</a:t>
            </a:r>
            <a:r>
              <a:rPr lang="ru-RU" sz="1200" dirty="0">
                <a:latin typeface="Century Gothic" panose="020B0502020202020204" pitchFamily="34" charset="0"/>
              </a:rPr>
              <a:t> </a:t>
            </a:r>
            <a:r>
              <a:rPr lang="ru-KZ" sz="1200" dirty="0">
                <a:latin typeface="Century Gothic" panose="020B0502020202020204" pitchFamily="34" charset="0"/>
              </a:rPr>
              <a:t>000 тенге с НДС</a:t>
            </a:r>
            <a:endParaRPr lang="ru-RU" sz="1200" dirty="0">
              <a:latin typeface="Century Gothic" panose="020B0502020202020204" pitchFamily="34" charset="0"/>
            </a:endParaRPr>
          </a:p>
          <a:p>
            <a:r>
              <a:rPr lang="ru-KZ" sz="1200" dirty="0" err="1">
                <a:latin typeface="Century Gothic" panose="020B0502020202020204" pitchFamily="34" charset="0"/>
              </a:rPr>
              <a:t>Манкент</a:t>
            </a:r>
            <a:r>
              <a:rPr lang="ru-KZ" sz="1200" dirty="0">
                <a:latin typeface="Century Gothic" panose="020B0502020202020204" pitchFamily="34" charset="0"/>
              </a:rPr>
              <a:t>-Чирчик УЗБ 970</a:t>
            </a:r>
            <a:r>
              <a:rPr lang="ru-RU" sz="1200" dirty="0">
                <a:latin typeface="Century Gothic" panose="020B0502020202020204" pitchFamily="34" charset="0"/>
              </a:rPr>
              <a:t> </a:t>
            </a:r>
            <a:r>
              <a:rPr lang="ru-KZ" sz="1200" dirty="0">
                <a:latin typeface="Century Gothic" panose="020B0502020202020204" pitchFamily="34" charset="0"/>
              </a:rPr>
              <a:t>000 тенге с НДС</a:t>
            </a:r>
            <a:endParaRPr lang="ru-RU" sz="1200" dirty="0">
              <a:latin typeface="Century Gothic" panose="020B0502020202020204" pitchFamily="34" charset="0"/>
            </a:endParaRPr>
          </a:p>
          <a:p>
            <a:r>
              <a:rPr lang="ru-KZ" sz="1200" dirty="0" err="1">
                <a:latin typeface="Century Gothic" panose="020B0502020202020204" pitchFamily="34" charset="0"/>
              </a:rPr>
              <a:t>Манкент</a:t>
            </a:r>
            <a:r>
              <a:rPr lang="ru-KZ" sz="1200" dirty="0">
                <a:latin typeface="Century Gothic" panose="020B0502020202020204" pitchFamily="34" charset="0"/>
              </a:rPr>
              <a:t>-Костанай 1</a:t>
            </a:r>
            <a:r>
              <a:rPr lang="ru-RU" sz="1200" dirty="0">
                <a:latin typeface="Century Gothic" panose="020B0502020202020204" pitchFamily="34" charset="0"/>
              </a:rPr>
              <a:t> </a:t>
            </a:r>
            <a:r>
              <a:rPr lang="ru-KZ" sz="1200" dirty="0">
                <a:latin typeface="Century Gothic" panose="020B0502020202020204" pitchFamily="34" charset="0"/>
              </a:rPr>
              <a:t>120</a:t>
            </a:r>
            <a:r>
              <a:rPr lang="ru-RU" sz="1200" dirty="0">
                <a:latin typeface="Century Gothic" panose="020B0502020202020204" pitchFamily="34" charset="0"/>
              </a:rPr>
              <a:t> </a:t>
            </a:r>
            <a:r>
              <a:rPr lang="ru-KZ" sz="1200" dirty="0">
                <a:latin typeface="Century Gothic" panose="020B0502020202020204" pitchFamily="34" charset="0"/>
              </a:rPr>
              <a:t>000 тенге с НДС</a:t>
            </a:r>
          </a:p>
        </p:txBody>
      </p:sp>
    </p:spTree>
    <p:extLst>
      <p:ext uri="{BB962C8B-B14F-4D97-AF65-F5344CB8AC3E}">
        <p14:creationId xmlns:p14="http://schemas.microsoft.com/office/powerpoint/2010/main" val="4037795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C51CED-3850-7C6F-2757-87BCDC094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433" y="-2164740"/>
            <a:ext cx="4750181" cy="8381027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69F9C8CF-3C78-113F-263E-252CBE7ADAEB}"/>
              </a:ext>
            </a:extLst>
          </p:cNvPr>
          <p:cNvSpPr/>
          <p:nvPr/>
        </p:nvSpPr>
        <p:spPr>
          <a:xfrm>
            <a:off x="6" y="0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37B42406-2065-6848-61C0-4D6C579AF74A}"/>
              </a:ext>
            </a:extLst>
          </p:cNvPr>
          <p:cNvSpPr/>
          <p:nvPr/>
        </p:nvSpPr>
        <p:spPr>
          <a:xfrm>
            <a:off x="3048" y="6783926"/>
            <a:ext cx="12188952" cy="791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atin typeface="Myriad Pro" panose="020B0503030403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90F7D4-3527-8830-67DB-56CF31E465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73" y="6396986"/>
            <a:ext cx="1326154" cy="426505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37AD2A02-4A2D-3D16-408F-30058255A71A}"/>
              </a:ext>
            </a:extLst>
          </p:cNvPr>
          <p:cNvSpPr txBox="1">
            <a:spLocks/>
          </p:cNvSpPr>
          <p:nvPr/>
        </p:nvSpPr>
        <p:spPr>
          <a:xfrm>
            <a:off x="10074" y="69489"/>
            <a:ext cx="7548966" cy="42650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b="1" dirty="0">
                <a:solidFill>
                  <a:srgbClr val="018FC1"/>
                </a:solidFill>
                <a:latin typeface="Century Gothic" panose="020B0502020202020204" pitchFamily="34" charset="0"/>
                <a:ea typeface="Roboto" panose="02000000000000000000" pitchFamily="2" charset="0"/>
              </a:rPr>
              <a:t>Маркетинговый анализ</a:t>
            </a:r>
            <a:endParaRPr lang="ru-KZ" sz="2400" b="1" dirty="0">
              <a:solidFill>
                <a:srgbClr val="018FC1"/>
              </a:solidFill>
              <a:latin typeface="Century Gothic" panose="020B0502020202020204" pitchFamily="34" charset="0"/>
              <a:ea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3D43CC-4512-ABBD-46D4-70935B71630C}"/>
              </a:ext>
            </a:extLst>
          </p:cNvPr>
          <p:cNvSpPr txBox="1"/>
          <p:nvPr/>
        </p:nvSpPr>
        <p:spPr>
          <a:xfrm>
            <a:off x="171814" y="5859605"/>
            <a:ext cx="12020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Century Gothic" panose="020B0502020202020204" pitchFamily="34" charset="0"/>
              </a:rPr>
              <a:t>Средняя цена реализации 1т удобрений на уровне </a:t>
            </a:r>
            <a:r>
              <a:rPr lang="ru-RU" sz="1400" b="1" dirty="0">
                <a:latin typeface="Century Gothic" panose="020B0502020202020204" pitchFamily="34" charset="0"/>
              </a:rPr>
              <a:t>450</a:t>
            </a:r>
            <a:r>
              <a:rPr lang="en-US" sz="1400" b="1" dirty="0">
                <a:latin typeface="Century Gothic" panose="020B0502020202020204" pitchFamily="34" charset="0"/>
              </a:rPr>
              <a:t>$</a:t>
            </a:r>
            <a:r>
              <a:rPr lang="ru-RU" sz="1400" dirty="0">
                <a:latin typeface="Century Gothic" panose="020B0502020202020204" pitchFamily="34" charset="0"/>
              </a:rPr>
              <a:t>, при этом это комплексные удобрения с полным содержанием </a:t>
            </a:r>
            <a:r>
              <a:rPr lang="en-US" sz="1400" dirty="0">
                <a:latin typeface="Century Gothic" panose="020B0502020202020204" pitchFamily="34" charset="0"/>
              </a:rPr>
              <a:t>NPK.</a:t>
            </a:r>
          </a:p>
          <a:p>
            <a:r>
              <a:rPr lang="ru-RU" sz="1400" dirty="0">
                <a:latin typeface="Century Gothic" panose="020B0502020202020204" pitchFamily="34" charset="0"/>
              </a:rPr>
              <a:t>Импортная цена на комплексные удобрения - </a:t>
            </a:r>
            <a:r>
              <a:rPr lang="en-US" sz="1400" dirty="0">
                <a:latin typeface="Century Gothic" panose="020B0502020202020204" pitchFamily="34" charset="0"/>
              </a:rPr>
              <a:t>~</a:t>
            </a:r>
            <a:r>
              <a:rPr lang="ru-RU" sz="1400" b="1" dirty="0">
                <a:latin typeface="Century Gothic" panose="020B0502020202020204" pitchFamily="34" charset="0"/>
              </a:rPr>
              <a:t>630</a:t>
            </a:r>
            <a:r>
              <a:rPr lang="en-US" sz="1400" b="1" dirty="0">
                <a:latin typeface="Century Gothic" panose="020B0502020202020204" pitchFamily="34" charset="0"/>
              </a:rPr>
              <a:t>$</a:t>
            </a:r>
            <a:r>
              <a:rPr lang="ru-RU" sz="1400" dirty="0">
                <a:latin typeface="Century Gothic" panose="020B0502020202020204" pitchFamily="34" charset="0"/>
              </a:rPr>
              <a:t>, в основном это поставщики из РФ, Турции и Европы; </a:t>
            </a:r>
            <a:r>
              <a:rPr lang="ru-RU" sz="1400" b="1" dirty="0">
                <a:latin typeface="Century Gothic" panose="020B0502020202020204" pitchFamily="34" charset="0"/>
              </a:rPr>
              <a:t>25$ </a:t>
            </a:r>
            <a:r>
              <a:rPr lang="ru-RU" sz="1400" dirty="0">
                <a:latin typeface="Century Gothic" panose="020B0502020202020204" pitchFamily="34" charset="0"/>
              </a:rPr>
              <a:t>- средняя стоимость ж/д логистики на 1 т</a:t>
            </a:r>
          </a:p>
          <a:p>
            <a:endParaRPr lang="ru-KZ" sz="1400" dirty="0">
              <a:latin typeface="Century Gothic" panose="020B0502020202020204" pitchFamily="34" charset="0"/>
            </a:endParaRPr>
          </a:p>
        </p:txBody>
      </p:sp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A87E889D-1615-AC10-96BF-BF702628DB77}"/>
              </a:ext>
            </a:extLst>
          </p:cNvPr>
          <p:cNvGraphicFramePr>
            <a:graphicFrameLocks/>
          </p:cNvGraphicFramePr>
          <p:nvPr/>
        </p:nvGraphicFramePr>
        <p:xfrm>
          <a:off x="4558005" y="4301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00242F0-1754-4B06-11BE-20D79140ABDF}"/>
              </a:ext>
            </a:extLst>
          </p:cNvPr>
          <p:cNvSpPr txBox="1"/>
          <p:nvPr/>
        </p:nvSpPr>
        <p:spPr>
          <a:xfrm>
            <a:off x="445297" y="1758210"/>
            <a:ext cx="63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KZ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587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$</a:t>
            </a:r>
            <a:r>
              <a:rPr lang="ru-KZ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8CF124-819E-829C-1239-DE90271782AF}"/>
              </a:ext>
            </a:extLst>
          </p:cNvPr>
          <p:cNvSpPr txBox="1"/>
          <p:nvPr/>
        </p:nvSpPr>
        <p:spPr>
          <a:xfrm>
            <a:off x="1665425" y="1647858"/>
            <a:ext cx="63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174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$</a:t>
            </a:r>
            <a:r>
              <a:rPr lang="ru-KZ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83A5A4-34FA-DE21-651F-5EDA8A88812A}"/>
              </a:ext>
            </a:extLst>
          </p:cNvPr>
          <p:cNvSpPr txBox="1"/>
          <p:nvPr/>
        </p:nvSpPr>
        <p:spPr>
          <a:xfrm>
            <a:off x="2787758" y="2042328"/>
            <a:ext cx="856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1000$</a:t>
            </a:r>
            <a:r>
              <a:rPr lang="ru-KZ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05198F-77EC-E1FC-6E1F-971325BF7798}"/>
              </a:ext>
            </a:extLst>
          </p:cNvPr>
          <p:cNvSpPr txBox="1"/>
          <p:nvPr/>
        </p:nvSpPr>
        <p:spPr>
          <a:xfrm>
            <a:off x="3644651" y="1751757"/>
            <a:ext cx="63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277$</a:t>
            </a:r>
            <a:r>
              <a:rPr lang="ru-KZ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8BD549-0F9E-844C-59EC-10657EE5D75F}"/>
              </a:ext>
            </a:extLst>
          </p:cNvPr>
          <p:cNvSpPr txBox="1"/>
          <p:nvPr/>
        </p:nvSpPr>
        <p:spPr>
          <a:xfrm>
            <a:off x="4939762" y="1971116"/>
            <a:ext cx="63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372$</a:t>
            </a:r>
            <a:r>
              <a:rPr lang="ru-KZ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EFF56D-6A12-FD2A-E416-4F2623BAA17F}"/>
              </a:ext>
            </a:extLst>
          </p:cNvPr>
          <p:cNvSpPr txBox="1"/>
          <p:nvPr/>
        </p:nvSpPr>
        <p:spPr>
          <a:xfrm>
            <a:off x="6159890" y="1778087"/>
            <a:ext cx="63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422$</a:t>
            </a:r>
            <a:r>
              <a:rPr lang="ru-KZ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5C4AFE-CFF3-6B98-DA90-B162D409349E}"/>
              </a:ext>
            </a:extLst>
          </p:cNvPr>
          <p:cNvSpPr txBox="1"/>
          <p:nvPr/>
        </p:nvSpPr>
        <p:spPr>
          <a:xfrm>
            <a:off x="7719059" y="934057"/>
            <a:ext cx="6399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400$</a:t>
            </a:r>
            <a:r>
              <a:rPr lang="ru-KZ" sz="1400" dirty="0">
                <a:latin typeface="Century Gothic" panose="020B0502020202020204" pitchFamily="34" charset="0"/>
              </a:rPr>
              <a:t> </a:t>
            </a:r>
          </a:p>
        </p:txBody>
      </p:sp>
      <p:graphicFrame>
        <p:nvGraphicFramePr>
          <p:cNvPr id="30" name="Диаграмма 29">
            <a:extLst>
              <a:ext uri="{FF2B5EF4-FFF2-40B4-BE49-F238E27FC236}">
                <a16:creationId xmlns:a16="http://schemas.microsoft.com/office/drawing/2014/main" id="{F5A2415F-31EC-699F-3E68-AE7E3CDC4209}"/>
              </a:ext>
            </a:extLst>
          </p:cNvPr>
          <p:cNvGraphicFramePr>
            <a:graphicFrameLocks/>
          </p:cNvGraphicFramePr>
          <p:nvPr/>
        </p:nvGraphicFramePr>
        <p:xfrm>
          <a:off x="0" y="2915103"/>
          <a:ext cx="4875875" cy="2856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CCC97DE-A434-BA34-16EC-10B1E31BFA2C}"/>
              </a:ext>
            </a:extLst>
          </p:cNvPr>
          <p:cNvCxnSpPr>
            <a:cxnSpLocks/>
          </p:cNvCxnSpPr>
          <p:nvPr/>
        </p:nvCxnSpPr>
        <p:spPr>
          <a:xfrm>
            <a:off x="4852557" y="69489"/>
            <a:ext cx="9861" cy="2845614"/>
          </a:xfrm>
          <a:prstGeom prst="line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61BE4A5-D31D-F9DE-A57B-9503B8C327E2}"/>
              </a:ext>
            </a:extLst>
          </p:cNvPr>
          <p:cNvGraphicFramePr>
            <a:graphicFrameLocks noGrp="1"/>
          </p:cNvGraphicFramePr>
          <p:nvPr/>
        </p:nvGraphicFramePr>
        <p:xfrm>
          <a:off x="4856277" y="3511613"/>
          <a:ext cx="4022466" cy="123453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405627">
                  <a:extLst>
                    <a:ext uri="{9D8B030D-6E8A-4147-A177-3AD203B41FA5}">
                      <a16:colId xmlns:a16="http://schemas.microsoft.com/office/drawing/2014/main" val="3347725134"/>
                    </a:ext>
                  </a:extLst>
                </a:gridCol>
                <a:gridCol w="1013109">
                  <a:extLst>
                    <a:ext uri="{9D8B030D-6E8A-4147-A177-3AD203B41FA5}">
                      <a16:colId xmlns:a16="http://schemas.microsoft.com/office/drawing/2014/main" val="871881221"/>
                    </a:ext>
                  </a:extLst>
                </a:gridCol>
                <a:gridCol w="801865">
                  <a:extLst>
                    <a:ext uri="{9D8B030D-6E8A-4147-A177-3AD203B41FA5}">
                      <a16:colId xmlns:a16="http://schemas.microsoft.com/office/drawing/2014/main" val="3120093927"/>
                    </a:ext>
                  </a:extLst>
                </a:gridCol>
                <a:gridCol w="801865">
                  <a:extLst>
                    <a:ext uri="{9D8B030D-6E8A-4147-A177-3AD203B41FA5}">
                      <a16:colId xmlns:a16="http://schemas.microsoft.com/office/drawing/2014/main" val="4078561963"/>
                    </a:ext>
                  </a:extLst>
                </a:gridCol>
              </a:tblGrid>
              <a:tr h="17918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Наименование 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NPK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Kusto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Agro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  <a:latin typeface="Century Gothic" panose="020B0502020202020204" pitchFamily="34" charset="0"/>
                        </a:rPr>
                        <a:t>Alem </a:t>
                      </a:r>
                      <a:r>
                        <a:rPr lang="en-US" sz="1100" b="1" u="none" strike="noStrike" dirty="0" err="1">
                          <a:effectLst/>
                          <a:latin typeface="Century Gothic" panose="020B0502020202020204" pitchFamily="34" charset="0"/>
                        </a:rPr>
                        <a:t>Agro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87707903"/>
                  </a:ext>
                </a:extLst>
              </a:tr>
              <a:tr h="23748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  <a:latin typeface="Century Gothic" panose="020B0502020202020204" pitchFamily="34" charset="0"/>
                        </a:rPr>
                        <a:t>Карбамид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entury Gothic" panose="020B0502020202020204" pitchFamily="34" charset="0"/>
                        </a:rPr>
                        <a:t>N 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441</a:t>
                      </a:r>
                      <a:r>
                        <a:rPr 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</a:t>
                      </a:r>
                      <a:r>
                        <a:rPr lang="ru-KZ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entury Gothic" panose="020B0502020202020204" pitchFamily="34" charset="0"/>
                        </a:rPr>
                        <a:t>467$</a:t>
                      </a:r>
                      <a:endParaRPr lang="ru-KZ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9519899"/>
                  </a:ext>
                </a:extLst>
              </a:tr>
              <a:tr h="23748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  <a:latin typeface="Century Gothic" panose="020B0502020202020204" pitchFamily="34" charset="0"/>
                        </a:rPr>
                        <a:t>Аммофос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entury Gothic" panose="020B0502020202020204" pitchFamily="34" charset="0"/>
                        </a:rPr>
                        <a:t>P 52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475$</a:t>
                      </a:r>
                      <a:r>
                        <a:rPr lang="ru-KZ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823$</a:t>
                      </a:r>
                      <a:endParaRPr lang="ru-KZ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19172712"/>
                  </a:ext>
                </a:extLst>
              </a:tr>
              <a:tr h="23748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err="1">
                          <a:effectLst/>
                          <a:latin typeface="Century Gothic" panose="020B0502020202020204" pitchFamily="34" charset="0"/>
                        </a:rPr>
                        <a:t>Сульфоаммофос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entury Gothic" panose="020B0502020202020204" pitchFamily="34" charset="0"/>
                        </a:rPr>
                        <a:t>20 20 14S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492$</a:t>
                      </a:r>
                      <a:r>
                        <a:rPr lang="ru-KZ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584$</a:t>
                      </a:r>
                      <a:endParaRPr lang="ru-KZ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05640781"/>
                  </a:ext>
                </a:extLst>
              </a:tr>
              <a:tr h="237483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  <a:latin typeface="Century Gothic" panose="020B0502020202020204" pitchFamily="34" charset="0"/>
                        </a:rPr>
                        <a:t>Аммиачная селитра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  <a:latin typeface="Century Gothic" panose="020B0502020202020204" pitchFamily="34" charset="0"/>
                        </a:rPr>
                        <a:t>N34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tx1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303$</a:t>
                      </a:r>
                      <a:endParaRPr lang="ru-KZ" sz="1100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343$</a:t>
                      </a:r>
                      <a:endParaRPr lang="ru-KZ" sz="11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1901838"/>
                  </a:ext>
                </a:extLst>
              </a:tr>
            </a:tbl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0E3BD857-7A64-740B-395E-B564D3441102}"/>
              </a:ext>
            </a:extLst>
          </p:cNvPr>
          <p:cNvGraphicFramePr>
            <a:graphicFrameLocks/>
          </p:cNvGraphicFramePr>
          <p:nvPr/>
        </p:nvGraphicFramePr>
        <p:xfrm>
          <a:off x="292719" y="43014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D1BCDCC-272D-BF5B-4BA5-EADC77442515}"/>
              </a:ext>
            </a:extLst>
          </p:cNvPr>
          <p:cNvSpPr txBox="1"/>
          <p:nvPr/>
        </p:nvSpPr>
        <p:spPr>
          <a:xfrm>
            <a:off x="4789514" y="4714760"/>
            <a:ext cx="74091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194</a:t>
            </a:r>
            <a:r>
              <a:rPr lang="en-US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$ </a:t>
            </a:r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– </a:t>
            </a:r>
            <a:r>
              <a:rPr lang="ru-RU" sz="1600" dirty="0">
                <a:latin typeface="Century Gothic" panose="020B0502020202020204" pitchFamily="34" charset="0"/>
              </a:rPr>
              <a:t>себестоимость сырья для производства 1т ОМУ </a:t>
            </a:r>
            <a:r>
              <a:rPr lang="en-US" sz="1600" dirty="0">
                <a:latin typeface="Century Gothic" panose="020B0502020202020204" pitchFamily="34" charset="0"/>
              </a:rPr>
              <a:t>NPK 8-21</a:t>
            </a:r>
            <a:endParaRPr lang="ru-RU" sz="1600" dirty="0">
              <a:latin typeface="Century Gothic" panose="020B0502020202020204" pitchFamily="34" charset="0"/>
            </a:endParaRPr>
          </a:p>
          <a:p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39</a:t>
            </a:r>
            <a:r>
              <a:rPr lang="en-US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$ - </a:t>
            </a:r>
            <a:r>
              <a:rPr lang="ru-RU" sz="1600" dirty="0">
                <a:latin typeface="Century Gothic" panose="020B0502020202020204" pitchFamily="34" charset="0"/>
              </a:rPr>
              <a:t>себестоимость производства с учетом постоянных расходов</a:t>
            </a:r>
          </a:p>
          <a:p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233</a:t>
            </a:r>
            <a:r>
              <a:rPr lang="en-US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$ -</a:t>
            </a:r>
            <a:r>
              <a:rPr lang="ru-RU" sz="2400" b="1" dirty="0">
                <a:solidFill>
                  <a:srgbClr val="002060"/>
                </a:solidFill>
                <a:latin typeface="Century Gothic" panose="020B0502020202020204" pitchFamily="34" charset="0"/>
              </a:rPr>
              <a:t> </a:t>
            </a:r>
            <a:r>
              <a:rPr lang="ru-RU" sz="1600" dirty="0">
                <a:latin typeface="Century Gothic" panose="020B0502020202020204" pitchFamily="34" charset="0"/>
              </a:rPr>
              <a:t>общая себестоимость 1т ОМУ</a:t>
            </a:r>
          </a:p>
          <a:p>
            <a:endParaRPr lang="ru-KZ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111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503</Words>
  <Application>Microsoft Office PowerPoint</Application>
  <PresentationFormat>Широкоэкранный</PresentationFormat>
  <Paragraphs>90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Aptos Narrow</vt:lpstr>
      <vt:lpstr>Arial</vt:lpstr>
      <vt:lpstr>Century Gothic</vt:lpstr>
      <vt:lpstr>Myriad Pro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Алимбек Аубакиров</dc:creator>
  <cp:lastModifiedBy>Алимбек Аубакиров</cp:lastModifiedBy>
  <cp:revision>1</cp:revision>
  <dcterms:created xsi:type="dcterms:W3CDTF">2026-07-08T07:13:38Z</dcterms:created>
  <dcterms:modified xsi:type="dcterms:W3CDTF">2026-07-08T07:14:33Z</dcterms:modified>
</cp:coreProperties>
</file>