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AEC8D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A3746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Операц.
(выбытие)</c:v>
                </c:pt>
                <c:pt idx="1">
                  <c:v>Инвест.
(выбытие)</c:v>
                </c:pt>
                <c:pt idx="2">
                  <c:v>Финанс.
(поступл.)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106.6</c:v>
                </c:pt>
                <c:pt idx="1">
                  <c:v>427.9</c:v>
                </c:pt>
                <c:pt idx="2">
                  <c:v>564.6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93-48CE-A10A-C84B8E6DF2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2F66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A3746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Операц.
(выбытие)</c:v>
                </c:pt>
                <c:pt idx="1">
                  <c:v>Инвест.
(выбытие)</c:v>
                </c:pt>
                <c:pt idx="2">
                  <c:v>Финанс.
(поступл.)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59.8</c:v>
                </c:pt>
                <c:pt idx="1">
                  <c:v>183</c:v>
                </c:pt>
                <c:pt idx="2">
                  <c:v>241.5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93-48CE-A10A-C84B8E6DF2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A374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6350" cap="flat">
              <a:solidFill>
                <a:srgbClr val="DC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A374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F66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29C-4236-A3FE-5FAC544342A4}"/>
              </c:ext>
            </c:extLst>
          </c:dPt>
          <c:dPt>
            <c:idx val="1"/>
            <c:invertIfNegative val="0"/>
            <c:bubble3D val="0"/>
            <c:spPr>
              <a:solidFill>
                <a:srgbClr val="AEC8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9C-4236-A3FE-5FAC544342A4}"/>
              </c:ext>
            </c:extLst>
          </c:dPt>
          <c:dPt>
            <c:idx val="2"/>
            <c:invertIfNegative val="0"/>
            <c:bubble3D val="0"/>
            <c:spPr>
              <a:solidFill>
                <a:srgbClr val="C477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29C-4236-A3FE-5FAC544342A4}"/>
              </c:ext>
            </c:extLst>
          </c:dPt>
          <c:dPt>
            <c:idx val="3"/>
            <c:invertIfNegative val="0"/>
            <c:bubble3D val="0"/>
            <c:spPr>
              <a:solidFill>
                <a:srgbClr val="AEC8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29C-4236-A3FE-5FAC544342A4}"/>
              </c:ext>
            </c:extLst>
          </c:dPt>
          <c:dPt>
            <c:idx val="4"/>
            <c:invertIfNegative val="0"/>
            <c:bubble3D val="0"/>
            <c:spPr>
              <a:solidFill>
                <a:srgbClr val="244F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29C-4236-A3FE-5FAC544342A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2A3746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Первонач.
бюджет</c:v>
                </c:pt>
                <c:pt idx="1">
                  <c:v>Бюджет
5 мес.</c:v>
                </c:pt>
                <c:pt idx="2">
                  <c:v>Факт
5 мес.</c:v>
                </c:pt>
                <c:pt idx="3">
                  <c:v>Бюджет
7 мес.</c:v>
                </c:pt>
                <c:pt idx="4">
                  <c:v>Годовой
план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729</c:v>
                </c:pt>
                <c:pt idx="1">
                  <c:v>564.6</c:v>
                </c:pt>
                <c:pt idx="2">
                  <c:v>241.5</c:v>
                </c:pt>
                <c:pt idx="3">
                  <c:v>487</c:v>
                </c:pt>
                <c:pt idx="4">
                  <c:v>728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29C-4236-A3FE-5FAC544342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A374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0"/>
        </c:scaling>
        <c:delete val="0"/>
        <c:axPos val="l"/>
        <c:majorGridlines>
          <c:spPr>
            <a:ln w="6350" cap="flat">
              <a:solidFill>
                <a:srgbClr val="DC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67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9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4" Type="http://schemas.openxmlformats.org/officeDocument/2006/relationships/image" Target="../media/image20.jp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image" Target="../media/image30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ДИРЕКТОРОВ KUSTO GROUP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KazBioFert / BBFF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847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E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Биогазовый завод и производство органоминеральных удобрений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Стратегический зелёный промышленный проект: биогаз, генерация энергии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производство органоминеральных удобрений в Казахстане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154680"/>
            <a:ext cx="2011680" cy="0"/>
          </a:xfrm>
          <a:prstGeom prst="line">
            <a:avLst/>
          </a:prstGeom>
          <a:noFill/>
          <a:ln w="19050">
            <a:solidFill>
              <a:srgbClr val="C477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101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Совета директоров Kusto Group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июля 2026  ·  г. Житикара, Костанайская область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КРАТКОЕ РЕЗЮМЕ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переходит из стадии подготовки в стадию проектного финансирования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190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6080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</a:t>
            </a:r>
            <a:r>
              <a:rPr lang="en-US" sz="13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r>
              <a:rPr lang="ru-RU" sz="13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ится</a:t>
            </a: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экспертизе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35608" y="19842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100%, адаптация под РК завершается; сдача на госэкспертизу — 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августа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начало сентября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27448" y="14813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28616" y="17190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assets/icons/plu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48" y="186080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0136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 ~9</a:t>
            </a:r>
            <a:r>
              <a:rPr lang="ru-RU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60136" y="19842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ключевым ТУ получены положительные ответы: энергия, газ, вода, подъездные пути, связь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8529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30906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assets/icons/mon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23240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5608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структурируется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35608" y="33558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ФРП (лизинг), Халык + гарантия БРК; цель — структура на уровне проектной компании без гарантий акционеров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27448" y="28529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28616" y="30906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3" descr="assets/icons/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348" y="323240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0136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сбыта прорабатывается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660136" y="33558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 Agro, Фос-Агро, MakFert, UzKimyo Impex — перевод переговоров в предварительные соглашения по сбыту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4224528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31520" y="42245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фокус этапа: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завершение адаптации ПСД, прохождение госэкспертизы и структурирование финансирования на уровне проектной компании.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КРАТКОЕ РЕЗЮМЕ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КОРОТКО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Промышленная платформа на 17,29 га с тремя источниками выручки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642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30936" y="22311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 — земельный участок (аренда 20 лет, внесён в УК)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60904" y="1481328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52344" y="16642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69 557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88920" y="22311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 — производственные здания и сооружения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18211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" y="3749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здание и сооружение на площадке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60904" y="299923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52344" y="318211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88920" y="3749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источника выручки: энергия, удобрения, карбон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481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ИСТОЧНИКА ВЫРУЧКИ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755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 </a:t>
            </a: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сельхозотходы и солома → биогаз (4 реактора)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2212848"/>
            <a:ext cx="530352" cy="530352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assets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8" y="2345436"/>
            <a:ext cx="26517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568696" y="21762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Электроэнергия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и продажа по тарифу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92040" y="2926080"/>
            <a:ext cx="530352" cy="530352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1" descr="assets/icons/seedl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3058668"/>
            <a:ext cx="265176" cy="26517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68696" y="28895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Удобрения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Органоминеральные удобрения (ОМУ)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92040" y="3639312"/>
            <a:ext cx="530352" cy="530352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2" descr="assets/icons/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628" y="3771900"/>
            <a:ext cx="265176" cy="2651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68696" y="360273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Карбоновые офсеты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Углеродные единицы от снижения метана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КОРОТКО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СТРАТЕГИЧЕСКОЕ ОБОСНОВАНИЕ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пять государственных и рыночных задач — это инвестиционная защита проекта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013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Импортозамещение удобрений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2495101"/>
            <a:ext cx="2377440" cy="24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зависимости Казахстана от импортных минеральных удобрений собственным производством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3264408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65576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assets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18013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288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Возобновляемая энергия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47288" y="25603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«зелёной» электроэнергии по тарифу и в рамках национальной повестки ВИЭ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6025896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27064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8013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8776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отходами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08776" y="25603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Переработка сельхозотходов и органики — circular economy на региональном уровне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502920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227832"/>
            <a:ext cx="548640" cy="54864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3" descr="assets/icons/leaf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36499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Углеродная повестка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85800" y="4041709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выбросов метана и потенциал монетизации через продажу углеродных единиц</a:t>
            </a:r>
            <a:endParaRPr lang="en-US" sz="870" dirty="0"/>
          </a:p>
        </p:txBody>
      </p:sp>
      <p:sp>
        <p:nvSpPr>
          <p:cNvPr id="24" name="Shape 18"/>
          <p:cNvSpPr/>
          <p:nvPr/>
        </p:nvSpPr>
        <p:spPr>
          <a:xfrm>
            <a:off x="3264408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65576" y="3227832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4" descr="assets/icons/industr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736" y="336499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47288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Региональное развитие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47288" y="412394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Промышленный актив, рабочие места и инфраструктура в Сайрамском районе</a:t>
            </a:r>
            <a:endParaRPr lang="en-US" sz="870" dirty="0"/>
          </a:p>
        </p:txBody>
      </p:sp>
      <p:sp>
        <p:nvSpPr>
          <p:cNvPr id="29" name="Shape 22"/>
          <p:cNvSpPr/>
          <p:nvPr/>
        </p:nvSpPr>
        <p:spPr>
          <a:xfrm>
            <a:off x="6025896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27064" y="3227832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5" descr="assets/icons/targ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36499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08776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модели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08776" y="4041709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Диверсифицированная выручка: энергия + удобрения + возможные углеродные и грантовые поступления</a:t>
            </a:r>
            <a:endParaRPr lang="en-US" sz="870" dirty="0"/>
          </a:p>
        </p:txBody>
      </p:sp>
      <p:sp>
        <p:nvSpPr>
          <p:cNvPr id="34" name="Text 26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НАПРАВЛЕНИЯ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шесть направлений в работе; критический путь — ПСД, тариф и финансирование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31620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230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6424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97480" y="1463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выполнено, часть передана адапторам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6492240" y="14630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589520" y="15773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F6690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15773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920" y="2007108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" y="2075688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assets/icons/syn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167128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6424" y="20071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ПСД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697480" y="20071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переведены, адаптация решений завершается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6492240" y="20071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</a:t>
            </a: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589520" y="21214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</p:sp>
      <p:sp>
        <p:nvSpPr>
          <p:cNvPr id="19" name="Text 15"/>
          <p:cNvSpPr/>
          <p:nvPr/>
        </p:nvSpPr>
        <p:spPr>
          <a:xfrm>
            <a:off x="758952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920" y="2551176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" y="2619756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2" descr="assets/icons/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711196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06424" y="25511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Земельный участок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2697480" y="25511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17,29 га получен, назначение изменено, внесён в УК</a:t>
            </a:r>
            <a:endParaRPr lang="en-US" sz="980" dirty="0"/>
          </a:p>
        </p:txBody>
      </p:sp>
      <p:sp>
        <p:nvSpPr>
          <p:cNvPr id="25" name="Text 20"/>
          <p:cNvSpPr/>
          <p:nvPr/>
        </p:nvSpPr>
        <p:spPr>
          <a:xfrm>
            <a:off x="6492240" y="255117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Март 2026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589520" y="266547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F6690"/>
          </a:solidFill>
          <a:ln/>
        </p:spPr>
      </p:sp>
      <p:sp>
        <p:nvSpPr>
          <p:cNvPr id="27" name="Text 22"/>
          <p:cNvSpPr/>
          <p:nvPr/>
        </p:nvSpPr>
        <p:spPr>
          <a:xfrm>
            <a:off x="7589520" y="26654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02920" y="3095244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21792" y="3163824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0" name="Image 3" descr="assets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255264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06424" y="30952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на электроэнергию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2697480" y="30952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Раскрыта БГ; рассматривается повторный аукцион</a:t>
            </a:r>
            <a:endParaRPr lang="en-US" sz="980" dirty="0"/>
          </a:p>
        </p:txBody>
      </p:sp>
      <p:sp>
        <p:nvSpPr>
          <p:cNvPr id="33" name="Text 27"/>
          <p:cNvSpPr/>
          <p:nvPr/>
        </p:nvSpPr>
        <p:spPr>
          <a:xfrm>
            <a:off x="6492240" y="309524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решения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589520" y="32095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B4432E"/>
          </a:solidFill>
          <a:ln/>
        </p:spPr>
      </p:sp>
      <p:sp>
        <p:nvSpPr>
          <p:cNvPr id="35" name="Text 29"/>
          <p:cNvSpPr/>
          <p:nvPr/>
        </p:nvSpPr>
        <p:spPr>
          <a:xfrm>
            <a:off x="7589520" y="3209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502920" y="3639312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21792" y="370789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8" name="Image 4" descr="assets/icons/mone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799332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06424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2697480" y="36393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проработке у ФРП, БРК, БВУ; структурируется</a:t>
            </a:r>
            <a:endParaRPr lang="en-US" sz="980" dirty="0"/>
          </a:p>
        </p:txBody>
      </p:sp>
      <p:sp>
        <p:nvSpPr>
          <p:cNvPr id="41" name="Text 34"/>
          <p:cNvSpPr/>
          <p:nvPr/>
        </p:nvSpPr>
        <p:spPr>
          <a:xfrm>
            <a:off x="6492240" y="36393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кв. 2026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7589520" y="375361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</p:sp>
      <p:sp>
        <p:nvSpPr>
          <p:cNvPr id="43" name="Text 36"/>
          <p:cNvSpPr/>
          <p:nvPr/>
        </p:nvSpPr>
        <p:spPr>
          <a:xfrm>
            <a:off x="7589520" y="37536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02920" y="418338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21792" y="4251960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6" name="Image 5" descr="assets/icons/handshak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343400"/>
            <a:ext cx="182880" cy="18288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106424" y="41833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 / сбыт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2697480" y="41833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Переговоры с трейдерами; твёрдые договоры </a:t>
            </a:r>
            <a:r>
              <a:rPr lang="en-US" sz="9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начала </a:t>
            </a: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СМР</a:t>
            </a:r>
            <a:endParaRPr lang="en-US" sz="980" dirty="0"/>
          </a:p>
        </p:txBody>
      </p:sp>
      <p:sp>
        <p:nvSpPr>
          <p:cNvPr id="49" name="Text 41"/>
          <p:cNvSpPr/>
          <p:nvPr/>
        </p:nvSpPr>
        <p:spPr>
          <a:xfrm>
            <a:off x="6492240" y="41833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2026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7589520" y="4297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</p:sp>
      <p:sp>
        <p:nvSpPr>
          <p:cNvPr id="51" name="Text 43"/>
          <p:cNvSpPr/>
          <p:nvPr/>
        </p:nvSpPr>
        <p:spPr>
          <a:xfrm>
            <a:off x="758952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53" name="Text 45"/>
          <p:cNvSpPr/>
          <p:nvPr/>
        </p:nvSpPr>
        <p:spPr>
          <a:xfrm>
            <a:off x="7385539" y="4814433"/>
            <a:ext cx="1531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 И ТЕХНИЧЕСКИЕ УСЛОВИЯ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ТУ 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получено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по ключевым инженерным направлениям — положительные ответы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828800" cy="283464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83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</a:t>
            </a:r>
            <a:r>
              <a:rPr lang="ru-RU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по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разрешительной части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1280160" cy="0"/>
          </a:xfrm>
          <a:prstGeom prst="line">
            <a:avLst/>
          </a:prstGeom>
          <a:noFill/>
          <a:ln w="12700">
            <a:solidFill>
              <a:srgbClr val="5B8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31012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из 10 </a:t>
            </a:r>
            <a:r>
              <a:rPr lang="en-US" sz="10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— положительный ответ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148132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ПОЛОЖИТЕЛЬНЫЙ ОТВЕТ</a:t>
            </a:r>
            <a:endParaRPr lang="en-US" sz="950" dirty="0"/>
          </a:p>
        </p:txBody>
      </p:sp>
      <p:pic>
        <p:nvPicPr>
          <p:cNvPr id="10" name="Image 0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764792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62072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— ОЖТ</a:t>
            </a:r>
            <a:endParaRPr lang="en-US" sz="1000" dirty="0"/>
          </a:p>
        </p:txBody>
      </p:sp>
      <p:pic>
        <p:nvPicPr>
          <p:cNvPr id="12" name="Image 1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76479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Потребление — ОЖТ</a:t>
            </a:r>
            <a:endParaRPr lang="en-US" sz="1000" dirty="0"/>
          </a:p>
        </p:txBody>
      </p:sp>
      <p:pic>
        <p:nvPicPr>
          <p:cNvPr id="14" name="Image 2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14884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62072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 — QazaqGaz Aimaq</a:t>
            </a:r>
            <a:endParaRPr lang="en-US" sz="1000" dirty="0"/>
          </a:p>
        </p:txBody>
      </p:sp>
      <p:pic>
        <p:nvPicPr>
          <p:cNvPr id="16" name="Image 3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1488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9788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 отработанной воды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ГКП «Аксу»</a:t>
            </a:r>
            <a:endParaRPr lang="en-US" sz="1000" dirty="0"/>
          </a:p>
        </p:txBody>
      </p:sp>
      <p:pic>
        <p:nvPicPr>
          <p:cNvPr id="18" name="Image 4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532888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862072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Подъездные пути — 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кимат</a:t>
            </a:r>
            <a:endParaRPr lang="en-US" sz="1000" dirty="0"/>
          </a:p>
        </p:txBody>
      </p:sp>
      <p:pic>
        <p:nvPicPr>
          <p:cNvPr id="20" name="Image 5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53288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897880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КТЖ ВЛ-10</a:t>
            </a:r>
            <a:endParaRPr lang="en-US" sz="1000" dirty="0"/>
          </a:p>
        </p:txBody>
      </p:sp>
      <p:pic>
        <p:nvPicPr>
          <p:cNvPr id="22" name="Image 6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916936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862072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— Казахтелеком / Jusan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606040" y="340156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2624328" y="3703320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</p:sp>
      <p:sp>
        <p:nvSpPr>
          <p:cNvPr id="26" name="Text 17"/>
          <p:cNvSpPr/>
          <p:nvPr/>
        </p:nvSpPr>
        <p:spPr>
          <a:xfrm>
            <a:off x="2862072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Скважина - 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Арало-Сырдар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бас. </a:t>
            </a:r>
            <a:r>
              <a:rPr lang="kk-KZ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нспекция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5660136" y="3703320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</p:sp>
      <p:sp>
        <p:nvSpPr>
          <p:cNvPr id="28" name="Text 19"/>
          <p:cNvSpPr/>
          <p:nvPr/>
        </p:nvSpPr>
        <p:spPr>
          <a:xfrm>
            <a:off x="589788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ВЛ-35 (SALUS)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альтернатива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2624328" y="4087368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</p:sp>
      <p:sp>
        <p:nvSpPr>
          <p:cNvPr id="30" name="Text 21"/>
          <p:cNvSpPr/>
          <p:nvPr/>
        </p:nvSpPr>
        <p:spPr>
          <a:xfrm>
            <a:off x="2862072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ОВОС — обществ. слушания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2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57552" y="1828800"/>
            <a:ext cx="7778262" cy="54864"/>
          </a:xfrm>
          <a:prstGeom prst="line">
            <a:avLst/>
          </a:prstGeom>
          <a:noFill/>
          <a:ln w="25400">
            <a:solidFill>
              <a:srgbClr val="DCE3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20520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И ГРАФИК ГОСЭКСПЕРТИЗЫ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Критический путь: госэкспертиза → ОВОС → рассмотрение финансовыми институтами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05828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128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8668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868668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ПСД на </a:t>
            </a:r>
            <a:r>
              <a:rPr lang="ru-RU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гос.экспертизу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868668" y="2971800"/>
            <a:ext cx="16248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Окончание п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еревод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адаптация технологической и производственной документации под требования РК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878005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assets/icons/file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820" y="1696681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0845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40845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ОВОС – эко экспертиза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40845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Экологическая экспертиза через общественные слушания</a:t>
            </a:r>
            <a:endParaRPr lang="en-US" sz="930" dirty="0"/>
          </a:p>
        </p:txBody>
      </p:sp>
      <p:pic>
        <p:nvPicPr>
          <p:cNvPr id="16" name="Image 2" descr="assets/icons/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305" y="170336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83360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683360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Государственная</a:t>
            </a: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экспертиза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83360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положительного заключения 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Гос.экспертизы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7751314" y="1600200"/>
            <a:ext cx="457200" cy="45720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3" descr="assets/icons/mone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614" y="171450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4154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</a:t>
            </a:r>
            <a:r>
              <a:rPr lang="en-US" sz="10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614154" y="2423160"/>
            <a:ext cx="163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Финансовое рассмотрение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614154" y="2807207"/>
            <a:ext cx="1418503" cy="1216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п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акет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положительным заключением 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гос.экспертизы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финансирования ФРП, БРК и БВУ;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финансирования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ru-RU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 года</a:t>
            </a:r>
            <a:endParaRPr lang="en-US" sz="930" b="1" dirty="0"/>
          </a:p>
        </p:txBody>
      </p:sp>
      <p:sp>
        <p:nvSpPr>
          <p:cNvPr id="25" name="Shape 19"/>
          <p:cNvSpPr/>
          <p:nvPr/>
        </p:nvSpPr>
        <p:spPr>
          <a:xfrm>
            <a:off x="502920" y="416052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4" descr="assets/icons/clock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31596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7280" y="41605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инансировани</a:t>
            </a:r>
            <a:r>
              <a:rPr lang="ru-RU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</a:t>
            </a:r>
            <a:r>
              <a:rPr lang="ru-RU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</a:t>
            </a:r>
            <a:r>
              <a:rPr lang="en-US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быть</a:t>
            </a:r>
            <a:r>
              <a:rPr lang="en-US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синхронизирован</a:t>
            </a:r>
            <a:r>
              <a:rPr lang="ru-RU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</a:t>
            </a:r>
            <a:r>
              <a:rPr lang="ru-RU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</a:t>
            </a:r>
            <a:r>
              <a:rPr lang="en-US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финансирования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ПСД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401820D7-19C2-5B39-C309-17524D40CEB1}"/>
              </a:ext>
            </a:extLst>
          </p:cNvPr>
          <p:cNvSpPr/>
          <p:nvPr/>
        </p:nvSpPr>
        <p:spPr>
          <a:xfrm>
            <a:off x="247368" y="1609344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09D9FA05-47D3-50A4-A791-6362F4C22DC4}"/>
              </a:ext>
            </a:extLst>
          </p:cNvPr>
          <p:cNvSpPr/>
          <p:nvPr/>
        </p:nvSpPr>
        <p:spPr>
          <a:xfrm>
            <a:off x="162953" y="21828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Июль-Август 2025</a:t>
            </a:r>
            <a:endParaRPr lang="en-US" sz="105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145807CF-DC76-8983-2B35-EBE40351CFA9}"/>
              </a:ext>
            </a:extLst>
          </p:cNvPr>
          <p:cNvSpPr/>
          <p:nvPr/>
        </p:nvSpPr>
        <p:spPr>
          <a:xfrm>
            <a:off x="162953" y="24388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</a:t>
            </a:r>
            <a:r>
              <a:rPr lang="ru-RU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ционные</a:t>
            </a: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работы</a:t>
            </a: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ПСД</a:t>
            </a:r>
            <a:endParaRPr lang="en-US" sz="125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7338EACF-C322-540D-F9D3-EF25E9BC6ED4}"/>
              </a:ext>
            </a:extLst>
          </p:cNvPr>
          <p:cNvSpPr/>
          <p:nvPr/>
        </p:nvSpPr>
        <p:spPr>
          <a:xfrm>
            <a:off x="162953" y="2987508"/>
            <a:ext cx="15685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по адаптации и приведению ПСД к СНИПам и ГОСТам к РК</a:t>
            </a:r>
            <a:endParaRPr lang="en-US" sz="930" dirty="0"/>
          </a:p>
        </p:txBody>
      </p:sp>
      <p:pic>
        <p:nvPicPr>
          <p:cNvPr id="40" name="Image 0" descr="assets/icons/compass_white.png">
            <a:extLst>
              <a:ext uri="{FF2B5EF4-FFF2-40B4-BE49-F238E27FC236}">
                <a16:creationId xmlns:a16="http://schemas.microsoft.com/office/drawing/2014/main" id="{8CDECF00-CDEA-17D5-1A46-085D0CAFF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5" y="1707699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Открытие финансирования сдвигается с августа–сентября на декабрь 2026 из-за адаптационных работ ПСД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99339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F669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933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ПЛАН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97480" y="2148840"/>
            <a:ext cx="5212080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98648" y="202996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→ госэкспертиза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9456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Июнь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21808" y="202996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Госэкспертиза + ОВОС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1772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Июль–август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44968" y="2029968"/>
            <a:ext cx="237744" cy="237744"/>
          </a:xfrm>
          <a:prstGeom prst="ellipse">
            <a:avLst/>
          </a:prstGeom>
          <a:solidFill>
            <a:srgbClr val="C4772F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+ СМР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4088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Август–сентябрь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2724912"/>
            <a:ext cx="4846320" cy="310896"/>
          </a:xfrm>
          <a:prstGeom prst="roundRect">
            <a:avLst>
              <a:gd name="adj" fmla="val 50000"/>
            </a:avLst>
          </a:prstGeom>
          <a:solidFill>
            <a:srgbClr val="F7ECE0"/>
          </a:solidFill>
          <a:ln w="12700">
            <a:solidFill>
              <a:srgbClr val="E0A46A"/>
            </a:solidFill>
            <a:prstDash val="solid"/>
          </a:ln>
        </p:spPr>
      </p:sp>
      <p:pic>
        <p:nvPicPr>
          <p:cNvPr id="17" name="Image 0" descr="assets/icons/arrowrigh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98064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456432" y="27249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открытия финансирования ≈ </a:t>
            </a:r>
            <a:r>
              <a:rPr lang="ru-RU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</a:t>
            </a:r>
            <a:r>
              <a:rPr lang="ru-RU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</a:t>
            </a: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авг–сен → I </a:t>
            </a:r>
            <a:r>
              <a:rPr lang="ru-RU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45643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3294B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34564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ПЕРЕСМОТРЕННЫЙ ПЛАН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697480" y="3611880"/>
            <a:ext cx="5212080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9864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19456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ПСД (расшир.)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19456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II–III кв.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1408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81000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→ госэкспертиза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81000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12952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42544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Госэкспертиза + ОВОС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42544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Сен.–нояб.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744968" y="3493008"/>
            <a:ext cx="237744" cy="237744"/>
          </a:xfrm>
          <a:prstGeom prst="ellipse">
            <a:avLst/>
          </a:prstGeom>
          <a:solidFill>
            <a:srgbClr val="C4772F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04088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+ СМР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04088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 г.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5" name="Image 1" descr="assets/icons/sync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416552"/>
            <a:ext cx="237744" cy="23774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060704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сдвига:  </a:t>
            </a:r>
            <a:r>
              <a:rPr lang="ru-RU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ПСД от </a:t>
            </a:r>
            <a:r>
              <a:rPr lang="en-US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ALTACA </a:t>
            </a:r>
            <a:r>
              <a:rPr lang="ru-RU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3 мес.; 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адаптационн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ых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ПСД под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РК</a:t>
            </a:r>
            <a:endParaRPr lang="en-US" sz="930" dirty="0"/>
          </a:p>
        </p:txBody>
      </p:sp>
      <p:sp>
        <p:nvSpPr>
          <p:cNvPr id="37" name="Text 33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И ПЛОЩАДКА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 из 31 здания и сооружения на 69 557 м² — полный производственный цикл на одной площадке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21208" y="1362456"/>
            <a:ext cx="4032504" cy="2292286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5" name="Image 0" descr="assets/iso_complex_fl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3977640" cy="22374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73031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комплекса — реакторы, цеха, склады, лагуны</a:t>
            </a:r>
            <a:endParaRPr lang="en-US" sz="870" dirty="0"/>
          </a:p>
        </p:txBody>
      </p:sp>
      <p:sp>
        <p:nvSpPr>
          <p:cNvPr id="7" name="Shape 4"/>
          <p:cNvSpPr/>
          <p:nvPr/>
        </p:nvSpPr>
        <p:spPr>
          <a:xfrm>
            <a:off x="4590288" y="1362456"/>
            <a:ext cx="4032504" cy="2292286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1" descr="assets/aerial_close_fla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389888"/>
            <a:ext cx="3977640" cy="22374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3673031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Аэроснимок площадки в границах участка 17,29 га</a:t>
            </a:r>
            <a:endParaRPr lang="en-US" sz="870" dirty="0"/>
          </a:p>
        </p:txBody>
      </p:sp>
      <p:sp>
        <p:nvSpPr>
          <p:cNvPr id="10" name="Shape 6"/>
          <p:cNvSpPr/>
          <p:nvPr/>
        </p:nvSpPr>
        <p:spPr>
          <a:xfrm>
            <a:off x="50292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9728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09651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сырья</a:t>
            </a:r>
            <a:endParaRPr lang="en-US" sz="980" dirty="0"/>
          </a:p>
        </p:txBody>
      </p:sp>
      <p:sp>
        <p:nvSpPr>
          <p:cNvPr id="14" name="Text 9"/>
          <p:cNvSpPr/>
          <p:nvPr/>
        </p:nvSpPr>
        <p:spPr>
          <a:xfrm>
            <a:off x="53949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соломы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214884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74320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assets/icons/ga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409651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8541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Биогаз</a:t>
            </a:r>
            <a:endParaRPr lang="en-US" sz="980" dirty="0"/>
          </a:p>
        </p:txBody>
      </p:sp>
      <p:sp>
        <p:nvSpPr>
          <p:cNvPr id="19" name="Text 13"/>
          <p:cNvSpPr/>
          <p:nvPr/>
        </p:nvSpPr>
        <p:spPr>
          <a:xfrm>
            <a:off x="218541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реактора · 8 лагун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379476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8912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assets/icon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409651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3133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Энергия и тепло</a:t>
            </a:r>
            <a:endParaRPr lang="en-US" sz="980" dirty="0"/>
          </a:p>
        </p:txBody>
      </p:sp>
      <p:sp>
        <p:nvSpPr>
          <p:cNvPr id="24" name="Text 17"/>
          <p:cNvSpPr/>
          <p:nvPr/>
        </p:nvSpPr>
        <p:spPr>
          <a:xfrm>
            <a:off x="383133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· декантер</a:t>
            </a:r>
            <a:endParaRPr lang="en-US" sz="700" dirty="0"/>
          </a:p>
        </p:txBody>
      </p:sp>
      <p:sp>
        <p:nvSpPr>
          <p:cNvPr id="25" name="Shape 18"/>
          <p:cNvSpPr/>
          <p:nvPr/>
        </p:nvSpPr>
        <p:spPr>
          <a:xfrm>
            <a:off x="544068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03504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5" descr="assets/icons/seedlin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096512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7725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Удобрения</a:t>
            </a:r>
            <a:endParaRPr lang="en-US" sz="980" dirty="0"/>
          </a:p>
        </p:txBody>
      </p:sp>
      <p:sp>
        <p:nvSpPr>
          <p:cNvPr id="29" name="Text 21"/>
          <p:cNvSpPr/>
          <p:nvPr/>
        </p:nvSpPr>
        <p:spPr>
          <a:xfrm>
            <a:off x="547725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компост · ОМУ · склады</a:t>
            </a:r>
            <a:endParaRPr lang="en-US" sz="700" dirty="0"/>
          </a:p>
        </p:txBody>
      </p:sp>
      <p:sp>
        <p:nvSpPr>
          <p:cNvPr id="30" name="Shape 22"/>
          <p:cNvSpPr/>
          <p:nvPr/>
        </p:nvSpPr>
        <p:spPr>
          <a:xfrm>
            <a:off x="708660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680960" y="4005072"/>
            <a:ext cx="365760" cy="36576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2" name="Image 6" descr="assets/icons/building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096512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2317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980" dirty="0"/>
          </a:p>
        </p:txBody>
      </p:sp>
      <p:sp>
        <p:nvSpPr>
          <p:cNvPr id="34" name="Text 25"/>
          <p:cNvSpPr/>
          <p:nvPr/>
        </p:nvSpPr>
        <p:spPr>
          <a:xfrm>
            <a:off x="712317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 · КПП · сети</a:t>
            </a:r>
            <a:endParaRPr lang="en-US" sz="700" dirty="0"/>
          </a:p>
        </p:txBody>
      </p:sp>
      <p:sp>
        <p:nvSpPr>
          <p:cNvPr id="35" name="Text 26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6" name="Text 27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СТРУКТУРА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Действующая схема: лизинг ФРП и гарантия БРК; собственное участие ~4,8 млрд ₸ (≈20% проекта)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136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27448" y="1508760"/>
            <a:ext cx="39136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1728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assets/icons/univers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8653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17282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ФРП — оборудование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0664" y="24231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 </a:t>
            </a: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₸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40664" y="2990088"/>
            <a:ext cx="3438144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664" y="30266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/ гарантия:  </a:t>
            </a:r>
            <a:r>
              <a:rPr lang="en-US" sz="1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12,56%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" y="328269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Лизинг; предмет залога — само оборудование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99232" y="233172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7ECE0"/>
          </a:solidFill>
          <a:ln/>
        </p:spPr>
      </p:sp>
      <p:sp>
        <p:nvSpPr>
          <p:cNvPr id="14" name="Text 11"/>
          <p:cNvSpPr/>
          <p:nvPr/>
        </p:nvSpPr>
        <p:spPr>
          <a:xfrm>
            <a:off x="2999232" y="2331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Собств.: 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млрд ₸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946904" y="1728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1" descr="assets/icon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86537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0136" y="17282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Халык Банк — СМР и ПСД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965192" y="24231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 </a:t>
            </a: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₸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4965192" y="2990088"/>
            <a:ext cx="3438144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65192" y="30266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/ гарантия:  </a:t>
            </a:r>
            <a:r>
              <a:rPr lang="en-US" sz="1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90%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965192" y="328269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БРК до 90% (~4,7 млрд ₸ покрытия)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223760" y="2331719"/>
            <a:ext cx="1188720" cy="475487"/>
          </a:xfrm>
          <a:prstGeom prst="roundRect">
            <a:avLst>
              <a:gd name="adj" fmla="val 18750"/>
            </a:avLst>
          </a:prstGeom>
          <a:solidFill>
            <a:srgbClr val="F7ECE0"/>
          </a:solidFill>
          <a:ln/>
        </p:spPr>
      </p:sp>
      <p:sp>
        <p:nvSpPr>
          <p:cNvPr id="23" name="Text 19"/>
          <p:cNvSpPr/>
          <p:nvPr/>
        </p:nvSpPr>
        <p:spPr>
          <a:xfrm>
            <a:off x="7223760" y="2331720"/>
            <a:ext cx="1197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Собств.: 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 </a:t>
            </a:r>
            <a:r>
              <a:rPr lang="en-US" sz="8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₸</a:t>
            </a:r>
            <a:b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Расходы на </a:t>
            </a:r>
            <a:r>
              <a:rPr lang="ru-RU" sz="8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ПСД+адаптация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02920" y="3840480"/>
            <a:ext cx="8138160" cy="896112"/>
          </a:xfrm>
          <a:prstGeom prst="roundRect">
            <a:avLst>
              <a:gd name="adj" fmla="val 8163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7724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r>
              <a:rPr lang="ru-RU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777240" y="4334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</a:t>
            </a:r>
            <a:r>
              <a:rPr lang="ru-RU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покупки оборудования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108960" y="3968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B0"/>
                </a:solidFill>
              </a:rPr>
              <a:t>+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347472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ru-RU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29" name="Text 25"/>
          <p:cNvSpPr/>
          <p:nvPr/>
        </p:nvSpPr>
        <p:spPr>
          <a:xfrm>
            <a:off x="3474720" y="4334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депозитный заклад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ХБ</a:t>
            </a:r>
            <a:r>
              <a:rPr lang="ru-RU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0,5 + 1,5 млрд ЧОК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806440" y="3968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B0"/>
                </a:solidFill>
              </a:rPr>
              <a:t>+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617220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r>
              <a:rPr lang="ru-RU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</a:t>
            </a:r>
            <a:r>
              <a:rPr lang="en-US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32" name="Text 28"/>
          <p:cNvSpPr/>
          <p:nvPr/>
        </p:nvSpPr>
        <p:spPr>
          <a:xfrm>
            <a:off x="6301154" y="4323705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ИНВЕСТИЦИОННЫЕ ПОКАЗАТЕЛИ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инвестиционно привлекателен: доходность 31%, окупаемость около 5 лет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83324"/>
              </p:ext>
            </p:extLst>
          </p:nvPr>
        </p:nvGraphicFramePr>
        <p:xfrm>
          <a:off x="502920" y="1572768"/>
          <a:ext cx="5440680" cy="27432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Показатель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Проект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Собств. капитал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IRR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31%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30%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NPV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≈ 30,8 млрд ₸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≈ 5,2 млрд ₸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Ставка дисконтирования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12,71%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23,35%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Срок окупаемости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5,06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3,54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Диск. срок окупаемости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6,09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68880" cy="2788920"/>
          </a:xfrm>
          <a:prstGeom prst="roundRect">
            <a:avLst>
              <a:gd name="adj" fmla="val 3704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55080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КАПИТАЛА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55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21,5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355080" y="25054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 ₸ — инвестиции всего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55080" y="2889504"/>
            <a:ext cx="1682496" cy="310896"/>
          </a:xfrm>
          <a:prstGeom prst="roundRect">
            <a:avLst>
              <a:gd name="adj" fmla="val 8824"/>
            </a:avLst>
          </a:prstGeom>
          <a:solidFill>
            <a:srgbClr val="5B8CB0"/>
          </a:solidFill>
          <a:ln/>
        </p:spPr>
      </p:sp>
      <p:sp>
        <p:nvSpPr>
          <p:cNvPr id="10" name="Shape 7"/>
          <p:cNvSpPr/>
          <p:nvPr/>
        </p:nvSpPr>
        <p:spPr>
          <a:xfrm>
            <a:off x="8037576" y="2889504"/>
            <a:ext cx="420624" cy="310896"/>
          </a:xfrm>
          <a:prstGeom prst="roundRect">
            <a:avLst>
              <a:gd name="adj" fmla="val 8824"/>
            </a:avLst>
          </a:prstGeom>
          <a:solidFill>
            <a:srgbClr val="C4772F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288950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4" name="Text 9"/>
          <p:cNvSpPr/>
          <p:nvPr/>
        </p:nvSpPr>
        <p:spPr>
          <a:xfrm>
            <a:off x="8037576" y="288950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55080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Заём: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17,2 млрд ₸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55080" y="35661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 участие: </a:t>
            </a:r>
            <a:r>
              <a:rPr lang="en-US" sz="1000" b="1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4,3 млрд 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55080" y="3840480"/>
            <a:ext cx="2103120" cy="0"/>
          </a:xfrm>
          <a:prstGeom prst="line">
            <a:avLst/>
          </a:prstGeom>
          <a:noFill/>
          <a:ln w="12700">
            <a:solidFill>
              <a:srgbClr val="2A446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913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FB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заёмных средств — 80%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ИНВЕСТПОКАЗАТЕЛИ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ФИНАНСИРОВАНИЕ 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Финансирование на уровне проектной компании — без гарантий акционеров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F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на уровне проектной компании KazBioFert / BBFF — возврат из денежных потоков проекта, а не из активов и гарантий акционеров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6537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assets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025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0744" y="1801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на уровне проектной компании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80744" y="214884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— самостоятельная проектная компания с ограниченным регрессом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502920" y="269748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2871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assets/icons/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0837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80744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из денежного потока проекта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380744" y="31546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от электроэнергии, продажи удобрений, возможные углеродные и грантовые поступления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502920" y="370332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387705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assets/icons/sca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142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80744" y="3813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Ограниченное собственное участие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380744" y="41605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 участие — только в пределах заранее утверждённого лимита</a:t>
            </a:r>
            <a:endParaRPr lang="en-US" sz="870" dirty="0"/>
          </a:p>
        </p:txBody>
      </p:sp>
      <p:sp>
        <p:nvSpPr>
          <p:cNvPr id="20" name="Shape 15"/>
          <p:cNvSpPr/>
          <p:nvPr/>
        </p:nvSpPr>
        <p:spPr>
          <a:xfrm>
            <a:off x="4727448" y="169164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10328" y="186537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3" descr="assets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00253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05272" y="1801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 — активы и контракты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605272" y="214884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Оборудование, проектные активы, права требования, договоры на электроэнергию и сбыт, счета</a:t>
            </a:r>
            <a:endParaRPr lang="en-US" sz="870" dirty="0"/>
          </a:p>
        </p:txBody>
      </p:sp>
      <p:sp>
        <p:nvSpPr>
          <p:cNvPr id="25" name="Shape 19"/>
          <p:cNvSpPr/>
          <p:nvPr/>
        </p:nvSpPr>
        <p:spPr>
          <a:xfrm>
            <a:off x="4727448" y="269748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910328" y="2871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4" descr="assets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300837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05272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Гарантии институтов развития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605272" y="31546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БРК / Байтерек вместо личных гарантий и поручительств группы</a:t>
            </a:r>
            <a:endParaRPr lang="en-US" sz="870" dirty="0"/>
          </a:p>
        </p:txBody>
      </p:sp>
      <p:sp>
        <p:nvSpPr>
          <p:cNvPr id="30" name="Shape 23"/>
          <p:cNvSpPr/>
          <p:nvPr/>
        </p:nvSpPr>
        <p:spPr>
          <a:xfrm>
            <a:off x="4727448" y="370332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910328" y="387705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2" name="Image 5" descr="assets/icons/balanc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4014216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05272" y="3813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менеджмента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605272" y="41605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 err="1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</a:t>
            </a: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положительное решение от</a:t>
            </a: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ФРП, БРК и БВУ</a:t>
            </a:r>
            <a:endParaRPr lang="en-US" sz="870" dirty="0"/>
          </a:p>
        </p:txBody>
      </p:sp>
      <p:sp>
        <p:nvSpPr>
          <p:cNvPr id="35" name="Text 27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ФИНАНСИРОВАНИЯ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ИНСТРУМЕНТОВ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финансирования — ФРП + гарантия БРК + БВУ; гранты и углеродные доходы — как доп. возможность</a:t>
            </a:r>
            <a:endParaRPr lang="en-US" sz="2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8138160" cy="281330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Инструмент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Что финансирует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Ориентир. объём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Регресс / гарантии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Приоритет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ФРП — лизинг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Оборудование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~15 млрд 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Залог оборудования; цель — без поручительств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Халык + гарантия БРК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СМР / ПСД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~6,5 млрд 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Гарантия БРК до 90% вместо поручительств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БРК / Байтерек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Проектн. фин. / гарантия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уточн.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Институциональная гарантия, ограниченный регресс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БВУ (Форте, Береке…)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СМР / оборотный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уточн.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Уступка прав по электроэнергии/сбыту, резервный счёт, эскроу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Даму / субсидии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Субсидия ставки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В пределах лимитов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Дополнительный, не основной инструмент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Kazakh Invest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Льготы / преференции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НДС, пошлины, контракт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Инвестпреференции, не долговой инструмент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Японский грант (JCM)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Грант (доп.)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до ~1,3 млрд ¥ (уточн.)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Безвозвратный — дополнительный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Низкий*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Углеродное финансирование / межд. институты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Углерод / долгосрочное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уточн.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Эко-стандарты / проектное финансирование с огранич. регрессом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Низкий*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«Низкий» = не базовый источник, а дополнительная возможность. «Уточн.» — условия требуют подтверждения институтов.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ИНСТРУМЕНТОВ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 БЕЗ ГАРАНТИЙ АКЦИОНЕРОВ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обеспечения вместо личных гарантий: активы, права требования, гарантии ИР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64208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" y="178993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1016" y="158191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оборудования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71016" y="188366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как основной предмет залога (ФРП-лизинг)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3264408" y="146304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0712" y="1664208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assets/icon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442" y="178993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32504" y="158191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проектных активов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032504" y="188366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Строящиеся объекты и основные средства проекта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6025896" y="146304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664208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assets/icons/site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930" y="178993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3992" y="158191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долей проектной компании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793992" y="188366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долей проектной компании вместо поручительства акционеров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502920" y="2542032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" y="2743200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3" descr="assets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54" y="28689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71016" y="266090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по электроэнергии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271016" y="296265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требования по выручке за электроэнергию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3264408" y="2542032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10712" y="2743200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4" descr="assets/icons/handshak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6442" y="286893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32504" y="266090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по сбыту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032504" y="296265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по контрактам на удобрения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6025896" y="2542032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72200" y="2743200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5" descr="assets/icons/pigg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930" y="286893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93992" y="266090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Резервный счёт + эскроу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793992" y="296265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Резервный счёт обслуживания долга и эскроу-счета</a:t>
            </a:r>
            <a:endParaRPr lang="en-US" sz="830" dirty="0"/>
          </a:p>
        </p:txBody>
      </p:sp>
      <p:sp>
        <p:nvSpPr>
          <p:cNvPr id="34" name="Shape 26"/>
          <p:cNvSpPr/>
          <p:nvPr/>
        </p:nvSpPr>
        <p:spPr>
          <a:xfrm>
            <a:off x="502920" y="3621024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9224" y="3822192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6" name="Image 6" descr="assets/icons/contrac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954" y="3947922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71016" y="373989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исполнения подрядчика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1271016" y="404164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исполнения от подрядчика + гарантии поставщика</a:t>
            </a:r>
            <a:endParaRPr lang="en-US" sz="830" dirty="0"/>
          </a:p>
        </p:txBody>
      </p:sp>
      <p:sp>
        <p:nvSpPr>
          <p:cNvPr id="39" name="Shape 30"/>
          <p:cNvSpPr/>
          <p:nvPr/>
        </p:nvSpPr>
        <p:spPr>
          <a:xfrm>
            <a:off x="3264408" y="3621024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410712" y="3822192"/>
            <a:ext cx="502920" cy="50292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1" name="Image 7" descr="assets/icons/shield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6442" y="3947922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032504" y="373989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БРК / Байтерек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4032504" y="404164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Институциональная / кредитная гарантия банку</a:t>
            </a:r>
            <a:endParaRPr lang="en-US" sz="830" dirty="0"/>
          </a:p>
        </p:txBody>
      </p:sp>
      <p:sp>
        <p:nvSpPr>
          <p:cNvPr id="44" name="Shape 34"/>
          <p:cNvSpPr/>
          <p:nvPr/>
        </p:nvSpPr>
        <p:spPr>
          <a:xfrm>
            <a:off x="6025896" y="3621024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172200" y="3822192"/>
            <a:ext cx="502920" cy="50292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6" name="Image 8" descr="assets/icons/leaf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7930" y="3947922"/>
            <a:ext cx="251460" cy="25146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793992" y="373989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углеродных доходов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6793992" y="404164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возможных углеродных поступлений + страховое покрытие</a:t>
            </a:r>
            <a:endParaRPr lang="en-US" sz="830" dirty="0"/>
          </a:p>
        </p:txBody>
      </p:sp>
      <p:sp>
        <p:nvSpPr>
          <p:cNvPr id="49" name="Text 38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50" name="Text 39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</a:t>
            </a:r>
            <a:endParaRPr lang="en-US" sz="800" dirty="0"/>
          </a:p>
        </p:txBody>
      </p:sp>
      <p:sp>
        <p:nvSpPr>
          <p:cNvPr id="51" name="Text 40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АГРОРЕЗУЛЬТАТЫ  ·  ПОЛЕВЫЕ ИСПЫТАНИЯ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ОМУ дают прирост урожайности 19–25% против аналогов на трёх культурах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787652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9304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722376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Кормовая кукуруза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2376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13,8 т/га против ЖКУ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2376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Акмолинская обл. · NPK 12-12-12 · 80 кг/га, однократно с семенами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3264408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65576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20" y="1787652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0792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3300" dirty="0"/>
          </a:p>
        </p:txBody>
      </p:sp>
      <p:sp>
        <p:nvSpPr>
          <p:cNvPr id="16" name="Text 12"/>
          <p:cNvSpPr/>
          <p:nvPr/>
        </p:nvSpPr>
        <p:spPr>
          <a:xfrm>
            <a:off x="3483864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Яровой ячмень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83864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2,82 против 2,26 т/га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83864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83864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 · аналоги (аммофос 10-46, Яра Милла) — лишь +2%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6025896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27064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2" descr="assets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08" y="1787652"/>
            <a:ext cx="246888" cy="2468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280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3300" dirty="0"/>
          </a:p>
        </p:txBody>
      </p:sp>
      <p:sp>
        <p:nvSpPr>
          <p:cNvPr id="24" name="Text 19"/>
          <p:cNvSpPr/>
          <p:nvPr/>
        </p:nvSpPr>
        <p:spPr>
          <a:xfrm>
            <a:off x="6245352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Яровая пшеница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245352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200 кг/га (+11% при 100 кг/га)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45352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45352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НПЦЗХ им. Бараева · NP 8-21-15SO₃ → +22% к контролю</a:t>
            </a:r>
            <a:endParaRPr lang="en-US" sz="860" dirty="0"/>
          </a:p>
        </p:txBody>
      </p:sp>
      <p:sp>
        <p:nvSpPr>
          <p:cNvPr id="28" name="Shape 23"/>
          <p:cNvSpPr/>
          <p:nvPr/>
        </p:nvSpPr>
        <p:spPr>
          <a:xfrm>
            <a:off x="502920" y="3712464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</p:sp>
      <p:pic>
        <p:nvPicPr>
          <p:cNvPr id="29" name="Image 3" descr="assets/icons/star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877056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42416" y="37124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зерна повышено до 1 класса (контроль — 2); клейковина 28,7–30,4%</a:t>
            </a:r>
            <a:endParaRPr lang="en-US" sz="900" dirty="0"/>
          </a:p>
        </p:txBody>
      </p:sp>
      <p:pic>
        <p:nvPicPr>
          <p:cNvPr id="31" name="Image 4" descr="assets/icons/seedlin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877056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65776" y="37124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Внесение одномоментно с семенами — без дополнительной техники и проходов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02920" y="43891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отдельных полевых опытов 2023 г.; часть экономических расчётов зависит от методики анализа — перед инвест-решением рекомендуется независимая агрономическая проверка.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АГРОРЕЗУЛЬТАТЫ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ПОДТВЕРЖДЕНИЕ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Независимое заключение НПЦЗХ и эффективность 1:3 подтверждают позицию ОМУ на рынке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45920"/>
            <a:ext cx="512064" cy="512064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univers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7739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6642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Независимое подтверждение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2376" y="2212848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2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НПЦЗХ им. А.И. Бараева рекомендует ОМУ NPK 12-12-12 и NP 8-21-15SO₃ для яровой пшеницы: урожайность сопоставима с аммофосом, зерно — 1 класс.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502920" y="2962656"/>
            <a:ext cx="3931920" cy="1417320"/>
          </a:xfrm>
          <a:prstGeom prst="roundRect">
            <a:avLst>
              <a:gd name="adj" fmla="val 5806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44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3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205740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эффективность питательных веществ ОМУ к минеральным (по данным ФАО)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22376" y="384048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12-12-12 ОМУ ≈ NPK 36-36-36 мин. · NP 8-21 ОМУ ≈ NP 12-52 аммофос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09160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· ≥ 75 000 Т/ГОД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1737360"/>
            <a:ext cx="1901952" cy="749808"/>
          </a:xfrm>
          <a:prstGeom prst="roundRect">
            <a:avLst>
              <a:gd name="adj" fmla="val 853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37176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NPK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37176" y="2029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12-12-12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739128" y="1737360"/>
            <a:ext cx="1901952" cy="749808"/>
          </a:xfrm>
          <a:prstGeom prst="roundRect">
            <a:avLst>
              <a:gd name="adj" fmla="val 853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67144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67144" y="2029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8-21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4709160" y="2596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Состав: 40% органического вещества · 15% гуминовой + фульвовой кислоты · pH 5–7 · без патогенов и семян сорняков</a:t>
            </a:r>
            <a:endParaRPr lang="en-US" sz="880" dirty="0"/>
          </a:p>
        </p:txBody>
      </p:sp>
      <p:pic>
        <p:nvPicPr>
          <p:cNvPr id="21" name="Image 1" descr="assets/icons/seedling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145536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20056" y="310896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Внесение при посеве — без дополнительной техники</a:t>
            </a:r>
            <a:endParaRPr lang="en-US" sz="950" dirty="0"/>
          </a:p>
        </p:txBody>
      </p:sp>
      <p:pic>
        <p:nvPicPr>
          <p:cNvPr id="23" name="Image 2" descr="assets/icons/recycle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47472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0056" y="3438144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почвы: +2% плодородного слоя в год</a:t>
            </a:r>
            <a:endParaRPr lang="en-US" sz="950" dirty="0"/>
          </a:p>
        </p:txBody>
      </p:sp>
      <p:pic>
        <p:nvPicPr>
          <p:cNvPr id="25" name="Image 3" descr="assets/icons/coins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80390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20056" y="376732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Дешевле минеральных: 40–60% состава — органика</a:t>
            </a:r>
            <a:endParaRPr lang="en-US" sz="950" dirty="0"/>
          </a:p>
        </p:txBody>
      </p:sp>
      <p:pic>
        <p:nvPicPr>
          <p:cNvPr id="27" name="Image 4" descr="assets/icons/shield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133088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20056" y="4096512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гарантированный состав NPK под запрос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 ПРОРАБОТКА · СБЫТ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сбыта на 4 рынках; задача — перевести переговоры в предварительные соглашения и условия сделок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6152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8379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 Agro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0936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внутреннем рынке РК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2660904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74136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8379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52344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Фос-Агро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52344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788920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Гибридная схема реализации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4818888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532120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2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3794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10328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MakFert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910328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Турция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946904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Потенциально 10 тыс. тонн в год</a:t>
            </a:r>
            <a:endParaRPr lang="en-US" sz="880" dirty="0"/>
          </a:p>
        </p:txBody>
      </p:sp>
      <p:sp>
        <p:nvSpPr>
          <p:cNvPr id="22" name="Shape 17"/>
          <p:cNvSpPr/>
          <p:nvPr/>
        </p:nvSpPr>
        <p:spPr>
          <a:xfrm>
            <a:off x="6976872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90104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3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4" y="18379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68312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UzKimyo Impex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068312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104888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Региональный экспортный канал</a:t>
            </a:r>
            <a:endParaRPr lang="en-US" sz="880" dirty="0"/>
          </a:p>
        </p:txBody>
      </p:sp>
      <p:sp>
        <p:nvSpPr>
          <p:cNvPr id="28" name="Shape 22"/>
          <p:cNvSpPr/>
          <p:nvPr/>
        </p:nvSpPr>
        <p:spPr>
          <a:xfrm>
            <a:off x="502920" y="3611880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9" name="Image 4" descr="assets/icons/targe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2219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70432" y="3767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Управленческий вывод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170432" y="40599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активно прорабатывается, но для привлечения финансирования переговоры необходимо перевести в предварительные соглашения, условия сделок, рамочные или предварительные договоры сбыта. Твёрдые договоры планируются после открытия финансирования и начала СМР.</a:t>
            </a:r>
            <a:endParaRPr lang="en-US" sz="1030" dirty="0"/>
          </a:p>
        </p:txBody>
      </p:sp>
      <p:sp>
        <p:nvSpPr>
          <p:cNvPr id="32" name="Text 25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ИСПОЛНЕНИЕ БЮДЖЕТА ЗА 5 МЕСЯЦЕВ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Расходы ниже бюджета из-за сдвига графика; финансирование учредителей — тоже ниже плана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81328"/>
          <a:ext cx="50749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79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· план-факт за 5 месяцев 2026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760720" y="1481328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07024" y="15727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Операционная деятельность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7498080" y="1554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+46,9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0" y="191109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экономия к плану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760720" y="2267712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07024" y="235915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Инвестиционная деятельность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7498080" y="234086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+244,9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15200" y="269748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ниже плана (сдвиг работ)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760720" y="3054096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07024" y="31455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деятельность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7498080" y="31272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4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−323,1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315200" y="3483864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недобор поступлений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760720" y="3840480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907024" y="39319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Денежные средства на конец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7498080" y="39136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4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315200" y="427024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факт (план 90,5)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5 МЕС.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БЮДЖЕТА НА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Годовой бюджет ~728 млн ₸; 241,5 млн ₸ исполнено за 5 мес., 487 млн ₸ — на II полугодие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17904"/>
          <a:ext cx="52120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159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897880" y="1517904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44184" y="15727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729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04888" y="157276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Первоначальный годовой бюджет, млн ₸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5897880" y="2249424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44184" y="230428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241,5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104888" y="23042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за 5 месяцев (43% бюджета 5М)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5897880" y="2980944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44184" y="303580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487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104888" y="30358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Плановые расходы на оставшиеся 7 месяцев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5897880" y="3712464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44184" y="376732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~728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104888" y="376732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годовой план, млн ₸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БЮДЖЕТА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РИСКИ И МЕРЫ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управляемых рисков; критические точки — тариф на электроэнергию и график собственного участия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file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1632204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4447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/ госэкспертиза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61488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</p:sp>
      <p:sp>
        <p:nvSpPr>
          <p:cNvPr id="9" name="Text 6"/>
          <p:cNvSpPr/>
          <p:nvPr/>
        </p:nvSpPr>
        <p:spPr>
          <a:xfrm>
            <a:off x="2761488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703320" y="14447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сроков экспертизы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5669280" y="144475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Приоритизация адаптации, ранняя подача, буфер в графике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920" y="20574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" y="2148840"/>
            <a:ext cx="384048" cy="384048"/>
          </a:xfrm>
          <a:prstGeom prst="ellipse">
            <a:avLst/>
          </a:prstGeom>
          <a:solidFill>
            <a:srgbClr val="B4432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assets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2244852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3856" y="20574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на электроэнергию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61488" y="221284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</p:sp>
      <p:sp>
        <p:nvSpPr>
          <p:cNvPr id="17" name="Text 13"/>
          <p:cNvSpPr/>
          <p:nvPr/>
        </p:nvSpPr>
        <p:spPr>
          <a:xfrm>
            <a:off x="2761488" y="2212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703320" y="20574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Банк. гарантия раскрыта, тариф не закреплён</a:t>
            </a:r>
            <a:endParaRPr lang="en-US" sz="880" dirty="0"/>
          </a:p>
        </p:txBody>
      </p:sp>
      <p:sp>
        <p:nvSpPr>
          <p:cNvPr id="19" name="Text 15"/>
          <p:cNvSpPr/>
          <p:nvPr/>
        </p:nvSpPr>
        <p:spPr>
          <a:xfrm>
            <a:off x="5669280" y="20574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маршрут: восстановление / повторный аукцион / альт. модель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920" y="267004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" y="2761488"/>
            <a:ext cx="384048" cy="384048"/>
          </a:xfrm>
          <a:prstGeom prst="ellipse">
            <a:avLst/>
          </a:prstGeom>
          <a:solidFill>
            <a:srgbClr val="B4432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2" descr="assets/icons/mon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2857500"/>
            <a:ext cx="192024" cy="1920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33856" y="26700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761488" y="282549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 lang="ru-KZ" dirty="0"/>
          </a:p>
        </p:txBody>
      </p:sp>
      <p:sp>
        <p:nvSpPr>
          <p:cNvPr id="25" name="Text 20"/>
          <p:cNvSpPr/>
          <p:nvPr/>
        </p:nvSpPr>
        <p:spPr>
          <a:xfrm>
            <a:off x="2761488" y="28254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703320" y="26700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Недобор собственного участия, условия банков</a:t>
            </a:r>
            <a:endParaRPr lang="en-US" sz="880" dirty="0"/>
          </a:p>
        </p:txBody>
      </p:sp>
      <p:sp>
        <p:nvSpPr>
          <p:cNvPr id="27" name="Text 22"/>
          <p:cNvSpPr/>
          <p:nvPr/>
        </p:nvSpPr>
        <p:spPr>
          <a:xfrm>
            <a:off x="5669280" y="26700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проектной компании, гарантия БРК, синхронизация графика взносов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02920" y="328269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21792" y="3374136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0" name="Image 3" descr="assets/icons/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" y="3470148"/>
            <a:ext cx="192024" cy="1920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33856" y="328269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761488" y="34381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</p:sp>
      <p:sp>
        <p:nvSpPr>
          <p:cNvPr id="33" name="Text 27"/>
          <p:cNvSpPr/>
          <p:nvPr/>
        </p:nvSpPr>
        <p:spPr>
          <a:xfrm>
            <a:off x="2761488" y="3438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3703320" y="32826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твёрдых договоров</a:t>
            </a:r>
            <a:endParaRPr lang="en-US" sz="880" dirty="0"/>
          </a:p>
        </p:txBody>
      </p:sp>
      <p:sp>
        <p:nvSpPr>
          <p:cNvPr id="35" name="Text 29"/>
          <p:cNvSpPr/>
          <p:nvPr/>
        </p:nvSpPr>
        <p:spPr>
          <a:xfrm>
            <a:off x="5669280" y="328269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в предварительные соглашения до финансового закрытия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502920" y="389534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21792" y="3986784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8" name="Image 4" descr="assets/icons/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4082796"/>
            <a:ext cx="192024" cy="19202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33856" y="389534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 участие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2761488" y="405079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</p:sp>
      <p:sp>
        <p:nvSpPr>
          <p:cNvPr id="41" name="Text 34"/>
          <p:cNvSpPr/>
          <p:nvPr/>
        </p:nvSpPr>
        <p:spPr>
          <a:xfrm>
            <a:off x="2761488" y="4050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3703320" y="38953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Ограниченность собственного участия</a:t>
            </a:r>
            <a:endParaRPr lang="en-US" sz="880" dirty="0"/>
          </a:p>
        </p:txBody>
      </p:sp>
      <p:sp>
        <p:nvSpPr>
          <p:cNvPr id="43" name="Text 36"/>
          <p:cNvSpPr/>
          <p:nvPr/>
        </p:nvSpPr>
        <p:spPr>
          <a:xfrm>
            <a:off x="5669280" y="389534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Утверждённый лимит собственного участия, структурированный заём акционеров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45" name="Text 38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Японский углеродный грант (механизм JCM) — дополнительный, а не базовый источник финансирования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200400" cy="2331720"/>
          </a:xfrm>
          <a:prstGeom prst="roundRect">
            <a:avLst>
              <a:gd name="adj" fmla="val 3922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~1,3 млрд ¥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58368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до ~8 млн долл. США потенциального гранта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3456432"/>
            <a:ext cx="1600200" cy="292608"/>
          </a:xfrm>
          <a:prstGeom prst="roundRect">
            <a:avLst>
              <a:gd name="adj" fmla="val 43750"/>
            </a:avLst>
          </a:prstGeom>
          <a:solidFill>
            <a:srgbClr val="C4772F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34564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ПОДТВЕРЖДЕНИЯ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023360" y="1572768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assets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168706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8576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JCM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08576" y="18105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Совместный механизм кредитования — японский инструмент углеродных единиц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023360" y="219456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660" y="23088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08576" y="2157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метана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08576" y="24323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выбросов метана как основа для углеродных единиц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023360" y="2816352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3" descr="assets/icons/coin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7660" y="293065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08576" y="27797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Углеродная выручка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608576" y="30540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Возможная уступка углеродных поступлений в пользу проекта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023360" y="3438144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4" descr="assets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660" y="3552444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608576" y="3401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608576" y="36758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Показывать как доп. возможность к базовой структуре, не закладывать в расчёт долга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502920" y="4160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гранта требуют подтверждения материалами и японской стороной (предварительно).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ГРАНТ JCM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KazBioFert / BBFF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E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Благодарим за внимание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931920" y="2514600"/>
            <a:ext cx="1280160" cy="0"/>
          </a:xfrm>
          <a:prstGeom prst="line">
            <a:avLst/>
          </a:prstGeom>
          <a:noFill/>
          <a:ln w="19050">
            <a:solidFill>
              <a:srgbClr val="C477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директоров Kusto Group  ·  9 июля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035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Житикара, Костанайская область, Казахстан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2345</Words>
  <Application>Microsoft Office PowerPoint</Application>
  <PresentationFormat>Экран (16:9)</PresentationFormat>
  <Paragraphs>475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KazBioFert / BBFF — Board of Directors</dc:title>
  <dc:subject>PptxGenJS Presentation</dc:subject>
  <dc:creator>KazBioFert</dc:creator>
  <cp:lastModifiedBy>Алимбек Аубакиров</cp:lastModifiedBy>
  <cp:revision>28</cp:revision>
  <dcterms:created xsi:type="dcterms:W3CDTF">2026-07-07T10:49:46Z</dcterms:created>
  <dcterms:modified xsi:type="dcterms:W3CDTF">2026-07-07T12:11:43Z</dcterms:modified>
</cp:coreProperties>
</file>