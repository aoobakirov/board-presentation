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USD, млн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$0.00&quot; млн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2A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Реакторный узел</c:v>
                  </c:pt>
                  <c:pt idx="1">
                    <c:v>Когенерация / энергоблок</c:v>
                  </c:pt>
                  <c:pt idx="2">
                    <c:v>Теплоутилизация</c:v>
                  </c:pt>
                  <c:pt idx="3">
                    <c:v>Производство удобрений</c:v>
                  </c:pt>
                  <c:pt idx="4">
                    <c:v>Обработка биогаза</c:v>
                  </c:pt>
                  <c:pt idx="5">
                    <c:v>Подготовка сырья</c:v>
                  </c:pt>
                  <c:pt idx="6">
                    <c:v>Прочие секции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3.15</c:v>
                </c:pt>
                <c:pt idx="1">
                  <c:v>2.78</c:v>
                </c:pt>
                <c:pt idx="2">
                  <c:v>2.69</c:v>
                </c:pt>
                <c:pt idx="3">
                  <c:v>1.37</c:v>
                </c:pt>
                <c:pt idx="4">
                  <c:v>0.61</c:v>
                </c:pt>
                <c:pt idx="5">
                  <c:v>0.53</c:v>
                </c:pt>
                <c:pt idx="6">
                  <c:v>1.03</c:v>
                </c:pt>
              </c:numCache>
            </c:numRef>
          </c:val>
        </c:ser>
        <c:dLbls>
          <c:numFmt formatCode="$0.00&quot; млн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B2A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Бюджет поставки оборудования проекта Kazbiofert для ФРП, БРК, БВУ.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Итого ≈ $13,03 млн (ex-works, не полный CAPEX). Электромонтаж не расценён.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Реакторный узел, когенерация и теплоутилизация — 70% бюджета оборудования.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разбивка оборудования по секциям PFD.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Топ-12 позиций оборудования по стоимости.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КИПиА €520k и клапаны €287k. Валюта КИПиА требует подтверждения.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Электромонтаж: 6 фаз, ~409 позиций, все цены = 0. Ключевой пробел.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полный CAPEX. Добавить электрику, СМР, монтаж, логистику, НДС, инжиниринг, резерв.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шагов до готовности заявки. Приоритет №1 — расценить электрику и собрать полный CAPEX.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-548640"/>
            <a:ext cx="2011680" cy="201168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ОБОРУДОВАНИЯ  ·  СМЕТА ПОСТАВКИ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Kazbiofert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Sairam Biogas &amp; Fertilizers Factory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Аналитический бриф по бюджету для подачи в </a:t>
            </a:r>
            <a:pPr indent="0" marL="0">
              <a:buNone/>
            </a:pPr>
            <a:r>
              <a:rPr lang="en-US" sz="1600" b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ФРП, БРК и БВУ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074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$13,03 млн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оценённая поставка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29000" y="5074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1 470+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2900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позиций оборудования, арматуры, КИП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5074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Altaca (Турция)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поставщик, ex-works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06840" y="5074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31.07.2026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0684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смет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СВОДНАЯ СУММА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Общая стоимость поставки и брейкдаун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794760" cy="4206240"/>
          </a:xfrm>
          <a:prstGeom prst="roundRect">
            <a:avLst>
              <a:gd name="adj" fmla="val 2892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3B4A3B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ИТОГО, ОЦЕНЁННАЯ ПОСТАВКА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$13,03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868680" y="3611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US$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4160520"/>
            <a:ext cx="3337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+ арматура + КИПиА (ex-works).
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Электромонтаж не расценён — не входит.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73736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7DB"/>
            </a:solidFill>
            <a:prstDash val="solid"/>
          </a:ln>
          <a:effectLst>
            <a:outerShdw sx="100000" sy="100000" kx="0" ky="0" algn="bl" rotWithShape="0" blurRad="76200" dist="25400" dir="5400000">
              <a:srgbClr val="C9D2C2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65192" y="2011680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534924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Технологическое оборудование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65192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$12 160 982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965192" y="3246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453 позиции · USD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94192" y="173736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7DB"/>
            </a:solidFill>
            <a:prstDash val="solid"/>
          </a:ln>
          <a:effectLst>
            <a:outerShdw sx="100000" sy="100000" kx="0" ky="0" algn="bl" rotWithShape="0" blurRad="76200" dist="25400" dir="5400000">
              <a:srgbClr val="C9D2C2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50224" y="2011680"/>
            <a:ext cx="256032" cy="256032"/>
          </a:xfrm>
          <a:prstGeom prst="ellipse">
            <a:avLst/>
          </a:prstGeom>
          <a:solidFill>
            <a:srgbClr val="7FA650"/>
          </a:solidFill>
          <a:ln/>
        </p:spPr>
      </p:sp>
      <p:sp>
        <p:nvSpPr>
          <p:cNvPr id="16" name="Text 14"/>
          <p:cNvSpPr/>
          <p:nvPr/>
        </p:nvSpPr>
        <p:spPr>
          <a:xfrm>
            <a:off x="9034272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КИПиА (приборы)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50224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$561 705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650224" y="3246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€520 097 · 509 позиций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400507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7DB"/>
            </a:solidFill>
            <a:prstDash val="solid"/>
          </a:ln>
          <a:effectLst>
            <a:outerShdw sx="100000" sy="100000" kx="0" ky="0" algn="bl" rotWithShape="0" blurRad="76200" dist="25400" dir="5400000">
              <a:srgbClr val="C9D2C2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65192" y="4279392"/>
            <a:ext cx="256032" cy="256032"/>
          </a:xfrm>
          <a:prstGeom prst="ellipse">
            <a:avLst/>
          </a:prstGeom>
          <a:solidFill>
            <a:srgbClr val="7FA650"/>
          </a:solidFill>
          <a:ln/>
        </p:spPr>
      </p:sp>
      <p:sp>
        <p:nvSpPr>
          <p:cNvPr id="21" name="Text 19"/>
          <p:cNvSpPr/>
          <p:nvPr/>
        </p:nvSpPr>
        <p:spPr>
          <a:xfrm>
            <a:off x="5349240" y="4242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Клапаны и арматура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65192" y="48737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$310 104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4965192" y="5513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€287 133 · ~1 700 позиций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394192" y="400507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9050">
            <a:solidFill>
              <a:srgbClr val="E8A317"/>
            </a:solidFill>
            <a:prstDash val="solid"/>
          </a:ln>
          <a:effectLst>
            <a:outerShdw sx="100000" sy="100000" kx="0" ky="0" algn="bl" rotWithShape="0" blurRad="76200" dist="25400" dir="5400000">
              <a:srgbClr val="C9D2C2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50224" y="4279392"/>
            <a:ext cx="256032" cy="256032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26" name="Text 24"/>
          <p:cNvSpPr/>
          <p:nvPr/>
        </p:nvSpPr>
        <p:spPr>
          <a:xfrm>
            <a:off x="9034272" y="4242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Электромонтажные работы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50224" y="48737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5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расценено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8650224" y="5513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фаз · ~409 позиций · BOQ = 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EUR→USD по курсу 1 EUR ≈ 1,08 USD (иллюстративно, требует актуализации на дату сделки). Все цены — net, без НДС, франко-завод.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· $12,16 МЛН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по технологическим секциям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2237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КРУПНЕЙШИЕ ГРУППЫ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138160" y="16916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6F0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8562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$2,55 млн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366760" y="24414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Биогазовые двигатели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366760" y="2734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BE-401…404 · когенерация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138160" y="3227832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6F0"/>
          </a:solidFill>
          <a:ln/>
        </p:spPr>
      </p:sp>
      <p:sp>
        <p:nvSpPr>
          <p:cNvPr id="11" name="Text 8"/>
          <p:cNvSpPr/>
          <p:nvPr/>
        </p:nvSpPr>
        <p:spPr>
          <a:xfrm>
            <a:off x="8366760" y="33924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$1,79 млн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36676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 Реакторы 11 050 м³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66760" y="4270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R-201…205 · стеклокомпозит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38160" y="4764024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6F0"/>
          </a:solidFill>
          <a:ln/>
        </p:spPr>
      </p:sp>
      <p:sp>
        <p:nvSpPr>
          <p:cNvPr id="15" name="Text 12"/>
          <p:cNvSpPr/>
          <p:nvPr/>
        </p:nvSpPr>
        <p:spPr>
          <a:xfrm>
            <a:off x="8366760" y="492861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$1,66 млн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366760" y="55138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Теплообменники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66760" y="5806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HE-504, HE-502 и др.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· ДЕТАЛИЗАЦИЯ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Оборудование по секциям (PFD)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00200"/>
          <a:ext cx="10424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212080"/>
                <a:gridCol w="1554480"/>
                <a:gridCol w="21945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Секция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Наименование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Позиций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Реакторный узел (биогаз)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$3 149 765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PFD-400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Когенерация / энергоблок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$2 781 265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Утилизация тепла / теплообмен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$2 686 647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PFD-800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Производство удобрений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$1 374 363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Обработка биогаза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$606 102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Подготовка сырья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$530 135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PFD-1000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Вспомогательные системы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$270 817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PFD-1100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Водоросли / водоочистка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$239 100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PFD-700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Обработка дигестата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$230 120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Прочее (дизель-ген. и др.)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$292 669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PFD-600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Вспомогательное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$4 815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Технологическое оборудование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$12 160 982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· КРУПНЕЙШИЕ ПОЗИЦИИ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Топ-12 позиций по стоимости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00200"/>
          <a:ext cx="10424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309360"/>
                <a:gridCol w="21945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Наименование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HE-504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Теплообменник (Heat Exchanger)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$904 512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BE-401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Биогазовый двигатель (Biogas Engine)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$638 643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BE-402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Биогазовый двигатель (Biogas Engine)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$638 643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BE-403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Биогазовый двигатель (Biogas Engine)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$638 643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BE-404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Биогазовый двигатель (Biogas Engine)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$638 643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HE-502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Теплообменник (Heat Exchanger)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$499 748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Реактор 11 050 м³ (стеклокомпозит)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$357 647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Реактор 11 050 м³ (стеклокомпозит)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$357 647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Реактор 11 050 м³ (стеклокомпозит)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$357 647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Реактор 11 050 м³ (стеклокомпозит)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$357 647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Реактор 11 050 м³ (стеклокомпозит)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$357 647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HE-803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Теплообменник (Heat Exchanger)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$258 156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Двигатели BE-401…404 и реакторы R-201…205 — тиражируемые позиции: 4 и 5 единиц соответственно.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КИПиА И АРМАТУРА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Приборы (КИПиА) и клапаны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КИПиА (приборы) — €520 097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74520"/>
          <a:ext cx="63093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4630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Позиций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Transmitters (датчики, расходомеры)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426 643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Indicators (индик. давл./темп.)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93 454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Supplied by manufacturer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КИПиА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509 (+94)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520 097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58368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Клапаны и арматура — €287 133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Показатель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Значение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 по предложению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€287 133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Строк в детализации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~1 694 (с альтернативами)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Поставщик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Proval / Doruk (Турция)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Условия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net, без НДС, ex-works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поставки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6–16 недель, партиями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Валюта листа КИПиА в файле не указана — принята как EUR (тот же пакет и дата поставщика). Требует подтверждения.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5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ЭЛЕКТРОМОНТАЖ · НЕ РАСЦЕНЁН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Электромонтажные работы (BOQ) по фазам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00200"/>
          <a:ext cx="10789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852160"/>
                <a:gridCol w="137160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Фаза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Описание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Позиций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Низковольтная система питания (LV)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PHASE-2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КИПиА и автоматизация / SCADA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PHASE-3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Высоковольтная система и генератор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PHASE-4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LV-распределение, освещение, ELV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PHASE-5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Пожарная сигнализация и оповещение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PHASE-6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Внутр. электросети админ. здания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Электромонтажные работы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расценён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BC6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5715000"/>
            <a:ext cx="10972800" cy="685800"/>
          </a:xfrm>
          <a:prstGeom prst="roundRect">
            <a:avLst>
              <a:gd name="adj" fmla="val 10667"/>
            </a:avLst>
          </a:prstGeom>
          <a:solidFill>
            <a:srgbClr val="FBF1DD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pPr indent="0" marL="0">
              <a:buNone/>
            </a:pPr>
            <a:r>
              <a:rPr lang="en-US" sz="1250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 всём файле цены = 0 (только формулы-шаблоны). Раздел необходимо расценить до подачи заявки — сейчас это нулевая строка в бюджете.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3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БЮДЖЕТА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НЕ входит в текущую сумму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Текущие $13,03 млн — это поставка оборудования «франко-завод». Полный CAPEX проекта существенно выше.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4144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53312" y="24048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Электромонтаж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на 6 фаз есть, но все цены = 0 — раздел не расценён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214884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244144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93792" y="24048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СМР и строительство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73168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Здания, фундаменты, ёмкости, лагуны, инфраструктура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21040" y="214884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44144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34272" y="24048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Монтаж и ПНР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13648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и пусконаладка технологического оборудования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36168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43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53312" y="4325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и таможня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2688" y="48920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Доставка в Казахстан, растаможка, страхование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80560" y="406908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436168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4343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93792" y="4325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НДС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773168" y="48920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сметы — net, без НДС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21040" y="406908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0" y="436168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32" name="Text 30"/>
          <p:cNvSpPr/>
          <p:nvPr/>
        </p:nvSpPr>
        <p:spPr>
          <a:xfrm>
            <a:off x="8595360" y="4343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34272" y="4325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Инжиниринг и прочее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613648" y="48920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Проектирование, земля, подключения, оборотный капитал, резерв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ДЕЙСТВИЙ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закрыть до подачи в ФРП / БРК / БВУ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566928" cy="566928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71907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Расценить электромонтаж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 BOQ (6 фаз, ~409 позиций) — сейчас нулевая строка в бюджете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670048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70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полный CAPEX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99008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СМР, монтаж, ПНР, логистику, таможню, НДС, инжиниринг, резерв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602736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6027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8444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Свести в единую валюту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54480" y="3922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Зафиксировать курс EUR/USD/KZT на дату; убрать валютный разнобой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535424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535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5171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Актуализировать цены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485546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действия предложений истёк (1 мес.); подтвердить у поставщика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468112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468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4498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Структурировать финансирование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554480" y="57881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Разбить CAPEX на транши и источники под требования ФРП, БРК, БВУ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2026-08-03T13:08:07Z</dcterms:created>
  <dcterms:modified xsi:type="dcterms:W3CDTF">2026-08-03T13:08:07Z</dcterms:modified>
</cp:coreProperties>
</file>