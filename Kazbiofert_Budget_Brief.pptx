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USD, млн</c:v>
                </c:pt>
              </c:strCache>
            </c:strRef>
          </c:tx>
          <c:spPr>
            <a:solidFill>
              <a:srgbClr val="2C5F2D"/>
            </a:solidFill>
            <a:effectLst/>
          </c:spPr>
          <c:invertIfNegative val="0"/>
          <c:dLbls>
            <c:numFmt formatCode="$0.00&quot; млн&quot;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1B2A1C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Реакторный узел</c:v>
                  </c:pt>
                  <c:pt idx="1">
                    <c:v>Когенерация / энергоблок</c:v>
                  </c:pt>
                  <c:pt idx="2">
                    <c:v>Теплоутилизация</c:v>
                  </c:pt>
                  <c:pt idx="3">
                    <c:v>Производство удобрений</c:v>
                  </c:pt>
                  <c:pt idx="4">
                    <c:v>Обработка биогаза</c:v>
                  </c:pt>
                  <c:pt idx="5">
                    <c:v>Подготовка сырья</c:v>
                  </c:pt>
                  <c:pt idx="6">
                    <c:v>Прочие секции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3.15</c:v>
                </c:pt>
                <c:pt idx="1">
                  <c:v>2.78</c:v>
                </c:pt>
                <c:pt idx="2">
                  <c:v>2.69</c:v>
                </c:pt>
                <c:pt idx="3">
                  <c:v>1.37</c:v>
                </c:pt>
                <c:pt idx="4">
                  <c:v>0.61</c:v>
                </c:pt>
                <c:pt idx="5">
                  <c:v>0.53</c:v>
                </c:pt>
                <c:pt idx="6">
                  <c:v>1.03</c:v>
                </c:pt>
              </c:numCache>
            </c:numRef>
          </c:val>
        </c:ser>
        <c:dLbls>
          <c:numFmt formatCode="$0.00&quot; млн&quot;" sourceLinked="0"/>
          <c:txPr>
            <a:bodyPr/>
            <a:lstStyle/>
            <a:p>
              <a:pPr>
                <a:defRPr b="1" i="0" strike="noStrike" sz="1100" u="none">
                  <a:solidFill>
                    <a:srgbClr val="1B2A1C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B2A1C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.6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Титул. Бюджет поставки оборудования проекта Kazbiofert для подачи в финансовые институты (ФРП, БРК, БВУ).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Итого оценённая поставка ≈ $13,03 млн. Электромонтаж не расценён. Это стоимость поставки ex-works, не полный CAPEX.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Реакторный узел, когенерация и теплоутилизация — 70% бюджета оборудования. Драйверы: двигатели, реакторы, теплообменники.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Ключевое сообщение для банков: это не полный CAPEX. Нужно добавить электрику, СМР, монтаж, логистику, НДС, инжиниринг, резерв.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Пять шагов до готовности заявки. Приоритет №1 — расценить электрику и собрать полный CAPEX.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30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280160"/>
            <a:ext cx="3840480" cy="3840480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3" name="Shape 1"/>
          <p:cNvSpPr/>
          <p:nvPr/>
        </p:nvSpPr>
        <p:spPr>
          <a:xfrm>
            <a:off x="10698480" y="-548640"/>
            <a:ext cx="2011680" cy="2011680"/>
          </a:xfrm>
          <a:prstGeom prst="ellipse">
            <a:avLst/>
          </a:prstGeom>
          <a:solidFill>
            <a:srgbClr val="E8A317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2801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БЮДЖЕТ ОБОРУДОВАНИЯ  ·  СМЕТА ПОСТАВКИ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94360" y="169164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Проект Kazbiofert</a:t>
            </a:r>
            <a:endParaRPr lang="en-US" sz="4600" dirty="0"/>
          </a:p>
        </p:txBody>
      </p:sp>
      <p:sp>
        <p:nvSpPr>
          <p:cNvPr id="6" name="Text 4"/>
          <p:cNvSpPr/>
          <p:nvPr/>
        </p:nvSpPr>
        <p:spPr>
          <a:xfrm>
            <a:off x="640080" y="26060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Sairam Biogas &amp; Fertilizers Factory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640080" y="33832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4F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Аналитический бриф по бюджету для подачи в </a:t>
            </a:r>
            <a:pPr indent="0" marL="0">
              <a:buNone/>
            </a:pPr>
            <a:r>
              <a:rPr lang="en-US" sz="1600" b="1" dirty="0">
                <a:solidFill>
                  <a:srgbClr val="E8A3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ФРП, БРК и БВУ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40080" y="507492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8A3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$13,03 млн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640080" y="553212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оценённая поставка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429000" y="507492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8A3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1 470+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3429000" y="553212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позиций оборудования, арматуры, КИП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217920" y="507492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8A3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Altaca (Турция)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6217920" y="553212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поставщик, ex-works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006840" y="507492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8A3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31.07.2026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9006840" y="553212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дата смет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6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E8A3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СВОДНАЯ СУММА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94360" y="82296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2A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Общая стоимость поставки и брейкдаун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3794760" cy="4206240"/>
          </a:xfrm>
          <a:prstGeom prst="roundRect">
            <a:avLst>
              <a:gd name="adj" fmla="val 2892"/>
            </a:avLst>
          </a:prstGeom>
          <a:solidFill>
            <a:srgbClr val="2C5F2D"/>
          </a:solidFill>
          <a:ln/>
          <a:effectLst>
            <a:outerShdw sx="100000" sy="100000" kx="0" ky="0" algn="bl" rotWithShape="0" blurRad="101600" dist="38100" dir="5400000">
              <a:srgbClr val="3B4A3B">
                <a:alpha val="3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68680" y="205740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ИТОГО, ОЦЕНЁННАЯ ПОСТАВКА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22960" y="2468880"/>
            <a:ext cx="3383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$13,03</a:t>
            </a:r>
            <a:endParaRPr lang="en-US" sz="6600" dirty="0"/>
          </a:p>
        </p:txBody>
      </p:sp>
      <p:sp>
        <p:nvSpPr>
          <p:cNvPr id="7" name="Text 5"/>
          <p:cNvSpPr/>
          <p:nvPr/>
        </p:nvSpPr>
        <p:spPr>
          <a:xfrm>
            <a:off x="868680" y="361188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A3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млн US$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68680" y="4160520"/>
            <a:ext cx="3337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F4F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Оборудование + арматура + КИПиА (ex-works).
</a:t>
            </a:r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E8A3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Электромонтаж не расценён — не входит.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709160" y="1737360"/>
            <a:ext cx="3429000" cy="201168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E2E7DB"/>
            </a:solidFill>
            <a:prstDash val="solid"/>
          </a:ln>
          <a:effectLst>
            <a:outerShdw sx="100000" sy="100000" kx="0" ky="0" algn="bl" rotWithShape="0" blurRad="76200" dist="25400" dir="5400000">
              <a:srgbClr val="C9D2C2">
                <a:alpha val="5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965192" y="2011680"/>
            <a:ext cx="256032" cy="256032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11" name="Text 9"/>
          <p:cNvSpPr/>
          <p:nvPr/>
        </p:nvSpPr>
        <p:spPr>
          <a:xfrm>
            <a:off x="5349240" y="1975104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Технологическое оборудование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965192" y="26060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$12,160,982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4965192" y="324612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453 позиции · USD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394192" y="1737360"/>
            <a:ext cx="3429000" cy="201168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E2E7DB"/>
            </a:solidFill>
            <a:prstDash val="solid"/>
          </a:ln>
          <a:effectLst>
            <a:outerShdw sx="100000" sy="100000" kx="0" ky="0" algn="bl" rotWithShape="0" blurRad="76200" dist="25400" dir="5400000">
              <a:srgbClr val="C9D2C2">
                <a:alpha val="5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650224" y="2011680"/>
            <a:ext cx="256032" cy="256032"/>
          </a:xfrm>
          <a:prstGeom prst="ellipse">
            <a:avLst/>
          </a:prstGeom>
          <a:solidFill>
            <a:srgbClr val="7FA650"/>
          </a:solidFill>
          <a:ln/>
        </p:spPr>
      </p:sp>
      <p:sp>
        <p:nvSpPr>
          <p:cNvPr id="16" name="Text 14"/>
          <p:cNvSpPr/>
          <p:nvPr/>
        </p:nvSpPr>
        <p:spPr>
          <a:xfrm>
            <a:off x="9034272" y="1975104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КИПиА (приборы)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8650224" y="26060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$561 705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8650224" y="324612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€520 097 · 509 позиций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709160" y="4005072"/>
            <a:ext cx="3429000" cy="201168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E2E7DB"/>
            </a:solidFill>
            <a:prstDash val="solid"/>
          </a:ln>
          <a:effectLst>
            <a:outerShdw sx="100000" sy="100000" kx="0" ky="0" algn="bl" rotWithShape="0" blurRad="76200" dist="25400" dir="5400000">
              <a:srgbClr val="C9D2C2">
                <a:alpha val="5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965192" y="4279392"/>
            <a:ext cx="256032" cy="256032"/>
          </a:xfrm>
          <a:prstGeom prst="ellipse">
            <a:avLst/>
          </a:prstGeom>
          <a:solidFill>
            <a:srgbClr val="7FA650"/>
          </a:solidFill>
          <a:ln/>
        </p:spPr>
      </p:sp>
      <p:sp>
        <p:nvSpPr>
          <p:cNvPr id="21" name="Text 19"/>
          <p:cNvSpPr/>
          <p:nvPr/>
        </p:nvSpPr>
        <p:spPr>
          <a:xfrm>
            <a:off x="5349240" y="4242816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Клапаны и арматура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965192" y="4873752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$310 104</a:t>
            </a:r>
            <a:endParaRPr lang="en-US" sz="3000" dirty="0"/>
          </a:p>
        </p:txBody>
      </p:sp>
      <p:sp>
        <p:nvSpPr>
          <p:cNvPr id="23" name="Text 21"/>
          <p:cNvSpPr/>
          <p:nvPr/>
        </p:nvSpPr>
        <p:spPr>
          <a:xfrm>
            <a:off x="4965192" y="5513832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€287 133 · ~1 700 позиций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8394192" y="4005072"/>
            <a:ext cx="3429000" cy="201168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9050">
            <a:solidFill>
              <a:srgbClr val="E8A317"/>
            </a:solidFill>
            <a:prstDash val="solid"/>
          </a:ln>
          <a:effectLst>
            <a:outerShdw sx="100000" sy="100000" kx="0" ky="0" algn="bl" rotWithShape="0" blurRad="76200" dist="25400" dir="5400000">
              <a:srgbClr val="C9D2C2">
                <a:alpha val="5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8650224" y="4279392"/>
            <a:ext cx="256032" cy="256032"/>
          </a:xfrm>
          <a:prstGeom prst="ellipse">
            <a:avLst/>
          </a:prstGeom>
          <a:solidFill>
            <a:srgbClr val="E8A317"/>
          </a:solidFill>
          <a:ln/>
        </p:spPr>
      </p:sp>
      <p:sp>
        <p:nvSpPr>
          <p:cNvPr id="26" name="Text 24"/>
          <p:cNvSpPr/>
          <p:nvPr/>
        </p:nvSpPr>
        <p:spPr>
          <a:xfrm>
            <a:off x="9034272" y="4242816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Электромонтажные работы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8650224" y="4873752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B5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не расценено</a:t>
            </a:r>
            <a:endParaRPr lang="en-US" sz="3000" dirty="0"/>
          </a:p>
        </p:txBody>
      </p:sp>
      <p:sp>
        <p:nvSpPr>
          <p:cNvPr id="28" name="Text 26"/>
          <p:cNvSpPr/>
          <p:nvPr/>
        </p:nvSpPr>
        <p:spPr>
          <a:xfrm>
            <a:off x="8650224" y="5513832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фаз · ~409 позиций · BOQ = 0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640080" y="61722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B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Пересчёт EUR→USD по курсу 1 EUR ≈ 1,08 USD (иллюстративно, требует актуализации на дату сделки). Все цены — net, без НДС, франко-завод.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E8A3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ОБОРУДОВАНИЕ · $12,16 МЛН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94360" y="82296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2A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Структура по технологическим секциям</a:t>
            </a:r>
            <a:endParaRPr lang="en-US" sz="32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600200"/>
          <a:ext cx="7223760" cy="4754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/>
          <p:nvPr/>
        </p:nvSpPr>
        <p:spPr>
          <a:xfrm>
            <a:off x="8138160" y="13716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E8A3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КРУПНЕЙШИЕ ГРУППЫ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8138160" y="1691640"/>
            <a:ext cx="3520440" cy="1371600"/>
          </a:xfrm>
          <a:prstGeom prst="roundRect">
            <a:avLst>
              <a:gd name="adj" fmla="val 5333"/>
            </a:avLst>
          </a:prstGeom>
          <a:solidFill>
            <a:srgbClr val="F4F6F0"/>
          </a:solidFill>
          <a:ln/>
        </p:spPr>
      </p:sp>
      <p:sp>
        <p:nvSpPr>
          <p:cNvPr id="7" name="Text 4"/>
          <p:cNvSpPr/>
          <p:nvPr/>
        </p:nvSpPr>
        <p:spPr>
          <a:xfrm>
            <a:off x="8366760" y="1856232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$2,55 млн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8366760" y="2441448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4× Биогазовые двигатели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8366760" y="2734056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BE-401…404 · когенерация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8138160" y="3227832"/>
            <a:ext cx="3520440" cy="1371600"/>
          </a:xfrm>
          <a:prstGeom prst="roundRect">
            <a:avLst>
              <a:gd name="adj" fmla="val 5333"/>
            </a:avLst>
          </a:prstGeom>
          <a:solidFill>
            <a:srgbClr val="F4F6F0"/>
          </a:solidFill>
          <a:ln/>
        </p:spPr>
      </p:sp>
      <p:sp>
        <p:nvSpPr>
          <p:cNvPr id="11" name="Text 8"/>
          <p:cNvSpPr/>
          <p:nvPr/>
        </p:nvSpPr>
        <p:spPr>
          <a:xfrm>
            <a:off x="8366760" y="3392424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$1,79 млн</a:t>
            </a:r>
            <a:endParaRPr lang="en-US" sz="2600" dirty="0"/>
          </a:p>
        </p:txBody>
      </p:sp>
      <p:sp>
        <p:nvSpPr>
          <p:cNvPr id="12" name="Text 9"/>
          <p:cNvSpPr/>
          <p:nvPr/>
        </p:nvSpPr>
        <p:spPr>
          <a:xfrm>
            <a:off x="8366760" y="397764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5× Реакторы 11 050 м³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8366760" y="427024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R-201…205 · стеклокомпозит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8138160" y="4764024"/>
            <a:ext cx="3520440" cy="1371600"/>
          </a:xfrm>
          <a:prstGeom prst="roundRect">
            <a:avLst>
              <a:gd name="adj" fmla="val 5333"/>
            </a:avLst>
          </a:prstGeom>
          <a:solidFill>
            <a:srgbClr val="F4F6F0"/>
          </a:solidFill>
          <a:ln/>
        </p:spPr>
      </p:sp>
      <p:sp>
        <p:nvSpPr>
          <p:cNvPr id="15" name="Text 12"/>
          <p:cNvSpPr/>
          <p:nvPr/>
        </p:nvSpPr>
        <p:spPr>
          <a:xfrm>
            <a:off x="8366760" y="4928616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$1,66 млн</a:t>
            </a:r>
            <a:endParaRPr lang="en-US" sz="2600" dirty="0"/>
          </a:p>
        </p:txBody>
      </p:sp>
      <p:sp>
        <p:nvSpPr>
          <p:cNvPr id="16" name="Text 13"/>
          <p:cNvSpPr/>
          <p:nvPr/>
        </p:nvSpPr>
        <p:spPr>
          <a:xfrm>
            <a:off x="8366760" y="5513832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Теплообменники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8366760" y="580644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HE-504, HE-502 и др.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630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E8A3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ГРАНИЦЫ БЮДЖЕТА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94360" y="82296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Что НЕ входит в текущую сумму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15087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Текущие $13,03 млн — это поставка оборудования «франко-завод». Полный CAPEX проекта существенно выше.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2148840"/>
            <a:ext cx="3611880" cy="1691640"/>
          </a:xfrm>
          <a:prstGeom prst="roundRect">
            <a:avLst>
              <a:gd name="adj" fmla="val 4324"/>
            </a:avLst>
          </a:prstGeom>
          <a:solidFill>
            <a:srgbClr val="1E3A24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2441448"/>
            <a:ext cx="310896" cy="310896"/>
          </a:xfrm>
          <a:prstGeom prst="ellipse">
            <a:avLst/>
          </a:prstGeom>
          <a:solidFill>
            <a:srgbClr val="E8A317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4231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30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!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353312" y="2404872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Электромонтаж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932688" y="2971800"/>
            <a:ext cx="3063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BOQ на 6 фаз есть, но все цены = 0 — раздел не расценён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480560" y="2148840"/>
            <a:ext cx="3611880" cy="1691640"/>
          </a:xfrm>
          <a:prstGeom prst="roundRect">
            <a:avLst>
              <a:gd name="adj" fmla="val 4324"/>
            </a:avLst>
          </a:prstGeom>
          <a:solidFill>
            <a:srgbClr val="1E3A24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754880" y="2441448"/>
            <a:ext cx="310896" cy="310896"/>
          </a:xfrm>
          <a:prstGeom prst="ellipse">
            <a:avLst/>
          </a:prstGeom>
          <a:solidFill>
            <a:srgbClr val="E8A317"/>
          </a:solidFill>
          <a:ln/>
        </p:spPr>
      </p:sp>
      <p:sp>
        <p:nvSpPr>
          <p:cNvPr id="12" name="Text 10"/>
          <p:cNvSpPr/>
          <p:nvPr/>
        </p:nvSpPr>
        <p:spPr>
          <a:xfrm>
            <a:off x="4754880" y="24231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30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!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5193792" y="2404872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СМР и строительство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773168" y="2971800"/>
            <a:ext cx="3063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Здания, фундаменты, ёмкости, лагуны, инфраструктура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8321040" y="2148840"/>
            <a:ext cx="3611880" cy="1691640"/>
          </a:xfrm>
          <a:prstGeom prst="roundRect">
            <a:avLst>
              <a:gd name="adj" fmla="val 4324"/>
            </a:avLst>
          </a:prstGeom>
          <a:solidFill>
            <a:srgbClr val="1E3A24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595360" y="2441448"/>
            <a:ext cx="310896" cy="310896"/>
          </a:xfrm>
          <a:prstGeom prst="ellipse">
            <a:avLst/>
          </a:prstGeom>
          <a:solidFill>
            <a:srgbClr val="E8A317"/>
          </a:solidFill>
          <a:ln/>
        </p:spPr>
      </p:sp>
      <p:sp>
        <p:nvSpPr>
          <p:cNvPr id="17" name="Text 15"/>
          <p:cNvSpPr/>
          <p:nvPr/>
        </p:nvSpPr>
        <p:spPr>
          <a:xfrm>
            <a:off x="8595360" y="24231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30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!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9034272" y="2404872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Монтаж и ПНР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8613648" y="2971800"/>
            <a:ext cx="3063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Установка и пусконаладка технологического оборудования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40080" y="4069080"/>
            <a:ext cx="3611880" cy="1691640"/>
          </a:xfrm>
          <a:prstGeom prst="roundRect">
            <a:avLst>
              <a:gd name="adj" fmla="val 4324"/>
            </a:avLst>
          </a:prstGeom>
          <a:solidFill>
            <a:srgbClr val="1E3A24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14400" y="4361688"/>
            <a:ext cx="310896" cy="310896"/>
          </a:xfrm>
          <a:prstGeom prst="ellipse">
            <a:avLst/>
          </a:prstGeom>
          <a:solidFill>
            <a:srgbClr val="E8A317"/>
          </a:solidFill>
          <a:ln/>
        </p:spPr>
      </p:sp>
      <p:sp>
        <p:nvSpPr>
          <p:cNvPr id="22" name="Text 20"/>
          <p:cNvSpPr/>
          <p:nvPr/>
        </p:nvSpPr>
        <p:spPr>
          <a:xfrm>
            <a:off x="914400" y="43434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30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!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1353312" y="4325112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Логистика и таможня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932688" y="4892040"/>
            <a:ext cx="3063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Доставка в Казахстан, растаможка, страхование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4480560" y="4069080"/>
            <a:ext cx="3611880" cy="1691640"/>
          </a:xfrm>
          <a:prstGeom prst="roundRect">
            <a:avLst>
              <a:gd name="adj" fmla="val 4324"/>
            </a:avLst>
          </a:prstGeom>
          <a:solidFill>
            <a:srgbClr val="1E3A24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754880" y="4361688"/>
            <a:ext cx="310896" cy="310896"/>
          </a:xfrm>
          <a:prstGeom prst="ellipse">
            <a:avLst/>
          </a:prstGeom>
          <a:solidFill>
            <a:srgbClr val="E8A317"/>
          </a:solidFill>
          <a:ln/>
        </p:spPr>
      </p:sp>
      <p:sp>
        <p:nvSpPr>
          <p:cNvPr id="27" name="Text 25"/>
          <p:cNvSpPr/>
          <p:nvPr/>
        </p:nvSpPr>
        <p:spPr>
          <a:xfrm>
            <a:off x="4754880" y="43434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30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!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5193792" y="4325112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НДС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4773168" y="4892040"/>
            <a:ext cx="3063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Все сметы — net, без НДС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8321040" y="4069080"/>
            <a:ext cx="3611880" cy="1691640"/>
          </a:xfrm>
          <a:prstGeom prst="roundRect">
            <a:avLst>
              <a:gd name="adj" fmla="val 4324"/>
            </a:avLst>
          </a:prstGeom>
          <a:solidFill>
            <a:srgbClr val="1E3A24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595360" y="4361688"/>
            <a:ext cx="310896" cy="310896"/>
          </a:xfrm>
          <a:prstGeom prst="ellipse">
            <a:avLst/>
          </a:prstGeom>
          <a:solidFill>
            <a:srgbClr val="E8A317"/>
          </a:solidFill>
          <a:ln/>
        </p:spPr>
      </p:sp>
      <p:sp>
        <p:nvSpPr>
          <p:cNvPr id="32" name="Text 30"/>
          <p:cNvSpPr/>
          <p:nvPr/>
        </p:nvSpPr>
        <p:spPr>
          <a:xfrm>
            <a:off x="8595360" y="43434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30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!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9034272" y="4325112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Инжиниринг и прочее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8613648" y="4892040"/>
            <a:ext cx="3063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Проектирование, земля, подключения, оборотный капитал, резерв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E8A3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ПЛАН ДЕЙСТВИЙ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94360" y="82296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2A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Что закрыть до подачи в ФРП / БРК / БВУ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1737360"/>
            <a:ext cx="566928" cy="566928"/>
          </a:xfrm>
          <a:prstGeom prst="ellipse">
            <a:avLst/>
          </a:prstGeom>
          <a:solidFill>
            <a:srgbClr val="E8A317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7373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554480" y="1719072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A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Расценить электромонтаж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554480" y="2057400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Заполнить BOQ (6 фаз, ~409 позиций) — сейчас нулевая строка в бюджете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731520" y="2670048"/>
            <a:ext cx="566928" cy="56692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2670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1554480" y="2651760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A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Собрать полный CAPEX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1554480" y="2990088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Добавить СМР, монтаж, ПНР, логистику, таможню, НДС, инжиниринг, резерв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31520" y="3602736"/>
            <a:ext cx="566928" cy="56692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13" name="Text 11"/>
          <p:cNvSpPr/>
          <p:nvPr/>
        </p:nvSpPr>
        <p:spPr>
          <a:xfrm>
            <a:off x="731520" y="360273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1554480" y="3584448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A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Свести в единую валюту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1554480" y="3922776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Зафиксировать курс EUR/USD/KZT на дату; убрать валютный разнобой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731520" y="4535424"/>
            <a:ext cx="566928" cy="56692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17" name="Text 15"/>
          <p:cNvSpPr/>
          <p:nvPr/>
        </p:nvSpPr>
        <p:spPr>
          <a:xfrm>
            <a:off x="731520" y="453542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1554480" y="4517136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A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Актуализировать цены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1554480" y="4855464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Срок действия предложений истёк (1 мес.); подтвердить у поставщика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731520" y="5468112"/>
            <a:ext cx="566928" cy="56692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21" name="Text 19"/>
          <p:cNvSpPr/>
          <p:nvPr/>
        </p:nvSpPr>
        <p:spPr>
          <a:xfrm>
            <a:off x="731520" y="54681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1554480" y="5449824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A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Структурировать финансирование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1554480" y="5788152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Разбить CAPEX на транши и источники под требования ФРП, БРК, БВУ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2026-08-03T12:49:15Z</dcterms:created>
  <dcterms:modified xsi:type="dcterms:W3CDTF">2026-08-03T12:49:15Z</dcterms:modified>
</cp:coreProperties>
</file>