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media/image19.jpg" ContentType="image/jpg"/>
  <Override PartName="/ppt/media/image20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0" r:id="rId29"/>
    <p:sldId id="281" r:id="rId30"/>
    <p:sldId id="282" r:id="rId31"/>
    <p:sldId id="283" r:id="rId32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AEC8D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A3746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Операц.
(выбытие)</c:v>
                </c:pt>
                <c:pt idx="1">
                  <c:v>Инвест.
(выбытие)</c:v>
                </c:pt>
                <c:pt idx="2">
                  <c:v>Финанс.
(поступл.)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106.6</c:v>
                </c:pt>
                <c:pt idx="1">
                  <c:v>427.9</c:v>
                </c:pt>
                <c:pt idx="2">
                  <c:v>564.6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93-48CE-A10A-C84B8E6DF2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2F66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A3746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Операц.
(выбытие)</c:v>
                </c:pt>
                <c:pt idx="1">
                  <c:v>Инвест.
(выбытие)</c:v>
                </c:pt>
                <c:pt idx="2">
                  <c:v>Финанс.
(поступл.)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59.8</c:v>
                </c:pt>
                <c:pt idx="1">
                  <c:v>183</c:v>
                </c:pt>
                <c:pt idx="2">
                  <c:v>241.5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93-48CE-A10A-C84B8E6DF2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A374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6350" cap="flat">
              <a:solidFill>
                <a:srgbClr val="DC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A374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F66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29C-4236-A3FE-5FAC544342A4}"/>
              </c:ext>
            </c:extLst>
          </c:dPt>
          <c:dPt>
            <c:idx val="1"/>
            <c:invertIfNegative val="0"/>
            <c:bubble3D val="0"/>
            <c:spPr>
              <a:solidFill>
                <a:srgbClr val="AEC8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9C-4236-A3FE-5FAC544342A4}"/>
              </c:ext>
            </c:extLst>
          </c:dPt>
          <c:dPt>
            <c:idx val="2"/>
            <c:invertIfNegative val="0"/>
            <c:bubble3D val="0"/>
            <c:spPr>
              <a:solidFill>
                <a:srgbClr val="C477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29C-4236-A3FE-5FAC544342A4}"/>
              </c:ext>
            </c:extLst>
          </c:dPt>
          <c:dPt>
            <c:idx val="3"/>
            <c:invertIfNegative val="0"/>
            <c:bubble3D val="0"/>
            <c:spPr>
              <a:solidFill>
                <a:srgbClr val="AEC8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29C-4236-A3FE-5FAC544342A4}"/>
              </c:ext>
            </c:extLst>
          </c:dPt>
          <c:dPt>
            <c:idx val="4"/>
            <c:invertIfNegative val="0"/>
            <c:bubble3D val="0"/>
            <c:spPr>
              <a:solidFill>
                <a:srgbClr val="244F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29C-4236-A3FE-5FAC544342A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2A3746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Первонач.
бюджет</c:v>
                </c:pt>
                <c:pt idx="1">
                  <c:v>Бюджет
5 мес.</c:v>
                </c:pt>
                <c:pt idx="2">
                  <c:v>Факт
5 мес.</c:v>
                </c:pt>
                <c:pt idx="3">
                  <c:v>Бюджет
7 мес.</c:v>
                </c:pt>
                <c:pt idx="4">
                  <c:v>Годовой
план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729</c:v>
                </c:pt>
                <c:pt idx="1">
                  <c:v>564.6</c:v>
                </c:pt>
                <c:pt idx="2">
                  <c:v>241.5</c:v>
                </c:pt>
                <c:pt idx="3">
                  <c:v>487</c:v>
                </c:pt>
                <c:pt idx="4">
                  <c:v>728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29C-4236-A3FE-5FAC544342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A374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0"/>
        </c:scaling>
        <c:delete val="0"/>
        <c:axPos val="l"/>
        <c:majorGridlines>
          <c:spPr>
            <a:ln w="6350" cap="flat">
              <a:solidFill>
                <a:srgbClr val="DC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Производство</c:v>
                </c:pt>
              </c:strCache>
            </c:strRef>
          </c:tx>
          <c:spPr>
            <a:ln w="28575">
              <a:solidFill>
                <a:srgbClr val="2F6690"/>
              </a:solidFill>
            </a:ln>
          </c:spPr>
          <c:marker>
            <c:symbol val="circle"/>
            <c:size val="5"/>
            <c:spPr>
              <a:solidFill>
                <a:srgbClr val="2F6690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2026п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</c:v>
                </c:pt>
                <c:pt idx="1">
                  <c:v>202</c:v>
                </c:pt>
                <c:pt idx="2">
                  <c:v>205</c:v>
                </c:pt>
                <c:pt idx="3">
                  <c:v>198</c:v>
                </c:pt>
                <c:pt idx="4">
                  <c:v>208</c:v>
                </c:pt>
                <c:pt idx="5">
                  <c:v>212</c:v>
                </c:pt>
                <c:pt idx="6">
                  <c:v>216</c:v>
                </c:pt>
                <c:pt idx="7">
                  <c:v>219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ln w="28575">
              <a:solidFill>
                <a:srgbClr val="C4772F"/>
              </a:solidFill>
            </a:ln>
          </c:spPr>
          <c:marker>
            <c:symbol val="circle"/>
            <c:size val="5"/>
            <c:spPr>
              <a:solidFill>
                <a:srgbClr val="C4772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2026п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190</c:v>
                </c:pt>
                <c:pt idx="1">
                  <c:v>193</c:v>
                </c:pt>
                <c:pt idx="2">
                  <c:v>195</c:v>
                </c:pt>
                <c:pt idx="3">
                  <c:v>185</c:v>
                </c:pt>
                <c:pt idx="4">
                  <c:v>198</c:v>
                </c:pt>
                <c:pt idx="5">
                  <c:v>204</c:v>
                </c:pt>
                <c:pt idx="6">
                  <c:v>208</c:v>
                </c:pt>
                <c:pt idx="7">
                  <c:v>211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CE3EB"/>
            </a:solidFill>
          </a:ln>
        </c:spPr>
        <c:txPr>
          <a:bodyPr/>
          <a:lstStyle/>
          <a:p>
            <a:pPr>
              <a:defRPr sz="750">
                <a:solidFill>
                  <a:srgbClr val="2A3746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30.0"/>
          <c:min val="160.0"/>
        </c:scaling>
        <c:delete val="0"/>
        <c:axPos val="l"/>
        <c:majorGridlines>
          <c:spPr>
            <a:ln w="9525">
              <a:solidFill>
                <a:srgbClr val="EAEFF4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6B7A8D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50">
              <a:solidFill>
                <a:srgbClr val="2A3746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2A374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кг/га</c:v>
                </c:pt>
              </c:strCache>
            </c:strRef>
          </c:tx>
          <c:dPt>
            <c:idx val="0"/>
            <c:spPr>
              <a:solidFill>
                <a:srgbClr val="C4772F"/>
              </a:solidFill>
            </c:spPr>
          </c:dPt>
          <c:dPt>
            <c:idx val="1"/>
            <c:spPr>
              <a:solidFill>
                <a:srgbClr val="2F6690"/>
              </a:solidFill>
            </c:spPr>
          </c:dPt>
          <c:dPt>
            <c:idx val="2"/>
            <c:spPr>
              <a:solidFill>
                <a:srgbClr val="2F6690"/>
              </a:solidFill>
            </c:spPr>
          </c:dPt>
          <c:dPt>
            <c:idx val="3"/>
            <c:spPr>
              <a:solidFill>
                <a:srgbClr val="2F6690"/>
              </a:solidFill>
            </c:spPr>
          </c:dPt>
          <c:cat>
            <c:strRef>
              <c:f>Sheet1!$A$2:$A$5</c:f>
              <c:strCache>
                <c:ptCount val="4"/>
                <c:pt idx="0">
                  <c:v>Казахстан</c:v>
                </c:pt>
                <c:pt idx="1">
                  <c:v>Афганистан</c:v>
                </c:pt>
                <c:pt idx="2">
                  <c:v>Узбекистан</c:v>
                </c:pt>
                <c:pt idx="3">
                  <c:v>Бразилия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150</c:v>
                </c:pt>
                <c:pt idx="3">
                  <c:v>344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 b="1">
                  <a:solidFill>
                    <a:srgbClr val="2A3746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CE3EB"/>
            </a:solidFill>
          </a:ln>
        </c:spPr>
        <c:txPr>
          <a:bodyPr/>
          <a:lstStyle/>
          <a:p>
            <a:pPr>
              <a:defRPr sz="800">
                <a:solidFill>
                  <a:srgbClr val="2A374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80.0"/>
        </c:scaling>
        <c:delete val="0"/>
        <c:axPos val="l"/>
        <c:majorGridlines>
          <c:spPr>
            <a:ln w="9525">
              <a:solidFill>
                <a:srgbClr val="EAEFF4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6B7A8D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A374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$/т</c:v>
                </c:pt>
              </c:strCache>
            </c:strRef>
          </c:tx>
          <c:dPt>
            <c:idx val="0"/>
            <c:spPr>
              <a:solidFill>
                <a:srgbClr val="5B8C6E"/>
              </a:solidFill>
            </c:spPr>
          </c:dPt>
          <c:dPt>
            <c:idx val="1"/>
            <c:spPr>
              <a:solidFill>
                <a:srgbClr val="2F6690"/>
              </a:solidFill>
            </c:spPr>
          </c:dPt>
          <c:dPt>
            <c:idx val="2"/>
            <c:spPr>
              <a:solidFill>
                <a:srgbClr val="13294B"/>
              </a:solidFill>
            </c:spPr>
          </c:dPt>
          <c:cat>
            <c:strRef>
              <c:f>Sheet1!$A$2:$A$4</c:f>
              <c:strCache>
                <c:ptCount val="3"/>
                <c:pt idx="0">
                  <c:v>Себест.
ОМУ</c:v>
                </c:pt>
                <c:pt idx="1">
                  <c:v>Цена
реализ.</c:v>
                </c:pt>
                <c:pt idx="2">
                  <c:v>Импорт
комплекс.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233</c:v>
                </c:pt>
                <c:pt idx="1">
                  <c:v>450</c:v>
                </c:pt>
                <c:pt idx="2">
                  <c:v>630</c:v>
                </c:pt>
              </c:numCache>
            </c:numRef>
          </c:val>
        </c:ser>
        <c:dLbls>
          <c:numFmt formatCode="$0" sourceLinked="0"/>
          <c:txPr>
            <a:bodyPr/>
            <a:lstStyle/>
            <a:p>
              <a:pPr>
                <a:defRPr sz="950" b="1">
                  <a:solidFill>
                    <a:srgbClr val="2A3746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CE3EB"/>
            </a:solidFill>
          </a:ln>
        </c:spPr>
        <c:txPr>
          <a:bodyPr/>
          <a:lstStyle/>
          <a:p>
            <a:pPr>
              <a:defRPr sz="800">
                <a:solidFill>
                  <a:srgbClr val="2A374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0.0"/>
        </c:scaling>
        <c:delete val="0"/>
        <c:axPos val="l"/>
        <c:majorGridlines>
          <c:spPr>
            <a:ln w="9525">
              <a:solidFill>
                <a:srgbClr val="EAEFF4"/>
              </a:solidFill>
            </a:ln>
          </c:spPr>
        </c:majorGridlines>
        <c:numFmt formatCode="$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6B7A8D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A374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67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9.png"/><Relationship Id="rId6" Type="http://schemas.openxmlformats.org/officeDocument/2006/relationships/image" Target="../media/image21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30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27.png"/><Relationship Id="rId11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41.png"/><Relationship Id="rId7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ДИРЕКТОРОВ KUSTO GROUP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KazBioFert / BBFF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8470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EC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Биогазовый завод и производство органоминеральных удобрений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Стратегический зелёный промышленный проект: биогаз, генерация энергии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производство органоминеральных удобрений в Казахстане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154680"/>
            <a:ext cx="2011680" cy="0"/>
          </a:xfrm>
          <a:prstGeom prst="line">
            <a:avLst/>
          </a:prstGeom>
          <a:noFill/>
          <a:ln w="19050">
            <a:solidFill>
              <a:srgbClr val="C4772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33101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Совета директоров Kusto Group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июля 2026  ·  г. Житикара, Костанайская область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КРАТКОЕ РЕЗЮМЕ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переходит из стадии подготовки в стадию проектного финансирования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04088" y="17190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assets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6080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</a:t>
            </a:r>
            <a:r>
              <a:rPr lang="en-US" sz="13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r>
              <a:rPr lang="ru-RU" sz="13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ится</a:t>
            </a: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 экспертизе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35608" y="19842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100%, адаптация под РК завершается; сдача на госэкспертизу — 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августа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начало сентября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27448" y="14813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928616" y="17190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1" descr="assets/icons/plu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48" y="186080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0136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 ~9</a:t>
            </a:r>
            <a:r>
              <a:rPr lang="ru-RU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660136" y="19842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ключевым ТУ получены положительные ответы: энергия, газ, вода, подъездные пути, связь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28529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04088" y="30906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6" name="Image 2" descr="assets/icons/mon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23240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5608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структурируется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35608" y="33558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ФРП (лизинг), Халык + гарантия БРК; цель — структура на уровне проектной компании без гарантий акционеров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27448" y="28529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4928616" y="30906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1" name="Image 3" descr="assets/icons/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0348" y="323240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0136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сбыта прорабатывается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660136" y="33558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 Agro, Фос-Агро, MakFert, UzKimyo Impex — перевод переговоров в предварительные соглашения по сбыту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4224528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731520" y="42245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фокус этапа: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завершение адаптации ПСД, прохождение госэкспертизы и структурирование финансирования на уровне проектной компании.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КРАТКОЕ РЕЗЮМЕ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КОРОТКО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Промышленная платформа на 17,29 га с тремя источниками выручки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66420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17,29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30936" y="223113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 — земельный участок (аренда 20 лет, внесён в УК)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60904" y="1481328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52344" y="166420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69 557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88920" y="223113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м² — производственные здания и сооружения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318211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" y="3749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здание и сооружение на площадке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60904" y="2999232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752344" y="318211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88920" y="3749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источника выручки: энергия, удобрения, карбон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481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ИСТОЧНИКА ВЫРУЧКИ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755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 </a:t>
            </a: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сельхозотходы и солома → биогаз (4 реактора)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2212848"/>
            <a:ext cx="530352" cy="530352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9" name="Image 0" descr="assets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8" y="2345436"/>
            <a:ext cx="26517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568696" y="217627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Электроэнергия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и продажа по тарифу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92040" y="2926080"/>
            <a:ext cx="530352" cy="530352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2" name="Image 1" descr="assets/icons/seedl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3058668"/>
            <a:ext cx="265176" cy="26517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68696" y="28895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Удобрения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Органоминеральные удобрения (ОМУ)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892040" y="3639312"/>
            <a:ext cx="530352" cy="530352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5" name="Image 2" descr="assets/icons/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628" y="3771900"/>
            <a:ext cx="265176" cy="2651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68696" y="360273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Карбоновые офсеты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Углеродные единицы от снижения метана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КОРОТКО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СТРАТЕГИЧЕСКОЕ ОБОСНОВАНИЕ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пять государственных и рыночных задач — это инвестиционная защита проекта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04088" y="1664208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assets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013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Импортозамещение удобрений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2495101"/>
            <a:ext cx="2377440" cy="24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зависимости Казахстана от импортных минеральных удобрений собственным производством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3264408" y="14630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465576" y="1664208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1" descr="assets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18013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288" y="22860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Возобновляемая энергия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47288" y="25603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«зелёной» электроэнергии по тарифу и в рамках национальной повестки ВИЭ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6025896" y="14630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27064" y="1664208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6" name="Image 2" descr="assets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8013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08776" y="22860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отходами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08776" y="25603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Переработка сельхозотходов и органики — circular economy на региональном уровне</a:t>
            </a:r>
            <a:endParaRPr lang="en-US" sz="870" dirty="0"/>
          </a:p>
        </p:txBody>
      </p:sp>
      <p:sp>
        <p:nvSpPr>
          <p:cNvPr id="19" name="Shape 14"/>
          <p:cNvSpPr/>
          <p:nvPr/>
        </p:nvSpPr>
        <p:spPr>
          <a:xfrm>
            <a:off x="502920" y="3026664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04088" y="3227832"/>
            <a:ext cx="548640" cy="54864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1" name="Image 3" descr="assets/icons/leaf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36499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38496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Углеродная повестка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85800" y="4041709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выбросов метана и потенциал монетизации через продажу углеродных единиц</a:t>
            </a:r>
            <a:endParaRPr lang="en-US" sz="870" dirty="0"/>
          </a:p>
        </p:txBody>
      </p:sp>
      <p:sp>
        <p:nvSpPr>
          <p:cNvPr id="24" name="Shape 18"/>
          <p:cNvSpPr/>
          <p:nvPr/>
        </p:nvSpPr>
        <p:spPr>
          <a:xfrm>
            <a:off x="3264408" y="3026664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3465576" y="3227832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6" name="Image 4" descr="assets/icons/industr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736" y="336499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47288" y="38496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Региональное развитие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47288" y="412394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Промышленный актив, рабочие места и инфраструктура в Сайрамском районе</a:t>
            </a:r>
            <a:endParaRPr lang="en-US" sz="870" dirty="0"/>
          </a:p>
        </p:txBody>
      </p:sp>
      <p:sp>
        <p:nvSpPr>
          <p:cNvPr id="29" name="Shape 22"/>
          <p:cNvSpPr/>
          <p:nvPr/>
        </p:nvSpPr>
        <p:spPr>
          <a:xfrm>
            <a:off x="6025896" y="3026664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6227064" y="3227832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1" name="Image 5" descr="assets/icons/targ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36499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08776" y="38496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модели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08776" y="4041709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Диверсифицированная выручка: энергия + удобрения + возможные углеродные и грантовые поступления</a:t>
            </a:r>
            <a:endParaRPr lang="en-US" sz="870" dirty="0"/>
          </a:p>
        </p:txBody>
      </p:sp>
      <p:sp>
        <p:nvSpPr>
          <p:cNvPr id="34" name="Text 26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НАПРАВЛЕНИЯ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шесть направлений в работе; критический путь — ПСД, тариф и финансирование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21792" y="1531620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assets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2306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6424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97480" y="1463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выполнено, часть передана адапторам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6492240" y="14630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589520" y="15773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F669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589520" y="15773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2920" y="2007108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21792" y="2075688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4" name="Image 1" descr="assets/icons/syn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167128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6424" y="20071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ПСД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697480" y="20071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переведены, адаптация решений завершается</a:t>
            </a:r>
            <a:endParaRPr lang="en-US" sz="980" dirty="0"/>
          </a:p>
        </p:txBody>
      </p:sp>
      <p:sp>
        <p:nvSpPr>
          <p:cNvPr id="17" name="Text 13"/>
          <p:cNvSpPr/>
          <p:nvPr/>
        </p:nvSpPr>
        <p:spPr>
          <a:xfrm>
            <a:off x="6492240" y="20071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</a:t>
            </a: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589520" y="21214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758952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2920" y="2551176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621792" y="2619756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2" name="Image 2" descr="assets/icons/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711196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06424" y="25511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Земельный участок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2697480" y="25511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17,29 га получен, назначение изменено, внесён в УК</a:t>
            </a:r>
            <a:endParaRPr lang="en-US" sz="980" dirty="0"/>
          </a:p>
        </p:txBody>
      </p:sp>
      <p:sp>
        <p:nvSpPr>
          <p:cNvPr id="25" name="Text 20"/>
          <p:cNvSpPr/>
          <p:nvPr/>
        </p:nvSpPr>
        <p:spPr>
          <a:xfrm>
            <a:off x="6492240" y="255117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Март 2026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589520" y="266547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F6690"/>
          </a:solidFill>
          <a:ln/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7589520" y="26654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502920" y="3095244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621792" y="3163824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0" name="Image 3" descr="assets/icon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255264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06424" y="30952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на электроэнергию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2697480" y="30952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Раскрыта БГ; рассматривается повторный аукцион</a:t>
            </a:r>
            <a:endParaRPr lang="en-US" sz="980" dirty="0"/>
          </a:p>
        </p:txBody>
      </p:sp>
      <p:sp>
        <p:nvSpPr>
          <p:cNvPr id="33" name="Text 27"/>
          <p:cNvSpPr/>
          <p:nvPr/>
        </p:nvSpPr>
        <p:spPr>
          <a:xfrm>
            <a:off x="6492240" y="309524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решения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589520" y="32095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B4432E"/>
          </a:solidFill>
          <a:ln/>
        </p:spPr>
        <p:txBody>
          <a:bodyPr/>
          <a:p/>
        </p:txBody>
      </p:sp>
      <p:sp>
        <p:nvSpPr>
          <p:cNvPr id="35" name="Text 29"/>
          <p:cNvSpPr/>
          <p:nvPr/>
        </p:nvSpPr>
        <p:spPr>
          <a:xfrm>
            <a:off x="7589520" y="3209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502920" y="3639312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Shape 31"/>
          <p:cNvSpPr/>
          <p:nvPr/>
        </p:nvSpPr>
        <p:spPr>
          <a:xfrm>
            <a:off x="621792" y="370789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8" name="Image 4" descr="assets/icons/mone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799332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06424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2697480" y="36393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проработке у ФРП, БРК, БВУ; структурируется</a:t>
            </a:r>
            <a:endParaRPr lang="en-US" sz="980" dirty="0"/>
          </a:p>
        </p:txBody>
      </p:sp>
      <p:sp>
        <p:nvSpPr>
          <p:cNvPr id="41" name="Text 34"/>
          <p:cNvSpPr/>
          <p:nvPr/>
        </p:nvSpPr>
        <p:spPr>
          <a:xfrm>
            <a:off x="6492240" y="36393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кв. 2026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7589520" y="375361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p/>
        </p:txBody>
      </p:sp>
      <p:sp>
        <p:nvSpPr>
          <p:cNvPr id="43" name="Text 36"/>
          <p:cNvSpPr/>
          <p:nvPr/>
        </p:nvSpPr>
        <p:spPr>
          <a:xfrm>
            <a:off x="7589520" y="37536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02920" y="418338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38"/>
          <p:cNvSpPr/>
          <p:nvPr/>
        </p:nvSpPr>
        <p:spPr>
          <a:xfrm>
            <a:off x="621792" y="4251960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6" name="Image 5" descr="assets/icons/handshak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343400"/>
            <a:ext cx="182880" cy="18288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106424" y="41833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 / сбыт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2697480" y="41833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Переговоры с трейдерами; твёрдые договоры </a:t>
            </a:r>
            <a:r>
              <a:rPr lang="en-US" sz="9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начала </a:t>
            </a: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СМР</a:t>
            </a:r>
            <a:endParaRPr lang="en-US" sz="980" dirty="0"/>
          </a:p>
        </p:txBody>
      </p:sp>
      <p:sp>
        <p:nvSpPr>
          <p:cNvPr id="49" name="Text 41"/>
          <p:cNvSpPr/>
          <p:nvPr/>
        </p:nvSpPr>
        <p:spPr>
          <a:xfrm>
            <a:off x="6492240" y="41833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 2026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7589520" y="4297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p/>
        </p:txBody>
      </p:sp>
      <p:sp>
        <p:nvSpPr>
          <p:cNvPr id="51" name="Text 43"/>
          <p:cNvSpPr/>
          <p:nvPr/>
        </p:nvSpPr>
        <p:spPr>
          <a:xfrm>
            <a:off x="758952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53" name="Text 45"/>
          <p:cNvSpPr/>
          <p:nvPr/>
        </p:nvSpPr>
        <p:spPr>
          <a:xfrm>
            <a:off x="7385539" y="4814433"/>
            <a:ext cx="1531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 И ТЕХНИЧЕСКИЕ УСЛОВИЯ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ТУ 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получено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по ключевым инженерным направлениям — положительные ответы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828800" cy="283464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783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</a:t>
            </a:r>
            <a:r>
              <a:rPr lang="ru-RU" sz="44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44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по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разрешительной части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1280160" cy="0"/>
          </a:xfrm>
          <a:prstGeom prst="line">
            <a:avLst/>
          </a:prstGeom>
          <a:noFill/>
          <a:ln w="12700">
            <a:solidFill>
              <a:srgbClr val="5B8CB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331012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из 10 </a:t>
            </a:r>
            <a:r>
              <a:rPr lang="en-US" sz="10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направлений — положительный ответ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148132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ПОЛОЖИТЕЛЬНЫЙ ОТВЕТ</a:t>
            </a:r>
            <a:endParaRPr lang="en-US" sz="950" dirty="0"/>
          </a:p>
        </p:txBody>
      </p:sp>
      <p:pic>
        <p:nvPicPr>
          <p:cNvPr id="10" name="Image 0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764792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62072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— ОЖТ</a:t>
            </a:r>
            <a:endParaRPr lang="en-US" sz="1000" dirty="0"/>
          </a:p>
        </p:txBody>
      </p:sp>
      <p:pic>
        <p:nvPicPr>
          <p:cNvPr id="12" name="Image 1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76479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9788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Потребление — ОЖТ</a:t>
            </a:r>
            <a:endParaRPr lang="en-US" sz="1000" dirty="0"/>
          </a:p>
        </p:txBody>
      </p:sp>
      <p:pic>
        <p:nvPicPr>
          <p:cNvPr id="14" name="Image 2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14884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62072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 — QazaqGaz Aimaq</a:t>
            </a:r>
            <a:endParaRPr lang="en-US" sz="1000" dirty="0"/>
          </a:p>
        </p:txBody>
      </p:sp>
      <p:pic>
        <p:nvPicPr>
          <p:cNvPr id="16" name="Image 3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1488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97880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 отработанной воды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ГКП «Аксу»</a:t>
            </a:r>
            <a:endParaRPr lang="en-US" sz="1000" dirty="0"/>
          </a:p>
        </p:txBody>
      </p:sp>
      <p:pic>
        <p:nvPicPr>
          <p:cNvPr id="18" name="Image 4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532888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862072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Подъездные пути — 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кимат</a:t>
            </a:r>
            <a:endParaRPr lang="en-US" sz="1000" dirty="0"/>
          </a:p>
        </p:txBody>
      </p:sp>
      <p:pic>
        <p:nvPicPr>
          <p:cNvPr id="20" name="Image 5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53288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897880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КТЖ ВЛ-10</a:t>
            </a:r>
            <a:endParaRPr lang="en-US" sz="1000" dirty="0"/>
          </a:p>
        </p:txBody>
      </p:sp>
      <p:pic>
        <p:nvPicPr>
          <p:cNvPr id="22" name="Image 6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916936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862072" y="2889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— Казахтелеком / Jusan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606040" y="340156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2624328" y="3703320"/>
            <a:ext cx="137160" cy="137160"/>
          </a:xfrm>
          <a:prstGeom prst="ellipse">
            <a:avLst/>
          </a:prstGeom>
          <a:solidFill>
            <a:srgbClr val="C4772F"/>
          </a:solidFill>
          <a:ln/>
        </p:spPr>
        <p:txBody>
          <a:bodyPr/>
          <a:p/>
        </p:txBody>
      </p:sp>
      <p:sp>
        <p:nvSpPr>
          <p:cNvPr id="26" name="Text 17"/>
          <p:cNvSpPr/>
          <p:nvPr/>
        </p:nvSpPr>
        <p:spPr>
          <a:xfrm>
            <a:off x="2862072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Скважина - 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Арало-Сырдар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бас. </a:t>
            </a:r>
            <a:r>
              <a:rPr lang="kk-KZ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нспекция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5660136" y="3703320"/>
            <a:ext cx="137160" cy="137160"/>
          </a:xfrm>
          <a:prstGeom prst="ellipse">
            <a:avLst/>
          </a:prstGeom>
          <a:solidFill>
            <a:srgbClr val="C4772F"/>
          </a:solidFill>
          <a:ln/>
        </p:spPr>
        <p:txBody>
          <a:bodyPr/>
          <a:p/>
        </p:txBody>
      </p:sp>
      <p:sp>
        <p:nvSpPr>
          <p:cNvPr id="28" name="Text 19"/>
          <p:cNvSpPr/>
          <p:nvPr/>
        </p:nvSpPr>
        <p:spPr>
          <a:xfrm>
            <a:off x="589788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ВЛ-35 (SALUS)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альтернатива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2624328" y="4087368"/>
            <a:ext cx="137160" cy="137160"/>
          </a:xfrm>
          <a:prstGeom prst="ellipse">
            <a:avLst/>
          </a:prstGeom>
          <a:solidFill>
            <a:srgbClr val="C4772F"/>
          </a:solidFill>
          <a:ln/>
        </p:spPr>
        <p:txBody>
          <a:bodyPr/>
          <a:p/>
        </p:txBody>
      </p:sp>
      <p:sp>
        <p:nvSpPr>
          <p:cNvPr id="30" name="Text 21"/>
          <p:cNvSpPr/>
          <p:nvPr/>
        </p:nvSpPr>
        <p:spPr>
          <a:xfrm>
            <a:off x="2862072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ОВОС — обществ. слушания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2" name="Text 23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57552" y="1828800"/>
            <a:ext cx="7778262" cy="54864"/>
          </a:xfrm>
          <a:prstGeom prst="line">
            <a:avLst/>
          </a:prstGeom>
          <a:noFill/>
          <a:ln w="25400">
            <a:solidFill>
              <a:srgbClr val="DCE3EB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820520" y="160020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И ГРАФИК ГОСЭКСПЕРТИЗЫ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Критический путь: госэкспертиза → ОВОС → рассмотрение финансовыми институтами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05828" y="160020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assets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128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68668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 </a:t>
            </a: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868668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ru-RU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ПСД на </a:t>
            </a:r>
            <a:r>
              <a:rPr lang="ru-RU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гос.экспертизу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868668" y="2971800"/>
            <a:ext cx="16248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Окончание п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еревод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адаптация технологической и производственной документации под требования РК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878005" y="160020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1" descr="assets/icons/file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820" y="1696681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0845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Октябрь </a:t>
            </a: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40845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ru-RU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ОВОС – эко экспертиза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740845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Экологическая экспертиза через общественные слушания</a:t>
            </a:r>
            <a:endParaRPr lang="en-US" sz="930" dirty="0"/>
          </a:p>
        </p:txBody>
      </p:sp>
      <p:pic>
        <p:nvPicPr>
          <p:cNvPr id="16" name="Image 2" descr="assets/icons/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305" y="170336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83360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</a:t>
            </a: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683360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Государственная</a:t>
            </a: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экспертиза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83360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положительного заключения </a:t>
            </a:r>
            <a:r>
              <a:rPr lang="ru-RU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Гос.экспертизы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7751314" y="1600200"/>
            <a:ext cx="457200" cy="45720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1" name="Image 3" descr="assets/icons/mone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5614" y="171450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4154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</a:t>
            </a:r>
            <a:r>
              <a:rPr lang="en-US" sz="10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614154" y="2423160"/>
            <a:ext cx="1635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Финансовое рассмотрение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614154" y="2807207"/>
            <a:ext cx="1418503" cy="1216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п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акет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положительным заключением </a:t>
            </a:r>
            <a:r>
              <a:rPr lang="ru-RU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гос.экспертизы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финансирования ФРП, БРК и БВУ;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финансирования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ru-RU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2027 года</a:t>
            </a:r>
            <a:endParaRPr lang="en-US" sz="930" b="1" dirty="0"/>
          </a:p>
        </p:txBody>
      </p:sp>
      <p:sp>
        <p:nvSpPr>
          <p:cNvPr id="25" name="Shape 19"/>
          <p:cNvSpPr/>
          <p:nvPr/>
        </p:nvSpPr>
        <p:spPr>
          <a:xfrm>
            <a:off x="502920" y="416052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6" name="Image 4" descr="assets/icons/clock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31596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7280" y="41605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</a:t>
            </a:r>
            <a:r>
              <a:rPr lang="en-US" sz="10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инансировани</a:t>
            </a:r>
            <a:r>
              <a:rPr lang="ru-RU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</a:t>
            </a:r>
            <a:r>
              <a:rPr lang="ru-RU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</a:t>
            </a:r>
            <a:r>
              <a:rPr lang="en-US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быть</a:t>
            </a:r>
            <a:r>
              <a:rPr lang="en-US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синхронизирован</a:t>
            </a:r>
            <a:r>
              <a:rPr lang="ru-RU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10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</a:t>
            </a:r>
            <a:r>
              <a:rPr lang="ru-RU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</a:t>
            </a:r>
            <a:r>
              <a:rPr lang="en-US" sz="10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финансирования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ПСД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401820D7-19C2-5B39-C309-17524D40CEB1}"/>
              </a:ext>
            </a:extLst>
          </p:cNvPr>
          <p:cNvSpPr/>
          <p:nvPr/>
        </p:nvSpPr>
        <p:spPr>
          <a:xfrm>
            <a:off x="247368" y="1609344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09D9FA05-47D3-50A4-A791-6362F4C22DC4}"/>
              </a:ext>
            </a:extLst>
          </p:cNvPr>
          <p:cNvSpPr/>
          <p:nvPr/>
        </p:nvSpPr>
        <p:spPr>
          <a:xfrm>
            <a:off x="162953" y="21828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Июль-Август 2025</a:t>
            </a:r>
            <a:endParaRPr lang="en-US" sz="105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145807CF-DC76-8983-2B35-EBE40351CFA9}"/>
              </a:ext>
            </a:extLst>
          </p:cNvPr>
          <p:cNvSpPr/>
          <p:nvPr/>
        </p:nvSpPr>
        <p:spPr>
          <a:xfrm>
            <a:off x="162953" y="24388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</a:t>
            </a:r>
            <a:r>
              <a:rPr lang="ru-RU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ционные</a:t>
            </a:r>
            <a:r>
              <a:rPr lang="ru-RU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работы</a:t>
            </a: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ПСД</a:t>
            </a:r>
            <a:endParaRPr lang="en-US" sz="125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7338EACF-C322-540D-F9D3-EF25E9BC6ED4}"/>
              </a:ext>
            </a:extLst>
          </p:cNvPr>
          <p:cNvSpPr/>
          <p:nvPr/>
        </p:nvSpPr>
        <p:spPr>
          <a:xfrm>
            <a:off x="162953" y="2987508"/>
            <a:ext cx="15685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 по адаптации и приведению ПСД к СНИПам и ГОСТам к РК</a:t>
            </a:r>
            <a:endParaRPr lang="en-US" sz="930" dirty="0"/>
          </a:p>
        </p:txBody>
      </p:sp>
      <p:pic>
        <p:nvPicPr>
          <p:cNvPr id="40" name="Image 0" descr="assets/icons/compass_white.png">
            <a:extLst>
              <a:ext uri="{FF2B5EF4-FFF2-40B4-BE49-F238E27FC236}">
                <a16:creationId xmlns:a16="http://schemas.microsoft.com/office/drawing/2014/main" id="{8CDECF00-CDEA-17D5-1A46-085D0CAFF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5" y="1707699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ФИНАНСИРОВАНИЯ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Открытие финансирования сдвигается с августа–сентября на декабрь 2026 из-за адаптационных работ ПСД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99339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F669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9933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ПЛАН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97480" y="2148840"/>
            <a:ext cx="5212080" cy="0"/>
          </a:xfrm>
          <a:prstGeom prst="line">
            <a:avLst/>
          </a:prstGeom>
          <a:noFill/>
          <a:ln w="19050">
            <a:solidFill>
              <a:srgbClr val="DCE3E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898648" y="202996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194560" y="1581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→ госэкспертиза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9456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Июнь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21808" y="202996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1581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Госэкспертиза + ОВОС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1772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Июль–август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44968" y="2029968"/>
            <a:ext cx="237744" cy="237744"/>
          </a:xfrm>
          <a:prstGeom prst="ellipse">
            <a:avLst/>
          </a:prstGeom>
          <a:solidFill>
            <a:srgbClr val="C4772F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040880" y="1581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+ СМР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4088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Август–сентябрь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2724912"/>
            <a:ext cx="4846320" cy="310896"/>
          </a:xfrm>
          <a:prstGeom prst="roundRect">
            <a:avLst>
              <a:gd name="adj" fmla="val 50000"/>
            </a:avLst>
          </a:prstGeom>
          <a:solidFill>
            <a:srgbClr val="F7ECE0"/>
          </a:solidFill>
          <a:ln w="12700">
            <a:solidFill>
              <a:srgbClr val="E0A46A"/>
            </a:solidFill>
            <a:prstDash val="solid"/>
          </a:ln>
        </p:spPr>
        <p:txBody>
          <a:bodyPr/>
          <a:p/>
        </p:txBody>
      </p:sp>
      <p:pic>
        <p:nvPicPr>
          <p:cNvPr id="17" name="Image 0" descr="assets/icons/arrowright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98064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456432" y="27249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открытия финансирования ≈ </a:t>
            </a:r>
            <a:r>
              <a:rPr lang="ru-RU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</a:t>
            </a:r>
            <a:r>
              <a:rPr lang="ru-RU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</a:t>
            </a: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9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авг–сен → I </a:t>
            </a:r>
            <a:r>
              <a:rPr lang="ru-RU" sz="9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2027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45643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02920" y="34564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ПЕРЕСМОТРЕННЫЙ ПЛАН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697480" y="3611880"/>
            <a:ext cx="5212080" cy="0"/>
          </a:xfrm>
          <a:prstGeom prst="line">
            <a:avLst/>
          </a:prstGeom>
          <a:noFill/>
          <a:ln w="19050">
            <a:solidFill>
              <a:srgbClr val="DCE3EB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2898648" y="349300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19456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ПСД (расшир.)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19456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II–III кв.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14088" y="349300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81000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→ госэкспертиза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81000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129528" y="349300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42544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Госэкспертиза + ОВОС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42544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Сен.–нояб.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744968" y="3493008"/>
            <a:ext cx="237744" cy="237744"/>
          </a:xfrm>
          <a:prstGeom prst="ellipse">
            <a:avLst/>
          </a:prstGeom>
          <a:solidFill>
            <a:srgbClr val="C4772F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04088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+ СМР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04088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ru-RU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2027 г.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5" name="Image 1" descr="assets/icons/sync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416552"/>
            <a:ext cx="237744" cy="23774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060704" y="4315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сдвига:  </a:t>
            </a:r>
            <a:r>
              <a:rPr lang="ru-RU" sz="93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ПСД от </a:t>
            </a:r>
            <a:r>
              <a:rPr lang="en-US" sz="93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ALTACA </a:t>
            </a:r>
            <a:r>
              <a:rPr lang="ru-RU" sz="93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3 мес.; 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адаптационн</a:t>
            </a:r>
            <a:r>
              <a:rPr lang="ru-RU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ых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ПСД под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РК</a:t>
            </a:r>
            <a:endParaRPr lang="en-US" sz="930" dirty="0"/>
          </a:p>
        </p:txBody>
      </p:sp>
      <p:sp>
        <p:nvSpPr>
          <p:cNvPr id="37" name="Text 33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И ПЛОЩАДКА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 из 31 здания и сооружения на 69 557 м² — полный производственный цикл на одной площадке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21208" y="1362456"/>
            <a:ext cx="4032504" cy="2292286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pic>
        <p:nvPicPr>
          <p:cNvPr id="5" name="Image 0" descr="assets/iso_complex_fl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9888"/>
            <a:ext cx="3977640" cy="22374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73031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комплекса — реакторы, цеха, склады, лагуны</a:t>
            </a:r>
            <a:endParaRPr lang="en-US" sz="870" dirty="0"/>
          </a:p>
        </p:txBody>
      </p:sp>
      <p:sp>
        <p:nvSpPr>
          <p:cNvPr id="7" name="Shape 4"/>
          <p:cNvSpPr/>
          <p:nvPr/>
        </p:nvSpPr>
        <p:spPr>
          <a:xfrm>
            <a:off x="4590288" y="1362456"/>
            <a:ext cx="4032504" cy="2292286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pic>
        <p:nvPicPr>
          <p:cNvPr id="8" name="Image 1" descr="assets/aerial_close_fla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389888"/>
            <a:ext cx="3977640" cy="22374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7720" y="3673031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Аэроснимок площадки в границах участка 17,29 га</a:t>
            </a:r>
            <a:endParaRPr lang="en-US" sz="870" dirty="0"/>
          </a:p>
        </p:txBody>
      </p:sp>
      <p:sp>
        <p:nvSpPr>
          <p:cNvPr id="10" name="Shape 6"/>
          <p:cNvSpPr/>
          <p:nvPr/>
        </p:nvSpPr>
        <p:spPr>
          <a:xfrm>
            <a:off x="50292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109728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2" name="Image 2" descr="assets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09651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сырья</a:t>
            </a:r>
            <a:endParaRPr lang="en-US" sz="980" dirty="0"/>
          </a:p>
        </p:txBody>
      </p:sp>
      <p:sp>
        <p:nvSpPr>
          <p:cNvPr id="14" name="Text 9"/>
          <p:cNvSpPr/>
          <p:nvPr/>
        </p:nvSpPr>
        <p:spPr>
          <a:xfrm>
            <a:off x="53949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соломы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214884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274320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7" name="Image 3" descr="assets/icons/ga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409651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8541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Биогаз</a:t>
            </a:r>
            <a:endParaRPr lang="en-US" sz="980" dirty="0"/>
          </a:p>
        </p:txBody>
      </p:sp>
      <p:sp>
        <p:nvSpPr>
          <p:cNvPr id="19" name="Text 13"/>
          <p:cNvSpPr/>
          <p:nvPr/>
        </p:nvSpPr>
        <p:spPr>
          <a:xfrm>
            <a:off x="218541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реактора · 8 лагун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379476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438912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2" name="Image 4" descr="assets/icon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4096512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3133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Энергия и тепло</a:t>
            </a:r>
            <a:endParaRPr lang="en-US" sz="980" dirty="0"/>
          </a:p>
        </p:txBody>
      </p:sp>
      <p:sp>
        <p:nvSpPr>
          <p:cNvPr id="24" name="Text 17"/>
          <p:cNvSpPr/>
          <p:nvPr/>
        </p:nvSpPr>
        <p:spPr>
          <a:xfrm>
            <a:off x="383133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· декантер</a:t>
            </a:r>
            <a:endParaRPr lang="en-US" sz="700" dirty="0"/>
          </a:p>
        </p:txBody>
      </p:sp>
      <p:sp>
        <p:nvSpPr>
          <p:cNvPr id="25" name="Shape 18"/>
          <p:cNvSpPr/>
          <p:nvPr/>
        </p:nvSpPr>
        <p:spPr>
          <a:xfrm>
            <a:off x="544068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603504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7" name="Image 5" descr="assets/icons/seedlin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096512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7725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Удобрения</a:t>
            </a:r>
            <a:endParaRPr lang="en-US" sz="980" dirty="0"/>
          </a:p>
        </p:txBody>
      </p:sp>
      <p:sp>
        <p:nvSpPr>
          <p:cNvPr id="29" name="Text 21"/>
          <p:cNvSpPr/>
          <p:nvPr/>
        </p:nvSpPr>
        <p:spPr>
          <a:xfrm>
            <a:off x="547725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компост · ОМУ · склады</a:t>
            </a:r>
            <a:endParaRPr lang="en-US" sz="700" dirty="0"/>
          </a:p>
        </p:txBody>
      </p:sp>
      <p:sp>
        <p:nvSpPr>
          <p:cNvPr id="30" name="Shape 22"/>
          <p:cNvSpPr/>
          <p:nvPr/>
        </p:nvSpPr>
        <p:spPr>
          <a:xfrm>
            <a:off x="708660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Shape 23"/>
          <p:cNvSpPr/>
          <p:nvPr/>
        </p:nvSpPr>
        <p:spPr>
          <a:xfrm>
            <a:off x="7680960" y="4005072"/>
            <a:ext cx="365760" cy="36576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2" name="Image 6" descr="assets/icons/building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4096512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2317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980" dirty="0"/>
          </a:p>
        </p:txBody>
      </p:sp>
      <p:sp>
        <p:nvSpPr>
          <p:cNvPr id="34" name="Text 25"/>
          <p:cNvSpPr/>
          <p:nvPr/>
        </p:nvSpPr>
        <p:spPr>
          <a:xfrm>
            <a:off x="712317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 · КПП · сети</a:t>
            </a:r>
            <a:endParaRPr lang="en-US" sz="700" dirty="0"/>
          </a:p>
        </p:txBody>
      </p:sp>
      <p:sp>
        <p:nvSpPr>
          <p:cNvPr id="35" name="Text 26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6" name="Text 27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СТРУКТУРА ФИНАНСИРОВАНИЯ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Действующая схема: лизинг ФРП и гарантия БРК; собственное участие ~4,8 млрд ₸ (≈20% проекта)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136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727448" y="1508760"/>
            <a:ext cx="39136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22376" y="1728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7" name="Image 0" descr="assets/icons/univers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8653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172821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ФРП — оборудование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0664" y="242316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 </a:t>
            </a: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₸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40664" y="2990088"/>
            <a:ext cx="3438144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0664" y="30266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/ гарантия:  </a:t>
            </a:r>
            <a:r>
              <a:rPr lang="en-US" sz="1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12,56%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0664" y="328269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Лизинг; предмет залога — само оборудование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99232" y="233172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7ECE0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999232" y="2331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Собств.: </a:t>
            </a: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млрд ₸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946904" y="1728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6" name="Image 1" descr="assets/icons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865376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60136" y="172821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Халык Банк — СМР и ПСД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965192" y="242316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 </a:t>
            </a: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₸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4965192" y="2990088"/>
            <a:ext cx="3438144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4965192" y="30266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/ гарантия:  </a:t>
            </a:r>
            <a:r>
              <a:rPr lang="en-US" sz="1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90%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965192" y="328269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БРК до 90% (~4,7 млрд ₸ покрытия)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223760" y="2331719"/>
            <a:ext cx="1188720" cy="475487"/>
          </a:xfrm>
          <a:prstGeom prst="roundRect">
            <a:avLst>
              <a:gd name="adj" fmla="val 18750"/>
            </a:avLst>
          </a:prstGeom>
          <a:solidFill>
            <a:srgbClr val="F7ECE0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7223760" y="2331720"/>
            <a:ext cx="1197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Собств.: </a:t>
            </a: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 </a:t>
            </a:r>
            <a:r>
              <a:rPr lang="en-US" sz="850" b="1" dirty="0" err="1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</a:t>
            </a: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₸</a:t>
            </a:r>
            <a:br>
              <a:rPr lang="ru-RU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Расходы на </a:t>
            </a:r>
            <a:r>
              <a:rPr lang="ru-RU" sz="850" b="1" dirty="0" err="1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ПСД+адаптация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02920" y="3840480"/>
            <a:ext cx="8138160" cy="896112"/>
          </a:xfrm>
          <a:prstGeom prst="roundRect">
            <a:avLst>
              <a:gd name="adj" fmla="val 8163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77724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r>
              <a:rPr lang="ru-RU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млрд ₸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777240" y="4334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собственное</a:t>
            </a: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</a:t>
            </a:r>
            <a:r>
              <a:rPr lang="ru-RU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покупки оборудования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108960" y="3968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CB0"/>
                </a:solidFill>
              </a:rPr>
              <a:t>+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347472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ru-RU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млрд ₸</a:t>
            </a:r>
            <a:endParaRPr lang="en-US" sz="1900" dirty="0"/>
          </a:p>
        </p:txBody>
      </p:sp>
      <p:sp>
        <p:nvSpPr>
          <p:cNvPr id="29" name="Text 25"/>
          <p:cNvSpPr/>
          <p:nvPr/>
        </p:nvSpPr>
        <p:spPr>
          <a:xfrm>
            <a:off x="3474720" y="4334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депозитный заклад </a:t>
            </a: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ХБ</a:t>
            </a:r>
            <a:r>
              <a:rPr lang="ru-RU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0,5 + 1,5 млрд ЧОК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806440" y="3968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CB0"/>
                </a:solidFill>
              </a:rPr>
              <a:t>+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617220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r>
              <a:rPr lang="ru-RU" sz="19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</a:t>
            </a:r>
            <a:r>
              <a:rPr lang="en-US" sz="19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млрд ₸</a:t>
            </a:r>
            <a:endParaRPr lang="en-US" sz="1900" dirty="0"/>
          </a:p>
        </p:txBody>
      </p:sp>
      <p:sp>
        <p:nvSpPr>
          <p:cNvPr id="32" name="Text 28"/>
          <p:cNvSpPr/>
          <p:nvPr/>
        </p:nvSpPr>
        <p:spPr>
          <a:xfrm>
            <a:off x="6301154" y="4323705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</a:t>
            </a: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ИНВЕСТИЦИОННЫЕ ПОКАЗАТЕЛИ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инвестиционно привлекателен: доходность 31%, окупаемость около 5 лет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83324"/>
              </p:ext>
            </p:extLst>
          </p:nvPr>
        </p:nvGraphicFramePr>
        <p:xfrm>
          <a:off x="502920" y="1572768"/>
          <a:ext cx="5440680" cy="27432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Показатель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Проект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Собств. капитал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IRR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31%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30%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NPV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≈ 30,8 млрд ₸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≈ 5,2 млрд ₸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Ставка дисконтирования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12,71%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23,35%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Срок окупаемости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5,06 года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3,54 года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Диск. срок окупаемости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6,09 года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72768"/>
            <a:ext cx="2468880" cy="2788920"/>
          </a:xfrm>
          <a:prstGeom prst="roundRect">
            <a:avLst>
              <a:gd name="adj" fmla="val 3704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355080" y="1737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КАПИТАЛА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55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21,5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355080" y="25054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 ₸ — инвестиции всего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55080" y="2889504"/>
            <a:ext cx="1682496" cy="310896"/>
          </a:xfrm>
          <a:prstGeom prst="roundRect">
            <a:avLst>
              <a:gd name="adj" fmla="val 8824"/>
            </a:avLst>
          </a:prstGeom>
          <a:solidFill>
            <a:srgbClr val="5B8CB0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037576" y="2889504"/>
            <a:ext cx="420624" cy="310896"/>
          </a:xfrm>
          <a:prstGeom prst="roundRect">
            <a:avLst>
              <a:gd name="adj" fmla="val 8824"/>
            </a:avLst>
          </a:prstGeom>
          <a:solidFill>
            <a:srgbClr val="C4772F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355080" y="288950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4" name="Text 9"/>
          <p:cNvSpPr/>
          <p:nvPr/>
        </p:nvSpPr>
        <p:spPr>
          <a:xfrm>
            <a:off x="8037576" y="288950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55080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Заём: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17,2 млрд ₸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55080" y="35661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Собств. участие: </a:t>
            </a:r>
            <a:r>
              <a:rPr lang="en-US" sz="1000" b="1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4,3 млрд 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55080" y="3840480"/>
            <a:ext cx="2103120" cy="0"/>
          </a:xfrm>
          <a:prstGeom prst="line">
            <a:avLst/>
          </a:prstGeom>
          <a:noFill/>
          <a:ln w="12700">
            <a:solidFill>
              <a:srgbClr val="2A4463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55080" y="3913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FB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заёмных средств — 80%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ИНВЕСТПОКАЗАТЕЛИ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ФИНАНСИРОВАНИЕ 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Финансирование на уровне проектной компании — без гарантий акционеров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F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на уровне проектной компании KazBioFert / BBFF — возврат из денежных потоков проекта, а не из активов и гарантий акционеров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86537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7" name="Image 0" descr="assets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0253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0744" y="1801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на уровне проектной компании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80744" y="214884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— самостоятельная проектная компания с ограниченным регрессом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502920" y="269748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85800" y="2871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2" name="Image 1" descr="assets/icons/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0837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80744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из денежного потока проекта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380744" y="31546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от электроэнергии, продажи удобрений, возможные углеродные и грантовые поступления</a:t>
            </a:r>
            <a:endParaRPr lang="en-US" sz="870" dirty="0"/>
          </a:p>
        </p:txBody>
      </p:sp>
      <p:sp>
        <p:nvSpPr>
          <p:cNvPr id="15" name="Shape 11"/>
          <p:cNvSpPr/>
          <p:nvPr/>
        </p:nvSpPr>
        <p:spPr>
          <a:xfrm>
            <a:off x="502920" y="370332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85800" y="387705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7" name="Image 2" descr="assets/icons/sca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142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80744" y="3813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Ограниченное собственное участие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380744" y="41605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Собственное участие — только в пределах заранее утверждённого лимита</a:t>
            </a:r>
            <a:endParaRPr lang="en-US" sz="870" dirty="0"/>
          </a:p>
        </p:txBody>
      </p:sp>
      <p:sp>
        <p:nvSpPr>
          <p:cNvPr id="20" name="Shape 15"/>
          <p:cNvSpPr/>
          <p:nvPr/>
        </p:nvSpPr>
        <p:spPr>
          <a:xfrm>
            <a:off x="4727448" y="169164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4910328" y="186537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2" name="Image 3" descr="assets/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00253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05272" y="1801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 — активы и контракты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605272" y="214884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Оборудование, проектные активы, права требования, договоры на электроэнергию и сбыт, счета</a:t>
            </a:r>
            <a:endParaRPr lang="en-US" sz="870" dirty="0"/>
          </a:p>
        </p:txBody>
      </p:sp>
      <p:sp>
        <p:nvSpPr>
          <p:cNvPr id="25" name="Shape 19"/>
          <p:cNvSpPr/>
          <p:nvPr/>
        </p:nvSpPr>
        <p:spPr>
          <a:xfrm>
            <a:off x="4727448" y="269748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910328" y="2871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7" name="Image 4" descr="assets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300837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05272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Гарантии институтов развития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605272" y="31546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БРК / Байтерек вместо личных гарантий и поручительств группы</a:t>
            </a:r>
            <a:endParaRPr lang="en-US" sz="870" dirty="0"/>
          </a:p>
        </p:txBody>
      </p:sp>
      <p:sp>
        <p:nvSpPr>
          <p:cNvPr id="30" name="Shape 23"/>
          <p:cNvSpPr/>
          <p:nvPr/>
        </p:nvSpPr>
        <p:spPr>
          <a:xfrm>
            <a:off x="4727448" y="370332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4910328" y="387705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2" name="Image 5" descr="assets/icons/balanc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4014216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05272" y="3813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менеджмента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605272" y="41605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 err="1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</a:t>
            </a: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положительное решение от</a:t>
            </a: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ФРП, БРК и БВУ</a:t>
            </a:r>
            <a:endParaRPr lang="en-US" sz="870" dirty="0"/>
          </a:p>
        </p:txBody>
      </p:sp>
      <p:sp>
        <p:nvSpPr>
          <p:cNvPr id="35" name="Text 27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ФИНАНСИРОВАНИЯ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ИНСТРУМЕНТОВ ФИНАНСИРОВАНИЯ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финансирования — ФРП + гарантия БРК + БВУ; гранты и углеродные доходы — как доп. возможность</a:t>
            </a:r>
            <a:endParaRPr lang="en-US" sz="2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8138160" cy="281330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Инструмент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Что финансирует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Ориентир. объём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Регресс / гарантии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Приоритет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ФРП — лизинг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Оборудование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~15 млрд 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Залог оборудования; цель — без поручительств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Высокий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Халык + гарантия БРК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СМР / ПСД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~6,5 млрд 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Гарантия БРК до 90% вместо поручительств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Высокий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БРК / Байтерек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Проектн. фин. / гарантия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уточн.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Институциональная гарантия, ограниченный регресс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Высокий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БВУ (Форте, Береке…)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СМР / оборотный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уточн.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Уступка прав по электроэнергии/сбыту, резервный счёт, эскроу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Средний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Даму / субсидии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Субсидия ставки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В пределах лимитов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Дополнительный, не основной инструмент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Средний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Kazakh Invest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Льготы / преференции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НДС, пошлины, контракт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Инвестпреференции, не долговой инструмент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Средний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Японский грант (JCM)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Грант (доп.)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до ~1,3 млрд ¥ (уточн.)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Безвозвратный — дополнительный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Низкий*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Углеродное финансирование / межд. институты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Углерод / долгосрочное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уточн.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Эко-стандарты / проектное финансирование с огранич. регрессом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Низкий*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«Низкий» = не базовый источник, а дополнительная возможность. «Уточн.» — условия требуют подтверждения институтов.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ИНСТРУМЕНТОВ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 БЕЗ ГАРАНТИЙ АКЦИОНЕРОВ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обеспечения вместо личных гарантий: активы, права требования, гарантии ИР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9224" y="1664208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assets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" y="178993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1016" y="158191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Залог оборудования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71016" y="188366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как основной предмет залога (ФРП-лизинг)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3264408" y="146304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410712" y="1664208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1" descr="assets/icons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442" y="178993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32504" y="158191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Залог проектных активов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032504" y="188366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Строящиеся объекты и основные средства проекта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6025896" y="146304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172200" y="1664208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6" name="Image 2" descr="assets/icons/site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930" y="178993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3992" y="158191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Залог долей проектной компании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793992" y="188366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Залог долей проектной компании вместо поручительства акционеров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502920" y="2542032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9224" y="2743200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1" name="Image 3" descr="assets/icon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54" y="28689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71016" y="266090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прав по электроэнергии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271016" y="296265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прав требования по выручке за электроэнергию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3264408" y="2542032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3410712" y="2743200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6" name="Image 4" descr="assets/icons/handshak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6442" y="286893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32504" y="266090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прав по сбыту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032504" y="296265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прав по контрактам на удобрения</a:t>
            </a:r>
            <a:endParaRPr lang="en-US" sz="830" dirty="0"/>
          </a:p>
        </p:txBody>
      </p:sp>
      <p:sp>
        <p:nvSpPr>
          <p:cNvPr id="29" name="Shape 22"/>
          <p:cNvSpPr/>
          <p:nvPr/>
        </p:nvSpPr>
        <p:spPr>
          <a:xfrm>
            <a:off x="6025896" y="2542032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6172200" y="2743200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1" name="Image 5" descr="assets/icons/pigg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930" y="286893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93992" y="266090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Резервный счёт + эскроу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793992" y="296265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Резервный счёт обслуживания долга и эскроу-счета</a:t>
            </a:r>
            <a:endParaRPr lang="en-US" sz="830" dirty="0"/>
          </a:p>
        </p:txBody>
      </p:sp>
      <p:sp>
        <p:nvSpPr>
          <p:cNvPr id="34" name="Shape 26"/>
          <p:cNvSpPr/>
          <p:nvPr/>
        </p:nvSpPr>
        <p:spPr>
          <a:xfrm>
            <a:off x="502920" y="3621024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27"/>
          <p:cNvSpPr/>
          <p:nvPr/>
        </p:nvSpPr>
        <p:spPr>
          <a:xfrm>
            <a:off x="649224" y="3822192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6" name="Image 6" descr="assets/icons/contrac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954" y="3947922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71016" y="373989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исполнения подрядчика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1271016" y="404164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исполнения от подрядчика + гарантии поставщика</a:t>
            </a:r>
            <a:endParaRPr lang="en-US" sz="830" dirty="0"/>
          </a:p>
        </p:txBody>
      </p:sp>
      <p:sp>
        <p:nvSpPr>
          <p:cNvPr id="39" name="Shape 30"/>
          <p:cNvSpPr/>
          <p:nvPr/>
        </p:nvSpPr>
        <p:spPr>
          <a:xfrm>
            <a:off x="3264408" y="3621024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Shape 31"/>
          <p:cNvSpPr/>
          <p:nvPr/>
        </p:nvSpPr>
        <p:spPr>
          <a:xfrm>
            <a:off x="3410712" y="3822192"/>
            <a:ext cx="502920" cy="50292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1" name="Image 7" descr="assets/icons/shield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6442" y="3947922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032504" y="373989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БРК / Байтерек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4032504" y="404164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Институциональная / кредитная гарантия банку</a:t>
            </a:r>
            <a:endParaRPr lang="en-US" sz="830" dirty="0"/>
          </a:p>
        </p:txBody>
      </p:sp>
      <p:sp>
        <p:nvSpPr>
          <p:cNvPr id="44" name="Shape 34"/>
          <p:cNvSpPr/>
          <p:nvPr/>
        </p:nvSpPr>
        <p:spPr>
          <a:xfrm>
            <a:off x="6025896" y="3621024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35"/>
          <p:cNvSpPr/>
          <p:nvPr/>
        </p:nvSpPr>
        <p:spPr>
          <a:xfrm>
            <a:off x="6172200" y="3822192"/>
            <a:ext cx="502920" cy="50292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6" name="Image 8" descr="assets/icons/leaf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7930" y="3947922"/>
            <a:ext cx="251460" cy="25146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793992" y="373989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углеродных доходов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6793992" y="404164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возможных углеродных поступлений + страховое покрытие</a:t>
            </a:r>
            <a:endParaRPr lang="en-US" sz="830" dirty="0"/>
          </a:p>
        </p:txBody>
      </p:sp>
      <p:sp>
        <p:nvSpPr>
          <p:cNvPr id="49" name="Text 38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50" name="Text 39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</a:t>
            </a:r>
            <a:endParaRPr lang="en-US" sz="800" dirty="0"/>
          </a:p>
        </p:txBody>
      </p:sp>
      <p:sp>
        <p:nvSpPr>
          <p:cNvPr id="51" name="Text 40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АГРОРЕЗУЛЬТАТЫ  ·  ПОЛЕВЫЕ ИСПЫТАНИЯ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ОМУ дают прирост урожайности 19–25% против аналогов на трёх культурах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15184" cy="2084832"/>
          </a:xfrm>
          <a:prstGeom prst="roundRect">
            <a:avLst>
              <a:gd name="adj" fmla="val 3947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04088" y="1664208"/>
            <a:ext cx="493776" cy="493776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assets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787652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9304" y="1609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722376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Кормовая кукуруза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2376" y="26151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13,8 т/га против ЖКУ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2376" y="2944368"/>
            <a:ext cx="2176272" cy="0"/>
          </a:xfrm>
          <a:prstGeom prst="line">
            <a:avLst/>
          </a:prstGeom>
          <a:noFill/>
          <a:ln w="12700">
            <a:solidFill>
              <a:srgbClr val="27543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22376" y="29992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6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Акмолинская обл. · NPK 12-12-12 · 80 кг/га, однократно с семенами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3264408" y="1463040"/>
            <a:ext cx="2615184" cy="2084832"/>
          </a:xfrm>
          <a:prstGeom prst="roundRect">
            <a:avLst>
              <a:gd name="adj" fmla="val 3947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465576" y="1664208"/>
            <a:ext cx="493776" cy="493776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4" name="Image 1" descr="assets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20" y="1787652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50792" y="1609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3300" dirty="0"/>
          </a:p>
        </p:txBody>
      </p:sp>
      <p:sp>
        <p:nvSpPr>
          <p:cNvPr id="16" name="Text 12"/>
          <p:cNvSpPr/>
          <p:nvPr/>
        </p:nvSpPr>
        <p:spPr>
          <a:xfrm>
            <a:off x="3483864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Яровой ячмень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83864" y="26151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2,82 против 2,26 т/га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83864" y="2944368"/>
            <a:ext cx="2176272" cy="0"/>
          </a:xfrm>
          <a:prstGeom prst="line">
            <a:avLst/>
          </a:prstGeom>
          <a:noFill/>
          <a:ln w="12700">
            <a:solidFill>
              <a:srgbClr val="27543F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3483864" y="29992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6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 · аналоги (аммофос 10-46, Яра Милла) — лишь +2%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6025896" y="1463040"/>
            <a:ext cx="2615184" cy="2084832"/>
          </a:xfrm>
          <a:prstGeom prst="roundRect">
            <a:avLst>
              <a:gd name="adj" fmla="val 3947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6227064" y="1664208"/>
            <a:ext cx="493776" cy="493776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2" name="Image 2" descr="assets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08" y="1787652"/>
            <a:ext cx="246888" cy="2468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12280" y="1609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3300" dirty="0"/>
          </a:p>
        </p:txBody>
      </p:sp>
      <p:sp>
        <p:nvSpPr>
          <p:cNvPr id="24" name="Text 19"/>
          <p:cNvSpPr/>
          <p:nvPr/>
        </p:nvSpPr>
        <p:spPr>
          <a:xfrm>
            <a:off x="6245352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Яровая пшеница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245352" y="26151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200 кг/га (+11% при 100 кг/га)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245352" y="2944368"/>
            <a:ext cx="2176272" cy="0"/>
          </a:xfrm>
          <a:prstGeom prst="line">
            <a:avLst/>
          </a:prstGeom>
          <a:noFill/>
          <a:ln w="12700">
            <a:solidFill>
              <a:srgbClr val="27543F"/>
            </a:solidFill>
            <a:prstDash val="solid"/>
          </a:ln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6245352" y="29992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6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НПЦЗХ им. Бараева · NP 8-21-15SO₃ → +22% к контролю</a:t>
            </a:r>
            <a:endParaRPr lang="en-US" sz="860" dirty="0"/>
          </a:p>
        </p:txBody>
      </p:sp>
      <p:sp>
        <p:nvSpPr>
          <p:cNvPr id="28" name="Shape 23"/>
          <p:cNvSpPr/>
          <p:nvPr/>
        </p:nvSpPr>
        <p:spPr>
          <a:xfrm>
            <a:off x="502920" y="3712464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p/>
        </p:txBody>
      </p:sp>
      <p:pic>
        <p:nvPicPr>
          <p:cNvPr id="29" name="Image 3" descr="assets/icons/star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877056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42416" y="37124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зерна повышено до 1 класса (контроль — 2); клейковина 28,7–30,4%</a:t>
            </a:r>
            <a:endParaRPr lang="en-US" sz="900" dirty="0"/>
          </a:p>
        </p:txBody>
      </p:sp>
      <p:pic>
        <p:nvPicPr>
          <p:cNvPr id="31" name="Image 4" descr="assets/icons/seedlin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877056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65776" y="37124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Внесение одномоментно с семенами — без дополнительной техники и проходов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02920" y="43891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8F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отдельных полевых опытов 2023 г.; часть экономических расчётов зависит от методики анализа — перед инвест-решением рекомендуется независимая агрономическая проверка.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АГРОРЕЗУЛЬТАТЫ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И ПОДТВЕРЖДЕНИЕ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Независимое заключение НПЦЗХ и эффективность 1:3 подтверждают позицию ОМУ на рынке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04088" y="1645920"/>
            <a:ext cx="512064" cy="512064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assets/icons/univers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7739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6642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Независимое подтверждение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2376" y="2212848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2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НПЦЗХ им. А.И. Бараева рекомендует ОМУ NPK 12-12-12 и NP 8-21-15SO₃ для яровой пшеницы: урожайность сопоставима с аммофосом, зерно — 1 класс.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502920" y="2962656"/>
            <a:ext cx="3931920" cy="1417320"/>
          </a:xfrm>
          <a:prstGeom prst="roundRect">
            <a:avLst>
              <a:gd name="adj" fmla="val 5806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8580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44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3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205740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эффективность питательных веществ ОМУ к минеральным (по данным ФАО)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22376" y="384048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12-12-12 ОМУ ≈ NPK 36-36-36 мин. · NP 8-21 ОМУ ≈ NP 12-52 аммофос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09160" y="1463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· ≥ 75 000 Т/ГОД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1737360"/>
            <a:ext cx="1901952" cy="749808"/>
          </a:xfrm>
          <a:prstGeom prst="roundRect">
            <a:avLst>
              <a:gd name="adj" fmla="val 853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837176" y="1810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NPK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37176" y="2029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12-12-12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739128" y="1737360"/>
            <a:ext cx="1901952" cy="749808"/>
          </a:xfrm>
          <a:prstGeom prst="roundRect">
            <a:avLst>
              <a:gd name="adj" fmla="val 853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867144" y="1810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67144" y="2029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8-21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4709160" y="2596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Состав: 40% органического вещества · 15% гуминовой + фульвовой кислоты · pH 5–7 · без патогенов и семян сорняков</a:t>
            </a:r>
            <a:endParaRPr lang="en-US" sz="880" dirty="0"/>
          </a:p>
        </p:txBody>
      </p:sp>
      <p:pic>
        <p:nvPicPr>
          <p:cNvPr id="21" name="Image 1" descr="assets/icons/seedling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145536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20056" y="310896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Внесение при посеве — без дополнительной техники</a:t>
            </a:r>
            <a:endParaRPr lang="en-US" sz="950" dirty="0"/>
          </a:p>
        </p:txBody>
      </p:sp>
      <p:pic>
        <p:nvPicPr>
          <p:cNvPr id="23" name="Image 2" descr="assets/icons/recycle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47472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0056" y="3438144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 почвы: +2% плодородного слоя в год</a:t>
            </a:r>
            <a:endParaRPr lang="en-US" sz="950" dirty="0"/>
          </a:p>
        </p:txBody>
      </p:sp>
      <p:pic>
        <p:nvPicPr>
          <p:cNvPr id="25" name="Image 3" descr="assets/icons/coins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80390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20056" y="376732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Дешевле минеральных: 40–60% состава — органика</a:t>
            </a:r>
            <a:endParaRPr lang="en-US" sz="950" dirty="0"/>
          </a:p>
        </p:txBody>
      </p:sp>
      <p:pic>
        <p:nvPicPr>
          <p:cNvPr id="27" name="Image 4" descr="assets/icons/shield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133088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20056" y="4096512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Стабильный гарантированный состав NPK под запрос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КОММЕРЧЕСКАЯ ПРОРАБОТКА · СБЫТ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сбыта на 4 рынках; задача — перевести переговоры в предварительные соглашения и условия сделок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16152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8379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 Agro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0936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внутреннем рынке РК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2660904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374136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2" name="Image 1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8379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52344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Фос-Агро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52344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788920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Гибридная схема реализации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4818888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532120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8" name="Image 2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3794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10328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MakFert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910328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Турция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946904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Потенциально 10 тыс. тонн в год</a:t>
            </a:r>
            <a:endParaRPr lang="en-US" sz="880" dirty="0"/>
          </a:p>
        </p:txBody>
      </p:sp>
      <p:sp>
        <p:nvSpPr>
          <p:cNvPr id="22" name="Shape 17"/>
          <p:cNvSpPr/>
          <p:nvPr/>
        </p:nvSpPr>
        <p:spPr>
          <a:xfrm>
            <a:off x="6976872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7690104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4" name="Image 3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4" y="183794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68312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UzKimyo Impex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068312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104888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Региональный экспортный канал</a:t>
            </a:r>
            <a:endParaRPr lang="en-US" sz="880" dirty="0"/>
          </a:p>
        </p:txBody>
      </p:sp>
      <p:sp>
        <p:nvSpPr>
          <p:cNvPr id="28" name="Shape 22"/>
          <p:cNvSpPr/>
          <p:nvPr/>
        </p:nvSpPr>
        <p:spPr>
          <a:xfrm>
            <a:off x="502920" y="3611880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9" name="Image 4" descr="assets/icons/targe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2219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70432" y="3767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Управленческий вывод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170432" y="40599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активно прорабатывается, но для привлечения финансирования переговоры необходимо перевести в предварительные соглашения, условия сделок, рамочные или предварительные договоры сбыта. Твёрдые договоры планируются после открытия финансирования и начала СМР.</a:t>
            </a:r>
            <a:endParaRPr lang="en-US" sz="1030" dirty="0"/>
          </a:p>
        </p:txBody>
      </p:sp>
      <p:sp>
        <p:nvSpPr>
          <p:cNvPr id="32" name="Text 25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ИСПОЛНЕНИЕ БЮДЖЕТА ЗА 5 МЕСЯЦЕВ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Расходы ниже бюджета из-за сдвига графика; финансирование учредителей — тоже ниже плана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81328"/>
          <a:ext cx="50749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79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· план-факт за 5 месяцев 2026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760720" y="1481328"/>
            <a:ext cx="2880360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907024" y="15727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Операционная деятельность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7498080" y="1554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+46,9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0" y="191109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экономия к плану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760720" y="2267712"/>
            <a:ext cx="2880360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907024" y="235915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Инвестиционная деятельность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7498080" y="234086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+244,9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315200" y="269748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ниже плана (сдвиг работ)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760720" y="3054096"/>
            <a:ext cx="2880360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907024" y="31455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деятельность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7498080" y="31272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4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−323,1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315200" y="3483864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недобор поступлений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760720" y="3840480"/>
            <a:ext cx="2880360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07024" y="39319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Денежные средства на конец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7498080" y="39136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4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315200" y="427024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факт (план 90,5)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5 МЕС.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БЮДЖЕТА НА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Годовой бюджет ~728 млн ₸; 241,5 млн ₸ исполнено за 5 мес., 487 млн ₸ — на II полугодие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17904"/>
          <a:ext cx="52120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159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897880" y="1517904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044184" y="15727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729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04888" y="157276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Первоначальный годовой бюджет, млн ₸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5897880" y="2249424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044184" y="230428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241,5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104888" y="23042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за 5 месяцев (43% бюджета 5М)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5897880" y="2980944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044184" y="303580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487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104888" y="303580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Плановые расходы на оставшиеся 7 месяцев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5897880" y="3712464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044184" y="376732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~728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104888" y="376732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годовой план, млн ₸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БЮДЖЕТА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РИСКИ И МЕРЫ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управляемых рисков; критические точки — тариф на электроэнергию и график собственного участия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assets/icons/file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1632204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4447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/ госэкспертиза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61488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761488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703320" y="14447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сроков экспертизы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5669280" y="144475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Приоритизация адаптации, ранняя подача, буфер в графике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2920" y="205740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21792" y="2148840"/>
            <a:ext cx="384048" cy="384048"/>
          </a:xfrm>
          <a:prstGeom prst="ellipse">
            <a:avLst/>
          </a:prstGeom>
          <a:solidFill>
            <a:srgbClr val="B4432E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4" name="Image 1" descr="assets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2244852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33856" y="20574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на электроэнергию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61488" y="221284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2761488" y="2212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703320" y="20574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Банк. гарантия раскрыта, тариф не закреплён</a:t>
            </a:r>
            <a:endParaRPr lang="en-US" sz="880" dirty="0"/>
          </a:p>
        </p:txBody>
      </p:sp>
      <p:sp>
        <p:nvSpPr>
          <p:cNvPr id="19" name="Text 15"/>
          <p:cNvSpPr/>
          <p:nvPr/>
        </p:nvSpPr>
        <p:spPr>
          <a:xfrm>
            <a:off x="5669280" y="20574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маршрут: восстановление / повторный аукцион / альт. модель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2920" y="267004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621792" y="2761488"/>
            <a:ext cx="384048" cy="384048"/>
          </a:xfrm>
          <a:prstGeom prst="ellipse">
            <a:avLst/>
          </a:prstGeom>
          <a:solidFill>
            <a:srgbClr val="B4432E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2" name="Image 2" descr="assets/icons/mon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2857500"/>
            <a:ext cx="192024" cy="1920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33856" y="26700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761488" y="282549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 lang="ru-KZ" dirty="0"/>
          </a:p>
        </p:txBody>
      </p:sp>
      <p:sp>
        <p:nvSpPr>
          <p:cNvPr id="25" name="Text 20"/>
          <p:cNvSpPr/>
          <p:nvPr/>
        </p:nvSpPr>
        <p:spPr>
          <a:xfrm>
            <a:off x="2761488" y="28254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703320" y="26700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Недобор собственного участия, условия банков</a:t>
            </a:r>
            <a:endParaRPr lang="en-US" sz="880" dirty="0"/>
          </a:p>
        </p:txBody>
      </p:sp>
      <p:sp>
        <p:nvSpPr>
          <p:cNvPr id="27" name="Text 22"/>
          <p:cNvSpPr/>
          <p:nvPr/>
        </p:nvSpPr>
        <p:spPr>
          <a:xfrm>
            <a:off x="5669280" y="26700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проектной компании, гарантия БРК, синхронизация графика взносов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502920" y="328269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621792" y="3374136"/>
            <a:ext cx="384048" cy="384048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0" name="Image 3" descr="assets/icons/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" y="3470148"/>
            <a:ext cx="192024" cy="1920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33856" y="328269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761488" y="34381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p/>
        </p:txBody>
      </p:sp>
      <p:sp>
        <p:nvSpPr>
          <p:cNvPr id="33" name="Text 27"/>
          <p:cNvSpPr/>
          <p:nvPr/>
        </p:nvSpPr>
        <p:spPr>
          <a:xfrm>
            <a:off x="2761488" y="3438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3703320" y="32826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твёрдых договоров</a:t>
            </a:r>
            <a:endParaRPr lang="en-US" sz="880" dirty="0"/>
          </a:p>
        </p:txBody>
      </p:sp>
      <p:sp>
        <p:nvSpPr>
          <p:cNvPr id="35" name="Text 29"/>
          <p:cNvSpPr/>
          <p:nvPr/>
        </p:nvSpPr>
        <p:spPr>
          <a:xfrm>
            <a:off x="5669280" y="328269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в предварительные соглашения до финансового закрытия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502920" y="389534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Shape 31"/>
          <p:cNvSpPr/>
          <p:nvPr/>
        </p:nvSpPr>
        <p:spPr>
          <a:xfrm>
            <a:off x="621792" y="3986784"/>
            <a:ext cx="384048" cy="384048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8" name="Image 4" descr="assets/icons/sca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" y="4082796"/>
            <a:ext cx="192024" cy="19202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33856" y="389534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Собственное участие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2761488" y="405079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p/>
        </p:txBody>
      </p:sp>
      <p:sp>
        <p:nvSpPr>
          <p:cNvPr id="41" name="Text 34"/>
          <p:cNvSpPr/>
          <p:nvPr/>
        </p:nvSpPr>
        <p:spPr>
          <a:xfrm>
            <a:off x="2761488" y="4050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3703320" y="38953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Ограниченность собственного участия</a:t>
            </a:r>
            <a:endParaRPr lang="en-US" sz="880" dirty="0"/>
          </a:p>
        </p:txBody>
      </p:sp>
      <p:sp>
        <p:nvSpPr>
          <p:cNvPr id="43" name="Text 36"/>
          <p:cNvSpPr/>
          <p:nvPr/>
        </p:nvSpPr>
        <p:spPr>
          <a:xfrm>
            <a:off x="5669280" y="389534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Утверждённый лимит собственного участия, структурированный заём акционеров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45" name="Text 38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Японский углеродный грант (механизм JCM) — дополнительный, а не базовый источник финансирования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200400" cy="2331720"/>
          </a:xfrm>
          <a:prstGeom prst="roundRect">
            <a:avLst>
              <a:gd name="adj" fmla="val 3922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assets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~1,3 млрд ¥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58368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до ~8 млн долл. США потенциального гранта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3456432"/>
            <a:ext cx="1600200" cy="292608"/>
          </a:xfrm>
          <a:prstGeom prst="roundRect">
            <a:avLst>
              <a:gd name="adj" fmla="val 43750"/>
            </a:avLst>
          </a:prstGeom>
          <a:solidFill>
            <a:srgbClr val="C4772F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8368" y="34564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ПОДТВЕРЖДЕНИЯ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023360" y="1572768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2" name="Image 1" descr="assets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660" y="168706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8576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JCM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08576" y="18105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Совместный механизм кредитования — японский инструмент углеродных единиц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023360" y="219456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6" name="Image 2" descr="assets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660" y="23088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08576" y="2157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метана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08576" y="24323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выбросов метана как основа для углеродных единиц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023360" y="2816352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0" name="Image 3" descr="assets/icons/coin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7660" y="293065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08576" y="27797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Углеродная выручка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608576" y="30540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Возможная уступка углеродных поступлений в пользу проекта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023360" y="3438144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4" name="Image 4" descr="assets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660" y="3552444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608576" y="3401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608576" y="36758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Показывать как доп. возможность к базовой структуре, не закладывать в расчёт долга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502920" y="4160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гранта требуют подтверждения материалами и японской стороной (предварительно).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ГРАНТ JCM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KazBioFert / BBFF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EC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Благодарим за внимание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931920" y="2514600"/>
            <a:ext cx="1280160" cy="0"/>
          </a:xfrm>
          <a:prstGeom prst="line">
            <a:avLst/>
          </a:prstGeom>
          <a:noFill/>
          <a:ln w="19050">
            <a:solidFill>
              <a:srgbClr val="C4772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директоров Kusto Group  ·  9 июля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035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Житикара, Костанайская область, Казахстан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69000" y="0"/>
            <a:ext cx="3175000" cy="5143500"/>
          </a:xfrm>
          <a:prstGeom prst="rect">
            <a:avLst/>
          </a:prstGeom>
          <a:solidFill>
            <a:srgbClr val="0C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969000" y="0"/>
            <a:ext cx="0" cy="5143500"/>
          </a:xfrm>
          <a:prstGeom prst="line">
            <a:avLst/>
          </a:prstGeom>
          <a:ln w="12700">
            <a:solidFill>
              <a:srgbClr val="243A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1200" y="11684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260">
                <a:solidFill>
                  <a:srgbClr val="E0A46A"/>
                </a:solidFill>
                <a:latin typeface="Calibri"/>
              </a:rPr>
              <a:t>MARKET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73200"/>
            <a:ext cx="6604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Arial"/>
              </a:rPr>
              <a:t>АНАЛИЗ РЫНКА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32000"/>
            <a:ext cx="6604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Arial"/>
              </a:rPr>
              <a:t>УДОБРЕНИЙ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6600" y="2717800"/>
            <a:ext cx="1676400" cy="0"/>
          </a:xfrm>
          <a:prstGeom prst="line">
            <a:avLst/>
          </a:prstGeom>
          <a:ln w="31750">
            <a:solidFill>
              <a:srgbClr val="E0A4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1200" y="2895600"/>
            <a:ext cx="5969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0">
                <a:solidFill>
                  <a:srgbClr val="AEC8DE"/>
                </a:solidFill>
                <a:latin typeface="Calibri"/>
              </a:rPr>
              <a:t>Мировой рынок · Рынок Казахстана · Ценовое позиционирование и себестоимость ОМУ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200" y="3403600"/>
            <a:ext cx="2946400" cy="279400"/>
          </a:xfrm>
          <a:prstGeom prst="roundRect">
            <a:avLst>
              <a:gd name="adj" fmla="val 50000"/>
            </a:avLst>
          </a:prstGeom>
          <a:solidFill>
            <a:srgbClr val="0C1D38"/>
          </a:solidFill>
          <a:ln w="12700">
            <a:solidFill>
              <a:srgbClr val="355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200" y="3416300"/>
            <a:ext cx="29464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E0A46A"/>
                </a:solidFill>
                <a:latin typeface="Calibri"/>
              </a:rPr>
              <a:t>Данные актуализированы на 30.06.2026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1200" y="3886200"/>
            <a:ext cx="2489200" cy="6858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600" y="3949700"/>
            <a:ext cx="38100" cy="5588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000" y="3962400"/>
            <a:ext cx="2209800" cy="304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E0A46A"/>
                </a:solidFill>
                <a:latin typeface="Arial"/>
              </a:rPr>
              <a:t>208</a:t>
            </a:r>
            <a:r>
              <a:rPr sz="1050" b="1">
                <a:solidFill>
                  <a:srgbClr val="AEC8DE"/>
                </a:solidFill>
                <a:latin typeface="Calibri"/>
              </a:rPr>
              <a:t> млн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4267200"/>
            <a:ext cx="21844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мировой спрос на NPK (пит. в-ва),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7400" y="3886200"/>
            <a:ext cx="2489200" cy="6858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2800" y="3949700"/>
            <a:ext cx="38100" cy="558800"/>
          </a:xfrm>
          <a:prstGeom prst="rect">
            <a:avLst/>
          </a:prstGeom>
          <a:solidFill>
            <a:srgbClr val="AEC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5200" y="3962400"/>
            <a:ext cx="2209800" cy="304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AEC8DE"/>
                </a:solidFill>
                <a:latin typeface="Arial"/>
              </a:rPr>
              <a:t>1,3</a:t>
            </a:r>
            <a:r>
              <a:rPr sz="1050" b="1">
                <a:solidFill>
                  <a:srgbClr val="AEC8DE"/>
                </a:solidFill>
                <a:latin typeface="Calibri"/>
              </a:rPr>
              <a:t> млн 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200" y="4267200"/>
            <a:ext cx="21844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ёмкость рынка удобрений РК, 2025 (+19% г/г)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886200"/>
            <a:ext cx="2692400" cy="6858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69000" y="3949700"/>
            <a:ext cx="381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1400" y="3962400"/>
            <a:ext cx="2413000" cy="304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FFFFFF"/>
                </a:solidFill>
                <a:latin typeface="Arial"/>
              </a:rPr>
              <a:t>$233</a:t>
            </a:r>
            <a:r>
              <a:rPr sz="1050" b="1">
                <a:solidFill>
                  <a:srgbClr val="AEC8DE"/>
                </a:solidFill>
                <a:latin typeface="Calibri"/>
              </a:rPr>
              <a:t> /т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1400" y="4267200"/>
            <a:ext cx="2387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себестоимость ОМУ NPK 8-21 против цены $450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2A3D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AEC8DE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8A9AA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8A9AAD"/>
                </a:solidFill>
                <a:latin typeface="Calibri"/>
              </a:rPr>
              <a:t>АНАЛИЗ РЫНКА · РАЗДЕЛ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8A9AA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04800"/>
            <a:ext cx="81407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140">
                <a:solidFill>
                  <a:srgbClr val="C4772F"/>
                </a:solidFill>
                <a:latin typeface="Calibri"/>
              </a:rPr>
              <a:t>МИРОВОЙ РЫНОК УДОБРЕНИЙ  ·  IFA / WORLD BANK,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584200"/>
            <a:ext cx="82296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13294B"/>
                </a:solidFill>
                <a:latin typeface="Arial"/>
              </a:rPr>
              <a:t>Мировое предложение удобрений превышает спрос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939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36272"/>
                </a:solidFill>
                <a:latin typeface="Calibri"/>
              </a:rPr>
              <a:t>Спрос ≈ 208 млн т питательных веществ (N+P+K) в 2025; рост 1–2%/год до ~224 млн т к 2029 (IFA)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1320800"/>
            <a:ext cx="4978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47800"/>
            <a:ext cx="457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Мировой баланс, млн т питательных веществ (N+P₂O₅+K₂O)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84200" y="1676400"/>
          <a:ext cx="4826000" cy="1905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13400" y="1320800"/>
            <a:ext cx="3022600" cy="121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1200" y="1447800"/>
            <a:ext cx="2667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Структура мирового спроса,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91200" y="1752600"/>
            <a:ext cx="1493520" cy="2540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1200" y="1752600"/>
            <a:ext cx="149352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>
                <a:solidFill>
                  <a:srgbClr val="FFFFFF"/>
                </a:solidFill>
                <a:latin typeface="Calibri"/>
              </a:rPr>
              <a:t>56%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84720" y="1752600"/>
            <a:ext cx="613410" cy="2540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4720" y="1752600"/>
            <a:ext cx="61341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>
                <a:solidFill>
                  <a:srgbClr val="FFFFFF"/>
                </a:solidFill>
                <a:latin typeface="Calibri"/>
              </a:rPr>
              <a:t>23%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98130" y="1752600"/>
            <a:ext cx="560070" cy="254000"/>
          </a:xfrm>
          <a:prstGeom prst="rect">
            <a:avLst/>
          </a:prstGeom>
          <a:solidFill>
            <a:srgbClr val="6B7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98130" y="1752600"/>
            <a:ext cx="56007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>
                <a:solidFill>
                  <a:srgbClr val="FFFFFF"/>
                </a:solidFill>
                <a:latin typeface="Calibri"/>
              </a:rPr>
              <a:t>21%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0" y="2108200"/>
            <a:ext cx="2717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00" b="1">
                <a:solidFill>
                  <a:srgbClr val="2F6690"/>
                </a:solidFill>
                <a:latin typeface="Calibri"/>
              </a:rPr>
              <a:t>■ </a:t>
            </a:r>
            <a:r>
              <a:rPr sz="850" b="0">
                <a:solidFill>
                  <a:srgbClr val="2A3746"/>
                </a:solidFill>
                <a:latin typeface="Calibri"/>
              </a:rPr>
              <a:t>Азот (N) 116 млн т   </a:t>
            </a:r>
            <a:r>
              <a:rPr sz="900" b="1">
                <a:solidFill>
                  <a:srgbClr val="E0A46A"/>
                </a:solidFill>
                <a:latin typeface="Calibri"/>
              </a:rPr>
              <a:t>■ </a:t>
            </a:r>
            <a:r>
              <a:rPr sz="850" b="0">
                <a:solidFill>
                  <a:srgbClr val="2A3746"/>
                </a:solidFill>
                <a:latin typeface="Calibri"/>
              </a:rPr>
              <a:t>Фосфор 48   </a:t>
            </a:r>
            <a:r>
              <a:rPr sz="900" b="1">
                <a:solidFill>
                  <a:srgbClr val="6B7A8D"/>
                </a:solidFill>
                <a:latin typeface="Calibri"/>
              </a:rPr>
              <a:t>■ </a:t>
            </a:r>
            <a:r>
              <a:rPr sz="850" b="0">
                <a:solidFill>
                  <a:srgbClr val="2A3746"/>
                </a:solidFill>
                <a:latin typeface="Calibri"/>
              </a:rPr>
              <a:t>Калий 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13400" y="26416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38800" y="2705100"/>
            <a:ext cx="38100" cy="4318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1200" y="2717800"/>
            <a:ext cx="2743200" cy="304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2F6690"/>
                </a:solidFill>
                <a:latin typeface="Arial"/>
              </a:rPr>
              <a:t>208</a:t>
            </a:r>
            <a:r>
              <a:rPr sz="1050" b="1">
                <a:solidFill>
                  <a:srgbClr val="6B7A8D"/>
                </a:solidFill>
                <a:latin typeface="Calibri"/>
              </a:rPr>
              <a:t> млн 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1200" y="3022600"/>
            <a:ext cx="271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мировое потребление пит. в-в, 2025 (+2% г/г)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13400" y="32512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38800" y="3314700"/>
            <a:ext cx="38100" cy="431800"/>
          </a:xfrm>
          <a:prstGeom prst="rect">
            <a:avLst/>
          </a:prstGeom>
          <a:solidFill>
            <a:srgbClr val="C4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91200" y="3327400"/>
            <a:ext cx="2743200" cy="304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C4772F"/>
                </a:solidFill>
                <a:latin typeface="Arial"/>
              </a:rPr>
              <a:t>+1–2%</a:t>
            </a:r>
            <a:r>
              <a:rPr sz="1050" b="1">
                <a:solidFill>
                  <a:srgbClr val="6B7A8D"/>
                </a:solidFill>
                <a:latin typeface="Calibri"/>
              </a:rPr>
              <a:t> /год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1200" y="3632200"/>
            <a:ext cx="271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прогноз роста спроса до 224 млн т к 2029 (IFA)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000" y="3962400"/>
            <a:ext cx="8128000" cy="5588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200" y="3962400"/>
            <a:ext cx="7747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>
                <a:solidFill>
                  <a:srgbClr val="E0A46A"/>
                </a:solidFill>
                <a:latin typeface="Calibri"/>
              </a:rPr>
              <a:t>ЦЕНЫ НА 30.06.2026:  </a:t>
            </a:r>
            <a:r>
              <a:rPr sz="950" b="0">
                <a:solidFill>
                  <a:srgbClr val="FFFFFF"/>
                </a:solidFill>
                <a:latin typeface="Calibri"/>
              </a:rPr>
              <a:t>карбамид ≈ $700/т, аммофос (DAP) ≈ $720/т — рост ~60–80% с начала года на фоне перебоев поставок через Ормузский пролив; ослабление ожидается в 2027 (World Bank).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2F6690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6B7A8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6B7A8D"/>
                </a:solidFill>
                <a:latin typeface="Calibri"/>
              </a:rPr>
              <a:t>АНАЛИЗ РЫНКА · МИРОВОЙ РЫНОК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6B7A8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04800"/>
            <a:ext cx="81407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140">
                <a:solidFill>
                  <a:srgbClr val="C4772F"/>
                </a:solidFill>
                <a:latin typeface="Calibri"/>
              </a:rPr>
              <a:t>РЫНОК КАЗАХСТАНА  ·  БНС РК / ENERGYPROM,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584200"/>
            <a:ext cx="82296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13294B"/>
                </a:solidFill>
                <a:latin typeface="Arial"/>
              </a:rPr>
              <a:t>Казахстан — импортозависимый и недоудобренный рынок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939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36272"/>
                </a:solidFill>
                <a:latin typeface="Calibri"/>
              </a:rPr>
              <a:t>Ёмкость рынка ≈ 1,3 млн т в 2025 (+19% г/г); внесение 4–5 кг/га против агрономической нормы 80–100 кг/га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1320800"/>
            <a:ext cx="4978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47800"/>
            <a:ext cx="457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Внесение удобрений, кг действ. в-ва на га пашни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84200" y="1701800"/>
          <a:ext cx="4826000" cy="1854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13400" y="13208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38800" y="1384300"/>
            <a:ext cx="38100" cy="4318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91200" y="1397000"/>
            <a:ext cx="2743200" cy="304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2F6690"/>
                </a:solidFill>
                <a:latin typeface="Arial"/>
              </a:rPr>
              <a:t>1,3</a:t>
            </a:r>
            <a:r>
              <a:rPr sz="1050" b="1">
                <a:solidFill>
                  <a:srgbClr val="6B7A8D"/>
                </a:solidFill>
                <a:latin typeface="Calibri"/>
              </a:rPr>
              <a:t> млн 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1701800"/>
            <a:ext cx="271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ёмкость рынка удобрений РК, 2025 (+19% г/г)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13400" y="19304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38800" y="1993900"/>
            <a:ext cx="38100" cy="431800"/>
          </a:xfrm>
          <a:prstGeom prst="rect">
            <a:avLst/>
          </a:prstGeom>
          <a:solidFill>
            <a:srgbClr val="C4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1200" y="2006600"/>
            <a:ext cx="2743200" cy="304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C4772F"/>
                </a:solidFill>
                <a:latin typeface="Arial"/>
              </a:rPr>
              <a:t>43,6%</a:t>
            </a:r>
            <a:r>
              <a:rPr sz="1050" b="1">
                <a:solidFill>
                  <a:srgbClr val="6B7A8D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2311400"/>
            <a:ext cx="271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самообеспеченность по азоту (фосфор — 98,5%)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13400" y="25400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38800" y="2603500"/>
            <a:ext cx="38100" cy="4318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1200" y="2616200"/>
            <a:ext cx="2743200" cy="304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2F6690"/>
                </a:solidFill>
                <a:latin typeface="Arial"/>
              </a:rPr>
              <a:t>≈ 6%</a:t>
            </a:r>
            <a:r>
              <a:rPr sz="1050" b="1">
                <a:solidFill>
                  <a:srgbClr val="6B7A8D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1200" y="2921000"/>
            <a:ext cx="271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доля завода (75 тыс т ОМУ) в потреблении РК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13400" y="3149600"/>
            <a:ext cx="3022600" cy="6858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5800" y="3225800"/>
            <a:ext cx="271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760" b="1" spc="60">
                <a:solidFill>
                  <a:srgbClr val="6B7A8D"/>
                </a:solidFill>
                <a:latin typeface="Calibri"/>
              </a:rPr>
              <a:t>СТРУКТУРА ИМПОРТА (стоимость)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5800" y="3429000"/>
            <a:ext cx="2717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13294B"/>
                </a:solidFill>
                <a:latin typeface="Calibri"/>
              </a:rPr>
              <a:t>Россия </a:t>
            </a:r>
            <a:r>
              <a:rPr sz="1000" b="1">
                <a:solidFill>
                  <a:srgbClr val="2F6690"/>
                </a:solidFill>
                <a:latin typeface="Calibri"/>
              </a:rPr>
              <a:t>73%</a:t>
            </a:r>
            <a:r>
              <a:rPr sz="1000" b="0">
                <a:solidFill>
                  <a:srgbClr val="2A3746"/>
                </a:solidFill>
                <a:latin typeface="Calibri"/>
              </a:rPr>
              <a:t>    ·    Узбекистан </a:t>
            </a:r>
            <a:r>
              <a:rPr sz="1000" b="1">
                <a:solidFill>
                  <a:srgbClr val="2F6690"/>
                </a:solidFill>
                <a:latin typeface="Calibri"/>
              </a:rPr>
              <a:t>11%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000" y="3962400"/>
            <a:ext cx="8128000" cy="5588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200" y="3962400"/>
            <a:ext cx="7747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>
                <a:solidFill>
                  <a:srgbClr val="E0A46A"/>
                </a:solidFill>
                <a:latin typeface="Calibri"/>
              </a:rPr>
              <a:t>ВЫВОД:  </a:t>
            </a:r>
            <a:r>
              <a:rPr sz="950" b="0">
                <a:solidFill>
                  <a:srgbClr val="FFFFFF"/>
                </a:solidFill>
                <a:latin typeface="Calibri"/>
              </a:rPr>
              <a:t>сверхнизкое внесение и рост импорта (552 → 700 тыс т за 2023–2025) формируют устойчивый спрос на доступные ОМУ и прямой потенциал импортозамещения.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2F6690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6B7A8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6B7A8D"/>
                </a:solidFill>
                <a:latin typeface="Calibri"/>
              </a:rPr>
              <a:t>АНАЛИЗ РЫНКА · КАЗАХСТАН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6B7A8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04800"/>
            <a:ext cx="81407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140">
                <a:solidFill>
                  <a:srgbClr val="C4772F"/>
                </a:solidFill>
                <a:latin typeface="Calibri"/>
              </a:rPr>
              <a:t>ЦЕНОВОЕ ПОЗИЦИОНИРОВАНИЕ  ·  СЕБЕСТОИМОСТЬ ОМУ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584200"/>
            <a:ext cx="82296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13294B"/>
                </a:solidFill>
                <a:latin typeface="Arial"/>
              </a:rPr>
              <a:t>Себестоимость ОМУ $233/т при цене реализации $450/т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939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36272"/>
                </a:solidFill>
                <a:latin typeface="Calibri"/>
              </a:rPr>
              <a:t>ОМУ NPK 8-21: сырьё $194 + производство (с пост. расходами) $39 = $233/т; валовая маржа ≈ 48%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1320800"/>
            <a:ext cx="41910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47800"/>
            <a:ext cx="381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Экономика 1 т ОМУ, $/т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84200" y="1701800"/>
          <a:ext cx="4038600" cy="1854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826000" y="1320800"/>
            <a:ext cx="38100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3800" y="1422400"/>
            <a:ext cx="3556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60" b="1" spc="60">
                <a:solidFill>
                  <a:srgbClr val="6B7A8D"/>
                </a:solidFill>
                <a:latin typeface="Calibri"/>
              </a:rPr>
              <a:t>ЦЕНЫ КОНКУРЕНТОВ, $/т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78400" y="1651000"/>
          <a:ext cx="3505200" cy="1905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0800"/>
                <a:gridCol w="787400"/>
                <a:gridCol w="711200"/>
                <a:gridCol w="6858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Продукт</a:t>
                      </a:r>
                    </a:p>
                  </a:txBody>
                  <a:tcPr marL="63500" marR="38100" marT="12700" marB="12700" anchor="ctr">
                    <a:solidFill>
                      <a:srgbClr val="13294B"/>
                    </a:solidFill>
                    <a:lnB w="9525" cap="flat">
                      <a:solidFill>
                        <a:srgbClr val="35527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marL="63500" marR="38100" marT="12700" marB="12700" anchor="ctr">
                    <a:solidFill>
                      <a:srgbClr val="13294B"/>
                    </a:solidFill>
                    <a:lnB w="9525" cap="flat">
                      <a:solidFill>
                        <a:srgbClr val="35527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Kusto</a:t>
                      </a:r>
                    </a:p>
                  </a:txBody>
                  <a:tcPr marL="63500" marR="38100" marT="12700" marB="12700" anchor="ctr">
                    <a:solidFill>
                      <a:srgbClr val="13294B"/>
                    </a:solidFill>
                    <a:lnB w="9525" cap="flat">
                      <a:solidFill>
                        <a:srgbClr val="35527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Alem</a:t>
                      </a:r>
                    </a:p>
                  </a:txBody>
                  <a:tcPr marL="63500" marR="38100" marT="12700" marB="12700" anchor="ctr">
                    <a:solidFill>
                      <a:srgbClr val="13294B"/>
                    </a:solidFill>
                    <a:lnB w="9525" cap="flat">
                      <a:solidFill>
                        <a:srgbClr val="355274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2A3746"/>
                          </a:solidFill>
                          <a:latin typeface="Calibri"/>
                        </a:rPr>
                        <a:t>Карбамид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A3746"/>
                          </a:solidFill>
                          <a:latin typeface="Calibri"/>
                        </a:rPr>
                        <a:t>N 56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1">
                          <a:solidFill>
                            <a:srgbClr val="2F6690"/>
                          </a:solidFill>
                          <a:latin typeface="Calibri"/>
                        </a:rPr>
                        <a:t>441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1">
                          <a:solidFill>
                            <a:srgbClr val="2F6690"/>
                          </a:solidFill>
                          <a:latin typeface="Calibri"/>
                        </a:rPr>
                        <a:t>467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2A3746"/>
                          </a:solidFill>
                          <a:latin typeface="Calibri"/>
                        </a:rPr>
                        <a:t>Аммофос</a:t>
                      </a:r>
                    </a:p>
                  </a:txBody>
                  <a:tcPr marL="63500" marR="38100" marT="12700" marB="12700" anchor="ctr">
                    <a:solidFill>
                      <a:srgbClr val="F4F6F9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A3746"/>
                          </a:solidFill>
                          <a:latin typeface="Calibri"/>
                        </a:rPr>
                        <a:t>P 52</a:t>
                      </a:r>
                    </a:p>
                  </a:txBody>
                  <a:tcPr marL="63500" marR="38100" marT="12700" marB="12700" anchor="ctr">
                    <a:solidFill>
                      <a:srgbClr val="F4F6F9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1">
                          <a:solidFill>
                            <a:srgbClr val="2F6690"/>
                          </a:solidFill>
                          <a:latin typeface="Calibri"/>
                        </a:rPr>
                        <a:t>475</a:t>
                      </a:r>
                    </a:p>
                  </a:txBody>
                  <a:tcPr marL="63500" marR="38100" marT="12700" marB="12700" anchor="ctr">
                    <a:solidFill>
                      <a:srgbClr val="F4F6F9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1">
                          <a:solidFill>
                            <a:srgbClr val="2F6690"/>
                          </a:solidFill>
                          <a:latin typeface="Calibri"/>
                        </a:rPr>
                        <a:t>823</a:t>
                      </a:r>
                    </a:p>
                  </a:txBody>
                  <a:tcPr marL="63500" marR="38100" marT="12700" marB="12700" anchor="ctr">
                    <a:solidFill>
                      <a:srgbClr val="F4F6F9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2A3746"/>
                          </a:solidFill>
                          <a:latin typeface="Calibri"/>
                        </a:rPr>
                        <a:t>Сульфоаммофос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A3746"/>
                          </a:solidFill>
                          <a:latin typeface="Calibri"/>
                        </a:rPr>
                        <a:t>20-20-14S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1">
                          <a:solidFill>
                            <a:srgbClr val="2F6690"/>
                          </a:solidFill>
                          <a:latin typeface="Calibri"/>
                        </a:rPr>
                        <a:t>492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1">
                          <a:solidFill>
                            <a:srgbClr val="2F6690"/>
                          </a:solidFill>
                          <a:latin typeface="Calibri"/>
                        </a:rPr>
                        <a:t>584</a:t>
                      </a:r>
                    </a:p>
                  </a:txBody>
                  <a:tcPr marL="63500" marR="38100" marT="12700" marB="12700" anchor="ctr">
                    <a:solidFill>
                      <a:srgbClr val="FFFFFF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2A3746"/>
                          </a:solidFill>
                          <a:latin typeface="Calibri"/>
                        </a:rPr>
                        <a:t>Аммиачная селитра</a:t>
                      </a:r>
                    </a:p>
                  </a:txBody>
                  <a:tcPr marL="63500" marR="38100" marT="12700" marB="12700" anchor="ctr">
                    <a:solidFill>
                      <a:srgbClr val="F4F6F9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A3746"/>
                          </a:solidFill>
                          <a:latin typeface="Calibri"/>
                        </a:rPr>
                        <a:t>N 34</a:t>
                      </a:r>
                    </a:p>
                  </a:txBody>
                  <a:tcPr marL="63500" marR="38100" marT="12700" marB="12700" anchor="ctr">
                    <a:solidFill>
                      <a:srgbClr val="F4F6F9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1">
                          <a:solidFill>
                            <a:srgbClr val="2F6690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marL="63500" marR="38100" marT="12700" marB="12700" anchor="ctr">
                    <a:solidFill>
                      <a:srgbClr val="F4F6F9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1">
                          <a:solidFill>
                            <a:srgbClr val="2F6690"/>
                          </a:solidFill>
                          <a:latin typeface="Calibri"/>
                        </a:rPr>
                        <a:t>343</a:t>
                      </a:r>
                    </a:p>
                  </a:txBody>
                  <a:tcPr marL="63500" marR="38100" marT="12700" marB="12700" anchor="ctr">
                    <a:solidFill>
                      <a:srgbClr val="F4F6F9"/>
                    </a:solidFill>
                    <a:lnB w="9525" cap="flat">
                      <a:solidFill>
                        <a:srgbClr val="DCE3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8000" y="3962400"/>
            <a:ext cx="8128000" cy="5588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200" y="3962400"/>
            <a:ext cx="7747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>
                <a:solidFill>
                  <a:srgbClr val="E0A46A"/>
                </a:solidFill>
                <a:latin typeface="Calibri"/>
              </a:rPr>
              <a:t>ПРЕИМУЩЕСТВО:  </a:t>
            </a:r>
            <a:r>
              <a:rPr sz="950" b="0">
                <a:solidFill>
                  <a:srgbClr val="FFFFFF"/>
                </a:solidFill>
                <a:latin typeface="Calibri"/>
              </a:rPr>
              <a:t>ОМУ дешевле импортных комплексных удобрений (~$630/т) и минеральных аналогов при эффективности питательных веществ 1:3 (ФАО); логистика ≈ $25/т.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2F6690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6B7A8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6B7A8D"/>
                </a:solidFill>
                <a:latin typeface="Calibri"/>
              </a:rPr>
              <a:t>АНАЛИЗ РЫНКА · ЦЕНЫ И СЕБЕСТОИМОСТЬ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6B7A8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2345</Words>
  <Application>Microsoft Office PowerPoint</Application>
  <PresentationFormat>Экран (16:9)</PresentationFormat>
  <Paragraphs>475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KazBioFert / BBFF — Board of Directors</dc:title>
  <dc:subject>PptxGenJS Presentation</dc:subject>
  <dc:creator>KazBioFert</dc:creator>
  <cp:lastModifiedBy>Алимбек Аубакиров</cp:lastModifiedBy>
  <cp:revision>28</cp:revision>
  <dcterms:created xsi:type="dcterms:W3CDTF">2026-07-07T10:49:46Z</dcterms:created>
  <dcterms:modified xsi:type="dcterms:W3CDTF">2026-07-07T12:11:43Z</dcterms:modified>
</cp:coreProperties>
</file>