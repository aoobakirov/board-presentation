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18.jpg" ContentType="image/jpg"/>
  <Override PartName="/ppt/media/image1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0" r:id="rId16"/>
    <p:sldId id="281" r:id="rId17"/>
    <p:sldId id="282" r:id="rId18"/>
    <p:sldId id="283" r:id="rId19"/>
    <p:sldId id="284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Производство</c:v>
                </c:pt>
              </c:strCache>
            </c:strRef>
          </c:tx>
          <c:spPr>
            <a:ln w="31750">
              <a:solidFill>
                <a:srgbClr val="2F6690"/>
              </a:solidFill>
            </a:ln>
          </c:spPr>
          <c:marker>
            <c:symbol val="circle"/>
            <c:size val="5"/>
            <c:spPr>
              <a:solidFill>
                <a:srgbClr val="2F669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200</c:v>
                </c:pt>
                <c:pt idx="1">
                  <c:v>202</c:v>
                </c:pt>
                <c:pt idx="2">
                  <c:v>205</c:v>
                </c:pt>
                <c:pt idx="3">
                  <c:v>198</c:v>
                </c:pt>
                <c:pt idx="4">
                  <c:v>208</c:v>
                </c:pt>
                <c:pt idx="5">
                  <c:v>212</c:v>
                </c:pt>
                <c:pt idx="6">
                  <c:v>216</c:v>
                </c:pt>
                <c:pt idx="7">
                  <c:v>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B8-4C19-9725-7E323024EF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ln w="31750">
              <a:solidFill>
                <a:srgbClr val="C4772F"/>
              </a:solidFill>
            </a:ln>
          </c:spPr>
          <c:marker>
            <c:symbol val="circle"/>
            <c:size val="5"/>
            <c:spPr>
              <a:solidFill>
                <a:srgbClr val="C4772F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190</c:v>
                </c:pt>
                <c:pt idx="1">
                  <c:v>193</c:v>
                </c:pt>
                <c:pt idx="2">
                  <c:v>195</c:v>
                </c:pt>
                <c:pt idx="3">
                  <c:v>185</c:v>
                </c:pt>
                <c:pt idx="4">
                  <c:v>198</c:v>
                </c:pt>
                <c:pt idx="5">
                  <c:v>204</c:v>
                </c:pt>
                <c:pt idx="6">
                  <c:v>208</c:v>
                </c:pt>
                <c:pt idx="7">
                  <c:v>211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BB8-4C19-9725-7E323024E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75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"/>
          <c:min val="16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50">
              <a:solidFill>
                <a:srgbClr val="2A3746"/>
              </a:solidFill>
              <a:latin typeface="Calibri"/>
            </a:defRPr>
          </a:pPr>
          <a:endParaRPr lang="ru-KZ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кг/га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4772F"/>
              </a:solidFill>
            </c:spPr>
            <c:extLst>
              <c:ext xmlns:c16="http://schemas.microsoft.com/office/drawing/2014/chart" uri="{C3380CC4-5D6E-409C-BE32-E72D297353CC}">
                <c16:uniqueId val="{00000001-DACB-4F94-A66E-38E4B5895A20}"/>
              </c:ext>
            </c:extLst>
          </c:dPt>
          <c:dPt>
            <c:idx val="1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3-DACB-4F94-A66E-38E4B5895A20}"/>
              </c:ext>
            </c:extLst>
          </c:dPt>
          <c:dPt>
            <c:idx val="2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5-DACB-4F94-A66E-38E4B5895A20}"/>
              </c:ext>
            </c:extLst>
          </c:dPt>
          <c:dPt>
            <c:idx val="3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7-DACB-4F94-A66E-38E4B5895A20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1">
                    <a:solidFill>
                      <a:srgbClr val="2A3746"/>
                    </a:solidFill>
                    <a:latin typeface="Calibri"/>
                  </a:defRPr>
                </a:pPr>
                <a:endParaRPr lang="ru-K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Казахстан</c:v>
                </c:pt>
                <c:pt idx="1">
                  <c:v>Афганистан</c:v>
                </c:pt>
                <c:pt idx="2">
                  <c:v>Узбекистан</c:v>
                </c:pt>
                <c:pt idx="3">
                  <c:v>Бразилия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150</c:v>
                </c:pt>
                <c:pt idx="3">
                  <c:v>344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ACB-4F94-A66E-38E4B5895A2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8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AEC8D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124.6</c:v>
                </c:pt>
                <c:pt idx="1">
                  <c:v>513.7</c:v>
                </c:pt>
                <c:pt idx="2">
                  <c:v>637.8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93-48CE-A10A-C84B8E6DF2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76.8</c:v>
                </c:pt>
                <c:pt idx="1">
                  <c:v>183.4</c:v>
                </c:pt>
                <c:pt idx="2">
                  <c:v>266.5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93-48CE-A10A-C84B8E6DF2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2A374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6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26.png"/><Relationship Id="rId11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9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40.png"/><Relationship Id="rId7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10241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847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Биогазовый завод и производство органоминеральных удобрений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Стратегический зелёный промышленный проект: биогаз, генерация энергии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производство органоминеральных удобрений в Казахстане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201168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33101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Совета директоров Kusto Group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июля 2026  ·  г. Житикара, Костанайская область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переходит из стадии подготовки в стадию проектного финансирования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</a:t>
            </a:r>
            <a:r>
              <a:rPr lang="en-US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ится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экспертизе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35608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100%, адаптация под РК завершается; сдача на госэкспертизу —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августа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начало сентября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928616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plu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0136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~9</a:t>
            </a:r>
            <a:r>
              <a:rPr lang="ru-RU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0136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ключевым ТУ получены положительные ответы: энергия, газ, вода, подъездные пути, связь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04088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2324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структурируется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35608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(лизинг), Халык + гарантия БРК; цель — структура на уровне проектной компании без гарантий акционеров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4928616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348" y="323240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0136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сбыта прорабатывается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660136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Agro, Фос-Агро, MakFert, UzKimyo Impex — перевод переговоров в предварительные соглашения по сбыту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4224528"/>
            <a:ext cx="8138160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31520" y="422452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фокус этапа: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адаптации ПСД, прохождение госэкспертизы и структурирование финансирования на уровне проектной компании.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платформа на 17,29 га с тремя источниками выручки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30936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 — земельный участок (аренда 20 лет, внесён в УК)</a:t>
            </a:r>
            <a:endParaRPr lang="ru-RU" sz="950" dirty="0">
              <a:solidFill>
                <a:srgbClr val="2A374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ru-RU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– </a:t>
            </a:r>
            <a:r>
              <a:rPr lang="ru-RU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150 млн тенге</a:t>
            </a:r>
            <a:endParaRPr lang="en-US" sz="950" b="1" dirty="0"/>
          </a:p>
        </p:txBody>
      </p:sp>
      <p:sp>
        <p:nvSpPr>
          <p:cNvPr id="7" name="Shape 5"/>
          <p:cNvSpPr/>
          <p:nvPr/>
        </p:nvSpPr>
        <p:spPr>
          <a:xfrm>
            <a:off x="2660904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752344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69 557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м² — производственные здания и сооружения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0936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здание и сооружение на площадке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60904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752344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88920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источника выручки: энергия, удобрения, карбон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ИСТОЧНИКА ВЫРУЧКИ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 </a:t>
            </a: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сельхозотходы и солома → биогаз (4 реактора)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92040" y="2212848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0" descr="assets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2345436"/>
            <a:ext cx="265176" cy="2651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68696" y="21762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Электроэнергия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и продажа по тарифу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892040" y="2926080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1" descr="assets/icons/seedl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3058668"/>
            <a:ext cx="265176" cy="26517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68696" y="28895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Органоминеральные удобрения (ОМУ)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892040" y="3639312"/>
            <a:ext cx="530352" cy="530352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3771900"/>
            <a:ext cx="265176" cy="2651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568696" y="36027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Карбоновые офсеты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Углеродные единицы от снижения метана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ОБОСНОВАНИЕ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решает пять государственных и рыночных задач — это инвестиционная защита проекта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Импортозамещение удобрений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489045"/>
            <a:ext cx="2377440" cy="24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зависимости Казахстана от импортных минеральных удобрений собственным производством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65576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8013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Возобновляемая энергия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47288" y="250581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«зелёной» электроэнергии по тарифу и в рамках национальной повестки ВИЭ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227064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8013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отходами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08776" y="25179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Переработка сельхозотходов и органики — </a:t>
            </a:r>
            <a:r>
              <a:rPr lang="ru-RU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циркулярная экономика </a:t>
            </a:r>
            <a:r>
              <a:rPr lang="en-US" sz="87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региональном уровне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502920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04088" y="3227832"/>
            <a:ext cx="548640" cy="54864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leaf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649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повестка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5800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и потенциал монетизации через продажу углеродных единиц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3264408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65576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industr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736" y="336499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7288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развитие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47288" y="406338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актив, рабочие места и инфраструктура в Сайрамском районе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025896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227064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targe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4224" y="336499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модели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08776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Диверсифицированная выручка: энергия + удобрения + возможные углеродные и грантовые поступления</a:t>
            </a:r>
            <a:endParaRPr lang="en-US" sz="870" dirty="0"/>
          </a:p>
        </p:txBody>
      </p:sp>
      <p:sp>
        <p:nvSpPr>
          <p:cNvPr id="34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НАПРАВЛЕНИЯ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шесть направлений в работе; критический путь — ПСД, тариф и финансирование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162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30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697480" y="1463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выполнено, часть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передана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адапторам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получено освобождение от КПН за нерезидента 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6492240" y="14630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 2026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589520" y="15773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589520" y="15773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0710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075688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yn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16712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06424" y="20071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697480" y="20071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переведены, адаптация решений завершается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6492240" y="200710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589520" y="212140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758952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551176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619756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71119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06424" y="25511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Земельный участок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2697480" y="2551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17,29 га получен, назначение изменено, внесён в УК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6492240" y="255117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Март 2026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589520" y="266547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7589520" y="26654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09524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163824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255264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06424" y="30952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2697480" y="30952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Раскрыта БГ; рассматривается повторный аукцион</a:t>
            </a:r>
            <a:endParaRPr lang="en-US" sz="980" dirty="0"/>
          </a:p>
        </p:txBody>
      </p:sp>
      <p:sp>
        <p:nvSpPr>
          <p:cNvPr id="33" name="Text 27"/>
          <p:cNvSpPr/>
          <p:nvPr/>
        </p:nvSpPr>
        <p:spPr>
          <a:xfrm>
            <a:off x="6492240" y="309524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решения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7589520" y="32095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443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29"/>
          <p:cNvSpPr/>
          <p:nvPr/>
        </p:nvSpPr>
        <p:spPr>
          <a:xfrm>
            <a:off x="75895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6393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70789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mone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799332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06424" y="3639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2697480" y="36393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проработке у ФРП, БРК, БВУ; структурируется</a:t>
            </a:r>
            <a:endParaRPr lang="en-US" sz="980" dirty="0"/>
          </a:p>
        </p:txBody>
      </p:sp>
      <p:sp>
        <p:nvSpPr>
          <p:cNvPr id="41" name="Text 34"/>
          <p:cNvSpPr/>
          <p:nvPr/>
        </p:nvSpPr>
        <p:spPr>
          <a:xfrm>
            <a:off x="6492240" y="36393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2026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7589520" y="37536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36"/>
          <p:cNvSpPr/>
          <p:nvPr/>
        </p:nvSpPr>
        <p:spPr>
          <a:xfrm>
            <a:off x="7589520" y="37536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02920" y="418338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8"/>
          <p:cNvSpPr/>
          <p:nvPr/>
        </p:nvSpPr>
        <p:spPr>
          <a:xfrm>
            <a:off x="621792" y="425196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5" descr="assets/icons/handsha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43400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106424" y="41833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/ сбыт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2697480" y="41833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Переговоры с трейдерами; твёрдые договоры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 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</a:t>
            </a:r>
            <a:endParaRPr lang="en-US" sz="980" dirty="0"/>
          </a:p>
        </p:txBody>
      </p:sp>
      <p:sp>
        <p:nvSpPr>
          <p:cNvPr id="49" name="Text 41"/>
          <p:cNvSpPr/>
          <p:nvPr/>
        </p:nvSpPr>
        <p:spPr>
          <a:xfrm>
            <a:off x="6492240" y="41833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58952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3"/>
          <p:cNvSpPr/>
          <p:nvPr/>
        </p:nvSpPr>
        <p:spPr>
          <a:xfrm>
            <a:off x="75895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52" name="Text 44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4" name="Text 46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И ТЕХНИЧЕСКИЕ УСЛОВИЯ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ТУ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по ключевым инженерным направлениям — положительные ответы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828800" cy="283464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r>
              <a:rPr lang="ru-RU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по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разрешительной части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280160" cy="0"/>
          </a:xfrm>
          <a:prstGeom prst="line">
            <a:avLst/>
          </a:prstGeom>
          <a:noFill/>
          <a:ln w="12700">
            <a:solidFill>
              <a:srgbClr val="5B8CB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10 </a:t>
            </a:r>
            <a:r>
              <a:rPr lang="en-US" sz="10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— положительный ответ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060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</a:t>
            </a:r>
            <a:endParaRPr lang="en-US" sz="950" dirty="0"/>
          </a:p>
        </p:txBody>
      </p:sp>
      <p:pic>
        <p:nvPicPr>
          <p:cNvPr id="10" name="Image 0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76479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2072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ОЖТ</a:t>
            </a:r>
            <a:endParaRPr lang="en-US" sz="1000" dirty="0"/>
          </a:p>
        </p:txBody>
      </p:sp>
      <p:pic>
        <p:nvPicPr>
          <p:cNvPr id="12" name="Image 1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76479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— ОЖТ</a:t>
            </a:r>
            <a:endParaRPr lang="en-US" sz="1000" dirty="0"/>
          </a:p>
        </p:txBody>
      </p:sp>
      <p:pic>
        <p:nvPicPr>
          <p:cNvPr id="14" name="Image 2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148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— QazaqGaz Aimaq</a:t>
            </a:r>
            <a:endParaRPr lang="en-US" sz="1000" dirty="0"/>
          </a:p>
        </p:txBody>
      </p:sp>
      <p:pic>
        <p:nvPicPr>
          <p:cNvPr id="16" name="Image 3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89788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Слив отработанной воды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ГКП «Аксу»</a:t>
            </a:r>
            <a:endParaRPr lang="en-US" sz="1000" dirty="0"/>
          </a:p>
        </p:txBody>
      </p:sp>
      <p:pic>
        <p:nvPicPr>
          <p:cNvPr id="18" name="Image 4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532888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62072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Подъездные пути —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кимат</a:t>
            </a:r>
            <a:endParaRPr lang="en-US" sz="1000" dirty="0"/>
          </a:p>
        </p:txBody>
      </p:sp>
      <p:pic>
        <p:nvPicPr>
          <p:cNvPr id="20" name="Image 5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532888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897880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КТЖ ВЛ-10</a:t>
            </a:r>
            <a:endParaRPr lang="en-US" sz="1000" dirty="0"/>
          </a:p>
        </p:txBody>
      </p:sp>
      <p:pic>
        <p:nvPicPr>
          <p:cNvPr id="22" name="Image 6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16936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862072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— Казахтелеком / Jusan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2606040" y="34015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950" dirty="0"/>
          </a:p>
        </p:txBody>
      </p:sp>
      <p:sp>
        <p:nvSpPr>
          <p:cNvPr id="25" name="Shape 16"/>
          <p:cNvSpPr/>
          <p:nvPr/>
        </p:nvSpPr>
        <p:spPr>
          <a:xfrm>
            <a:off x="2624328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17"/>
          <p:cNvSpPr/>
          <p:nvPr/>
        </p:nvSpPr>
        <p:spPr>
          <a:xfrm>
            <a:off x="286207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Скважина -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Арало-Сырдар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бас. </a:t>
            </a:r>
            <a:r>
              <a:rPr lang="kk-KZ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нспекция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660136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19"/>
          <p:cNvSpPr/>
          <p:nvPr/>
        </p:nvSpPr>
        <p:spPr>
          <a:xfrm>
            <a:off x="589788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ВЛ-35 (SALUS)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альтернатива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2624328" y="4087368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1"/>
          <p:cNvSpPr/>
          <p:nvPr/>
        </p:nvSpPr>
        <p:spPr>
          <a:xfrm>
            <a:off x="2862072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— обществ. слушания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2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</a:t>
            </a:r>
            <a:endParaRPr lang="en-US" sz="800" dirty="0"/>
          </a:p>
        </p:txBody>
      </p:sp>
      <p:sp>
        <p:nvSpPr>
          <p:cNvPr id="33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7552" y="1828800"/>
            <a:ext cx="7778262" cy="54864"/>
          </a:xfrm>
          <a:prstGeom prst="line">
            <a:avLst/>
          </a:prstGeom>
          <a:noFill/>
          <a:ln w="254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5820520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И ГРАФИК ГОСЭКСПЕРТИЗЫ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осэкспертиза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ОВОС → рассмотрение финансовыми институтами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05828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2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8668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868668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ПСД на 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гос.экспертизу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868668" y="2971800"/>
            <a:ext cx="1624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Окончание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еревод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адаптация технологической и производственной документации под требования РК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878005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file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20" y="169668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845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740845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– эко экспертиза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40845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Экологическая экспертиза через общественные слушания</a:t>
            </a:r>
            <a:endParaRPr lang="en-US" sz="930" dirty="0"/>
          </a:p>
        </p:txBody>
      </p:sp>
      <p:pic>
        <p:nvPicPr>
          <p:cNvPr id="16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305" y="1703364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83360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683360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экспертиза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833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положительного заключения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7751314" y="1600200"/>
            <a:ext cx="457200" cy="45720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mone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614" y="17145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14154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614154" y="2423160"/>
            <a:ext cx="1635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Финансовое рассмотрение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614154" y="2807207"/>
            <a:ext cx="1418503" cy="1216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акет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положительным заключением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финансирования ФРП, БРК и БВУ;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года</a:t>
            </a:r>
            <a:endParaRPr lang="en-US" sz="930" b="1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ПСД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01820D7-19C2-5B39-C309-17524D40CEB1}"/>
              </a:ext>
            </a:extLst>
          </p:cNvPr>
          <p:cNvSpPr/>
          <p:nvPr/>
        </p:nvSpPr>
        <p:spPr>
          <a:xfrm>
            <a:off x="247368" y="16093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09D9FA05-47D3-50A4-A791-6362F4C22DC4}"/>
              </a:ext>
            </a:extLst>
          </p:cNvPr>
          <p:cNvSpPr/>
          <p:nvPr/>
        </p:nvSpPr>
        <p:spPr>
          <a:xfrm>
            <a:off x="162953" y="21828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Июль-Август 2025</a:t>
            </a:r>
            <a:endParaRPr lang="en-US" sz="10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145807CF-DC76-8983-2B35-EBE40351CFA9}"/>
              </a:ext>
            </a:extLst>
          </p:cNvPr>
          <p:cNvSpPr/>
          <p:nvPr/>
        </p:nvSpPr>
        <p:spPr>
          <a:xfrm>
            <a:off x="162953" y="24388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ционные</a:t>
            </a: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работы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</a:t>
            </a:r>
            <a:endParaRPr lang="en-US" sz="125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7338EACF-C322-540D-F9D3-EF25E9BC6ED4}"/>
              </a:ext>
            </a:extLst>
          </p:cNvPr>
          <p:cNvSpPr/>
          <p:nvPr/>
        </p:nvSpPr>
        <p:spPr>
          <a:xfrm>
            <a:off x="162953" y="2987508"/>
            <a:ext cx="15685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по адаптации и приведению ПСД к СНИПам и ГОСТам к РК</a:t>
            </a:r>
            <a:endParaRPr lang="en-US" sz="930" dirty="0"/>
          </a:p>
        </p:txBody>
      </p:sp>
      <p:pic>
        <p:nvPicPr>
          <p:cNvPr id="40" name="Image 0" descr="assets/icons/compass_white.png">
            <a:extLst>
              <a:ext uri="{FF2B5EF4-FFF2-40B4-BE49-F238E27FC236}">
                <a16:creationId xmlns:a16="http://schemas.microsoft.com/office/drawing/2014/main" id="{8CDECF00-CDEA-17D5-1A46-085D0CAFF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5" y="170769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Открытие финансирования сдвигается с августа–сентября на декабрь 2026 из-за адаптационных работ ПСД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99339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993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ПЛАН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97480" y="214884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9864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19456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9456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Июнь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32180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1772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1772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Июль–август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44968" y="202996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Август–сентябрь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2724912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F7ECE0"/>
          </a:solidFill>
          <a:ln w="12700">
            <a:solidFill>
              <a:srgbClr val="E0A46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0" descr="assets/icons/arrowright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79806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456432" y="27249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открытия финансирования ≈ 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авг–сен → I </a:t>
            </a:r>
            <a:r>
              <a:rPr lang="ru-RU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45643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3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50292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ПЕРЕСМОТРЕННЫЙ ПЛАН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697480" y="361188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219456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 (расшир.)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9456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II–III кв.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1408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381000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81000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12952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42544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42544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Сен.–нояб.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744968" y="349300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04088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04088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5" name="Image 1" descr="assets/icons/sync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41655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60704" y="43159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сдвига: 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 ПСД от </a:t>
            </a:r>
            <a:r>
              <a:rPr lang="en-US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ALTACA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мес.;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адаптационн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ых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 под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РК</a:t>
            </a:r>
            <a:endParaRPr lang="en-US" sz="930" dirty="0"/>
          </a:p>
        </p:txBody>
      </p:sp>
      <p:sp>
        <p:nvSpPr>
          <p:cNvPr id="37" name="Text 3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ПЛОЩАДКА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из 31 здания и сооружения на 69 557 м² — полный производственный цикл на одной площадке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2120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assets/iso_complex_f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3977640" cy="2237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комплекса — реакторы, цеха, склады, лагуны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459028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assets/aerial_close_fla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89888"/>
            <a:ext cx="3977640" cy="22374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Аэроснимок площадки в границах участка 17,29 га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50292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09728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09651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сырья</a:t>
            </a:r>
            <a:endParaRPr lang="en-US" sz="980" dirty="0"/>
          </a:p>
        </p:txBody>
      </p:sp>
      <p:sp>
        <p:nvSpPr>
          <p:cNvPr id="14" name="Text 9"/>
          <p:cNvSpPr/>
          <p:nvPr/>
        </p:nvSpPr>
        <p:spPr>
          <a:xfrm>
            <a:off x="53949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соломы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14884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274320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assets/icons/ga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4096512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18541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Биогаз</a:t>
            </a:r>
            <a:endParaRPr lang="en-US" sz="980" dirty="0"/>
          </a:p>
        </p:txBody>
      </p:sp>
      <p:sp>
        <p:nvSpPr>
          <p:cNvPr id="19" name="Text 13"/>
          <p:cNvSpPr/>
          <p:nvPr/>
        </p:nvSpPr>
        <p:spPr>
          <a:xfrm>
            <a:off x="218541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реактора · 8 лагун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379476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438912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4" descr="assets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09651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3133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 и тепло</a:t>
            </a:r>
            <a:endParaRPr lang="en-US" sz="980" dirty="0"/>
          </a:p>
        </p:txBody>
      </p:sp>
      <p:sp>
        <p:nvSpPr>
          <p:cNvPr id="24" name="Text 17"/>
          <p:cNvSpPr/>
          <p:nvPr/>
        </p:nvSpPr>
        <p:spPr>
          <a:xfrm>
            <a:off x="383133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· декантер</a:t>
            </a:r>
            <a:endParaRPr lang="en-US" sz="700" dirty="0"/>
          </a:p>
        </p:txBody>
      </p:sp>
      <p:sp>
        <p:nvSpPr>
          <p:cNvPr id="25" name="Shape 18"/>
          <p:cNvSpPr/>
          <p:nvPr/>
        </p:nvSpPr>
        <p:spPr>
          <a:xfrm>
            <a:off x="544068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603504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5" descr="assets/icons/seedl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4096512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7725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</a:t>
            </a:r>
            <a:endParaRPr lang="en-US" sz="980" dirty="0"/>
          </a:p>
        </p:txBody>
      </p:sp>
      <p:sp>
        <p:nvSpPr>
          <p:cNvPr id="29" name="Text 21"/>
          <p:cNvSpPr/>
          <p:nvPr/>
        </p:nvSpPr>
        <p:spPr>
          <a:xfrm>
            <a:off x="547725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компост · ОМУ · склады</a:t>
            </a:r>
            <a:endParaRPr lang="en-US" sz="700" dirty="0"/>
          </a:p>
        </p:txBody>
      </p:sp>
      <p:sp>
        <p:nvSpPr>
          <p:cNvPr id="30" name="Shape 22"/>
          <p:cNvSpPr/>
          <p:nvPr/>
        </p:nvSpPr>
        <p:spPr>
          <a:xfrm>
            <a:off x="708660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7680960" y="4005072"/>
            <a:ext cx="365760" cy="36576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6" descr="assets/icons/building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096512"/>
            <a:ext cx="182880" cy="1828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12317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980" dirty="0"/>
          </a:p>
        </p:txBody>
      </p:sp>
      <p:sp>
        <p:nvSpPr>
          <p:cNvPr id="34" name="Text 25"/>
          <p:cNvSpPr/>
          <p:nvPr/>
        </p:nvSpPr>
        <p:spPr>
          <a:xfrm>
            <a:off x="712317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 · КПП · сети</a:t>
            </a:r>
            <a:endParaRPr lang="en-US" sz="700" dirty="0"/>
          </a:p>
        </p:txBody>
      </p:sp>
      <p:sp>
        <p:nvSpPr>
          <p:cNvPr id="35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СТРУКТУРА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Действующая схема: лизинг ФРП и гарантия БРК; собственное участие ~4,8 млрд ₸ (≈20% проекта)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22376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653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— оборудование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40664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40664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12,56%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Лизинг; предмет залога — само оборудование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99232" y="2331720"/>
            <a:ext cx="1188720" cy="292608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 млрд ₸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46904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865376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0136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Халык Банк — СМР и ПСД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965192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965192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965192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90%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965192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до 90% (~4,7 млрд ₸ покрытия)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223760" y="2331719"/>
            <a:ext cx="1188720" cy="475487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223760" y="233172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 </a:t>
            </a:r>
            <a:r>
              <a:rPr lang="en-US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₸</a:t>
            </a:r>
            <a:b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Расходы на </a:t>
            </a:r>
            <a:r>
              <a:rPr lang="ru-RU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ПСД+адаптация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02920" y="384048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77724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77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покупки оборудования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10896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47472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347472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депозитный заклад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ХБ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0,5 + 1,5 млрд ЧОК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617220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</a:t>
            </a: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6301154" y="4323705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итоговая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потребность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ИНВЕСТИЦИОННЫЕ ПОКАЗАТЕЛИ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инвестиционно привлекателен: доходность 31%, окупаемость около 5 лет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83324"/>
              </p:ext>
            </p:extLst>
          </p:nvPr>
        </p:nvGraphicFramePr>
        <p:xfrm>
          <a:off x="502920" y="1572768"/>
          <a:ext cx="5440680" cy="27432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Показатель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Проект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Собств. капитал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IRR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NPV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30,8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5,2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Ставка дисконтирования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12,71%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23,35%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5,06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3,54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Диск. 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6,09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572768"/>
            <a:ext cx="2468880" cy="2788920"/>
          </a:xfrm>
          <a:prstGeom prst="roundRect">
            <a:avLst>
              <a:gd name="adj" fmla="val 3704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355080" y="17373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КАПИТАЛА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21,5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355080" y="25054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 ₸ — инвестиции всего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2889504"/>
            <a:ext cx="1682496" cy="310896"/>
          </a:xfrm>
          <a:prstGeom prst="roundRect">
            <a:avLst>
              <a:gd name="adj" fmla="val 8824"/>
            </a:avLst>
          </a:prstGeom>
          <a:solidFill>
            <a:srgbClr val="5B8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8037576" y="2889504"/>
            <a:ext cx="420624" cy="310896"/>
          </a:xfrm>
          <a:prstGeom prst="roundRect">
            <a:avLst>
              <a:gd name="adj" fmla="val 8824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6355080" y="2889504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4" name="Text 9"/>
          <p:cNvSpPr/>
          <p:nvPr/>
        </p:nvSpPr>
        <p:spPr>
          <a:xfrm>
            <a:off x="8037576" y="28895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5080" y="3310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Заём: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17,2 млрд 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35661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 участие: </a:t>
            </a:r>
            <a:r>
              <a:rPr lang="en-US" sz="10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4,3 млрд 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210312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35508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B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заёмных средств — 80%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ИНВЕСТПОКАЗАТЕЛИ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Финансирование на уровне проектной компании — без гарантий акционеров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658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 KazBioFert / BBFF — возврат из денежных потоков проекта, а не из активов и гарантий акционеров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85800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025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380744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— самостоятельная проектная компания с ограниченным регрессом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85800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0083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0744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из денежного потока проекта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380744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от электроэнергии, продажи удобрений, возможные углеродные и грантовые поступления</a:t>
            </a:r>
            <a:endParaRPr lang="en-US" sz="870" dirty="0"/>
          </a:p>
        </p:txBody>
      </p:sp>
      <p:sp>
        <p:nvSpPr>
          <p:cNvPr id="15" name="Shape 11"/>
          <p:cNvSpPr/>
          <p:nvPr/>
        </p:nvSpPr>
        <p:spPr>
          <a:xfrm>
            <a:off x="502920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assets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142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80744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Ограниченное собственное участие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380744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 — только в пределах заранее утверждённого лимита</a:t>
            </a:r>
            <a:endParaRPr lang="en-US" sz="870" dirty="0"/>
          </a:p>
        </p:txBody>
      </p:sp>
      <p:sp>
        <p:nvSpPr>
          <p:cNvPr id="20" name="Shape 15"/>
          <p:cNvSpPr/>
          <p:nvPr/>
        </p:nvSpPr>
        <p:spPr>
          <a:xfrm>
            <a:off x="4727448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910328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assets/icons/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200253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05272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— активы и контракты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05272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Оборудование, проектные активы, права требования, договоры на электроэнергию и сбыт, счета</a:t>
            </a:r>
            <a:endParaRPr lang="en-US" sz="870" dirty="0"/>
          </a:p>
        </p:txBody>
      </p:sp>
      <p:sp>
        <p:nvSpPr>
          <p:cNvPr id="25" name="Shape 19"/>
          <p:cNvSpPr/>
          <p:nvPr/>
        </p:nvSpPr>
        <p:spPr>
          <a:xfrm>
            <a:off x="4727448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910328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7488" y="300837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05272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институтов развития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605272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БРК / Байтерек вместо личных гарантий и поручительств группы</a:t>
            </a:r>
            <a:endParaRPr lang="en-US" sz="870" dirty="0"/>
          </a:p>
        </p:txBody>
      </p:sp>
      <p:sp>
        <p:nvSpPr>
          <p:cNvPr id="30" name="Shape 23"/>
          <p:cNvSpPr/>
          <p:nvPr/>
        </p:nvSpPr>
        <p:spPr>
          <a:xfrm>
            <a:off x="4727448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910328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5" descr="assets/icons/balanc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7488" y="40142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605272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менеджмента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605272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 err="1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положительное решение от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ФРП, БРК и БВУ</a:t>
            </a:r>
            <a:endParaRPr lang="en-US" sz="870" dirty="0"/>
          </a:p>
        </p:txBody>
      </p:sp>
      <p:sp>
        <p:nvSpPr>
          <p:cNvPr id="35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ФИНАНСИРОВАНИЯ</a:t>
            </a:r>
            <a:endParaRPr lang="en-US" sz="800" dirty="0"/>
          </a:p>
        </p:txBody>
      </p:sp>
      <p:sp>
        <p:nvSpPr>
          <p:cNvPr id="37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финансирования — ФРП + гарантия БРК + БВУ; гранты и углеродные доходы — как доп. возможность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281330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Инструмент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Что финансирует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Ориентир. объём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Регресс / гарантии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Приоритет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ФРП — лизинг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Оборудование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~15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Залог оборудования; цель — без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Халык + гарантия БРК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ПСД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~6,5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Гарантия БРК до 90% вместо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БРК / Байтерек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Проектн. фин. / 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Институциональная гарантия, ограниченный регресс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БВУ (Форте, Береке…)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оборотный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Уступка прав по электроэнергии/сбыту, резервный счёт, эскроу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Даму / субсидии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Субсидия ставки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В пределах лимитов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Дополнительный, не основной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Kazakh Invest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Льготы / преференции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НДС, пошлины, контракт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Инвестпреференции, не долговой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Японский грант (JCM)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Грант (доп.)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 ~1,3 млрд ¥ (уточн.)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Безвозвратный — дополнительный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Углеродное финансирование / межд. институты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Углерод / долгосрочное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Эко-стандарты / проектное финансирование с огранич. регрессом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«Низкий» = не базовый источник, а дополнительная возможность. «Уточн.» — условия требуют подтверждения институтов.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БЕЗ ГАРАНТИЙ АКЦИОНЕРОВ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обеспечения вместо личных гарантий: активы, права требования, гарантии ИР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9224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" y="178993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1016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оборудования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71016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как основной предмет залога (ФРП-лизинг)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10712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442" y="178993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32504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проектных активов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032504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Строящиеся объекты и основные средства проекта</a:t>
            </a:r>
            <a:endParaRPr lang="en-US" sz="83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172200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178993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93992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793992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 вместо поручительства акционеров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502920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649224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954" y="28689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71016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электроэнергии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271016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требования по выручке за электроэнергию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3264408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10712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handshak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6442" y="2868930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032504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сбыту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4032504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контрактам на удобрения</a:t>
            </a:r>
            <a:endParaRPr lang="en-US" sz="830" dirty="0"/>
          </a:p>
        </p:txBody>
      </p:sp>
      <p:sp>
        <p:nvSpPr>
          <p:cNvPr id="29" name="Shape 22"/>
          <p:cNvSpPr/>
          <p:nvPr/>
        </p:nvSpPr>
        <p:spPr>
          <a:xfrm>
            <a:off x="6025896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172200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pigg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7930" y="2868930"/>
            <a:ext cx="251460" cy="2514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+ эскроу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793992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обслуживания долга и эскроу-счета</a:t>
            </a:r>
            <a:endParaRPr lang="en-US" sz="830" dirty="0"/>
          </a:p>
        </p:txBody>
      </p:sp>
      <p:sp>
        <p:nvSpPr>
          <p:cNvPr id="34" name="Shape 26"/>
          <p:cNvSpPr/>
          <p:nvPr/>
        </p:nvSpPr>
        <p:spPr>
          <a:xfrm>
            <a:off x="502920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649224" y="3822192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6" name="Image 6" descr="assets/icons/contrac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954" y="3947922"/>
            <a:ext cx="251460" cy="25146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71016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подрядчика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1271016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от подрядчика + гарантии поставщика</a:t>
            </a:r>
            <a:endParaRPr lang="en-US" sz="830" dirty="0"/>
          </a:p>
        </p:txBody>
      </p:sp>
      <p:sp>
        <p:nvSpPr>
          <p:cNvPr id="39" name="Shape 30"/>
          <p:cNvSpPr/>
          <p:nvPr/>
        </p:nvSpPr>
        <p:spPr>
          <a:xfrm>
            <a:off x="3264408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1"/>
          <p:cNvSpPr/>
          <p:nvPr/>
        </p:nvSpPr>
        <p:spPr>
          <a:xfrm>
            <a:off x="3410712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1" name="Image 7" descr="assets/icons/shield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442" y="3947922"/>
            <a:ext cx="251460" cy="25146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4032504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/ Байтерек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4032504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Институциональная / кредитная гарантия банку</a:t>
            </a:r>
            <a:endParaRPr lang="en-US" sz="830" dirty="0"/>
          </a:p>
        </p:txBody>
      </p:sp>
      <p:sp>
        <p:nvSpPr>
          <p:cNvPr id="44" name="Shape 34"/>
          <p:cNvSpPr/>
          <p:nvPr/>
        </p:nvSpPr>
        <p:spPr>
          <a:xfrm>
            <a:off x="6025896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5"/>
          <p:cNvSpPr/>
          <p:nvPr/>
        </p:nvSpPr>
        <p:spPr>
          <a:xfrm>
            <a:off x="6172200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8" descr="assets/icons/leaf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7930" y="3947922"/>
            <a:ext cx="251460" cy="251460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793992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углеродных доходов</a:t>
            </a:r>
            <a:endParaRPr lang="en-US" sz="1100" dirty="0"/>
          </a:p>
        </p:txBody>
      </p:sp>
      <p:sp>
        <p:nvSpPr>
          <p:cNvPr id="48" name="Text 37"/>
          <p:cNvSpPr/>
          <p:nvPr/>
        </p:nvSpPr>
        <p:spPr>
          <a:xfrm>
            <a:off x="6793992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возможных углеродных поступлений + страховое покрытие</a:t>
            </a:r>
            <a:endParaRPr lang="en-US" sz="830" dirty="0"/>
          </a:p>
        </p:txBody>
      </p:sp>
      <p:sp>
        <p:nvSpPr>
          <p:cNvPr id="49" name="Text 38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0" name="Text 39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800" dirty="0"/>
          </a:p>
        </p:txBody>
      </p:sp>
      <p:sp>
        <p:nvSpPr>
          <p:cNvPr id="51" name="Text 40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69000" y="0"/>
            <a:ext cx="3175000" cy="5143500"/>
          </a:xfrm>
          <a:prstGeom prst="rect">
            <a:avLst/>
          </a:prstGeom>
          <a:solidFill>
            <a:srgbClr val="0C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969000" y="0"/>
            <a:ext cx="0" cy="5143500"/>
          </a:xfrm>
          <a:prstGeom prst="line">
            <a:avLst/>
          </a:prstGeom>
          <a:ln w="12700">
            <a:solidFill>
              <a:srgbClr val="243A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1200" y="1168400"/>
            <a:ext cx="381000" cy="381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1200" y="1270000"/>
            <a:ext cx="635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240">
                <a:solidFill>
                  <a:srgbClr val="E0A46A"/>
                </a:solidFill>
                <a:latin typeface="Calibri"/>
              </a:rPr>
              <a:t>MARKET INTELLIGENCE  ·  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АНАЛИЗ 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90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УДОБРЕНИЙ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8702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AEC8DE"/>
                </a:solidFill>
                <a:latin typeface="Calibri"/>
              </a:rPr>
              <a:t>Мировой рынок · Казахстан · Ценовое позиционирование ОМУ · Инвестиционный тезис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200" y="3327400"/>
            <a:ext cx="2997200" cy="279400"/>
          </a:xfrm>
          <a:prstGeom prst="roundRect">
            <a:avLst>
              <a:gd name="adj" fmla="val 50000"/>
            </a:avLst>
          </a:prstGeom>
          <a:solidFill>
            <a:srgbClr val="0C1D38"/>
          </a:solidFill>
          <a:ln w="12700">
            <a:solidFill>
              <a:srgbClr val="355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1200" y="3340100"/>
            <a:ext cx="29972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E0A46A"/>
                </a:solidFill>
                <a:latin typeface="Calibri"/>
              </a:rPr>
              <a:t>Данные актуализированы на 30.06.2026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6600" y="3898900"/>
            <a:ext cx="38100" cy="5842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0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0A46A"/>
                </a:solidFill>
                <a:latin typeface="Arial"/>
              </a:rPr>
              <a:t>208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мировой спрос на NPK (пит. в-ва),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74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52800" y="3898900"/>
            <a:ext cx="38100" cy="5842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052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AEC8DE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удобрений РК, 2025 (+19% г/г)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835400"/>
            <a:ext cx="26924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69000" y="3898900"/>
            <a:ext cx="38100" cy="584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1400" y="3911600"/>
            <a:ext cx="24130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≈27%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400" y="4216400"/>
            <a:ext cx="2387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· $330 себест. → $450 цена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РАЗДЕЛ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МИРОВОЙ РЫНОК УДОБРЕНИЙ  ·  IFA / WORLD BANK,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Мировое предложение удобрений превышает спрос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Спрос ≈ 208 млн т питательных веществ (N+P+K) в 2025; рост 1–2%/год до ~224 млн т к 2029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732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Мировой баланс, млн т питательных веществ (N+P₂O₅+K₂O)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84200" y="1701800"/>
          <a:ext cx="4826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109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0" y="1460500"/>
            <a:ext cx="2667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Структура мирового спроса,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0828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2F6690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Азот 116   </a:t>
            </a:r>
            <a:r>
              <a:rPr sz="900" b="1">
                <a:solidFill>
                  <a:srgbClr val="E0A46A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Фосфор 48   </a:t>
            </a:r>
            <a:r>
              <a:rPr sz="900" b="1">
                <a:solidFill>
                  <a:srgbClr val="6B7A8D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Калий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146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5781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5908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2F6690"/>
                </a:solidFill>
                <a:latin typeface="Arial"/>
              </a:rPr>
              <a:t>204→208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8956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мировое потребление, 2024→2025 (рекорд)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369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38800" y="32004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91200" y="32131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+1–2%</a:t>
            </a:r>
            <a:r>
              <a:rPr sz="1050" b="1">
                <a:solidFill>
                  <a:srgbClr val="6B7A8D"/>
                </a:solidFill>
                <a:latin typeface="Calibri"/>
              </a:rPr>
              <a:t> /год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0" y="35179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прогноз роста спроса до 224 млн т к 2029 (IFA)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ЦЕНЫ 06.2026:  </a:t>
            </a:r>
            <a:r>
              <a:rPr sz="950" b="0">
                <a:solidFill>
                  <a:srgbClr val="FFFFFF"/>
                </a:solidFill>
                <a:latin typeface="Calibri"/>
              </a:rPr>
              <a:t>карбамид ≈ $700/т, DAP ≈ $720/т (+60–80% с начала года) — рост от перебоев через Ормузский пролив, а не от дефицита; локальное сырьё защищает маржу ОМУ. Ослабление ожидается в 2027 (World Bank).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IFA Medium-Term Fertilizer Outlook 2025–2029; World Bank Commodity Markets, 06.2026. Основа: питательные вещества (N+P₂O₅+K₂O).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МИРОВОЙ РЫНОК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БНС РК / ENERGYPROM,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dirty="0" err="1">
                <a:solidFill>
                  <a:srgbClr val="13294B"/>
                </a:solidFill>
                <a:latin typeface="Arial"/>
              </a:rPr>
              <a:t>Казахстан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lang="ru-RU" sz="2100" b="1" dirty="0">
                <a:solidFill>
                  <a:srgbClr val="13294B"/>
                </a:solidFill>
                <a:latin typeface="Arial"/>
              </a:rPr>
              <a:t>-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импортозависимый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и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недоудобренный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рынок</a:t>
            </a:r>
            <a:endParaRPr sz="2100" b="1" dirty="0">
              <a:solidFill>
                <a:srgbClr val="13294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Ёмкость ≈ 1,3 млн т в 2025 (+19% г/г); внесение 4–5 кг/га против агрономической нормы 80–100 кг/га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Внесение удобрений, кг действ. в-ва на га пашни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1473200"/>
            <a:ext cx="2235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1">
                <a:solidFill>
                  <a:srgbClr val="C4772F"/>
                </a:solidFill>
                <a:latin typeface="Calibri"/>
              </a:rPr>
              <a:t>агронорма 80–100 кг/га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84200" y="1752600"/>
          <a:ext cx="4826000" cy="185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13400" y="13462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38800" y="14097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4224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1,3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0" y="17272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ёмкость рынка РК, 2025 (+19% г/г)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3400" y="19558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38800" y="20193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91200" y="20320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43,6%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3368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самообеспеченность по азоту (фосфор — 98,5%)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654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6289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6416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≈ 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9464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доля завода (75 тыс т ОМУ) в потреблении РК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75000"/>
            <a:ext cx="3022600" cy="5334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2700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5800" y="3238500"/>
            <a:ext cx="27178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40" b="1" spc="50" dirty="0">
                <a:solidFill>
                  <a:srgbClr val="6B7A8D"/>
                </a:solidFill>
                <a:latin typeface="Calibri"/>
              </a:rPr>
              <a:t>СТРУКТУРА ИМПОРТА (с</a:t>
            </a:r>
            <a:r>
              <a:rPr lang="kk-KZ" sz="740" b="1" spc="50" dirty="0">
                <a:solidFill>
                  <a:srgbClr val="6B7A8D"/>
                </a:solidFill>
                <a:latin typeface="Calibri"/>
              </a:rPr>
              <a:t>тоимость</a:t>
            </a:r>
            <a:r>
              <a:rPr lang="ru-KZ" sz="740" b="1" spc="50" dirty="0">
                <a:solidFill>
                  <a:srgbClr val="6B7A8D"/>
                </a:solidFill>
                <a:latin typeface="Calibri"/>
              </a:rPr>
              <a:t>)</a:t>
            </a:r>
            <a:endParaRPr sz="740" b="1" spc="50" dirty="0">
              <a:solidFill>
                <a:srgbClr val="6B7A8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65800" y="34290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Россия </a:t>
            </a:r>
            <a:r>
              <a:rPr sz="1000" b="1">
                <a:solidFill>
                  <a:srgbClr val="2F6690"/>
                </a:solidFill>
                <a:latin typeface="Calibri"/>
              </a:rPr>
              <a:t>73%</a:t>
            </a:r>
            <a:r>
              <a:rPr sz="1000" b="0">
                <a:solidFill>
                  <a:srgbClr val="2A3746"/>
                </a:solidFill>
                <a:latin typeface="Calibri"/>
              </a:rPr>
              <a:t>    ·    Узбекистан </a:t>
            </a:r>
            <a:r>
              <a:rPr sz="1000" b="1">
                <a:solidFill>
                  <a:srgbClr val="2F6690"/>
                </a:solidFill>
                <a:latin typeface="Calibri"/>
              </a:rPr>
              <a:t>11%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ИМПОРТОЗАМЕЩЕНИЕ:  </a:t>
            </a:r>
            <a:r>
              <a:rPr sz="950" b="0">
                <a:solidFill>
                  <a:srgbClr val="FFFFFF"/>
                </a:solidFill>
                <a:latin typeface="Calibri"/>
              </a:rPr>
              <a:t>внесение в 15–20× ниже нормы и рост импорта (552 → 700 тыс т за 2023–2025) формируют структурный, растущий спрос на доступные ОМУ; завод (75 тыс т) закрывает ≈ 11% импорта РК.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Бюро нацстатистики РК; EnergyProm / ElDala, 2025; FAO, World Bank (внесение). Показатели — товарный тоннаж.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КАЗАХСТАН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ЦЕНОВОЕ ПОЗИЦИОНИРОВАНИЕ  ·  ЭКОНОМИКА ОМУ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Себестоимость ОМУ $330/т при цене реализации $450/т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ОМУ NPK 8-21: себестоимость $330/т (сырьё + производство); цена $450/т; валовая маржа ≈ 27% ($120/т)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2946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2540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Экономика 1 т ОМУ, $/т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00" y="2630714"/>
            <a:ext cx="533400" cy="798285"/>
          </a:xfrm>
          <a:prstGeom prst="roundRect">
            <a:avLst>
              <a:gd name="adj" fmla="val 4000"/>
            </a:avLst>
          </a:prstGeom>
          <a:solidFill>
            <a:srgbClr val="5B8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1200" y="2427514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5B8C6E"/>
                </a:solidFill>
                <a:latin typeface="Calibri"/>
              </a:rPr>
              <a:t>$330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Себест.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2340428"/>
            <a:ext cx="533400" cy="1088571"/>
          </a:xfrm>
          <a:prstGeom prst="roundRect">
            <a:avLst>
              <a:gd name="adj" fmla="val 4000"/>
            </a:avLst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7800" y="2137228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2F6690"/>
                </a:solidFill>
                <a:latin typeface="Calibri"/>
              </a:rPr>
              <a:t>$450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Цена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0600" y="1905000"/>
            <a:ext cx="533400" cy="1524000"/>
          </a:xfrm>
          <a:prstGeom prst="roundRect">
            <a:avLst>
              <a:gd name="adj" fmla="val 4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84400" y="1701800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$630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4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Импорт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9000"/>
            <a:ext cx="25400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56000" y="1346200"/>
            <a:ext cx="1905000" cy="23622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>
            <a:noFill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08400" y="1651000"/>
            <a:ext cx="16002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0A46A"/>
                </a:solidFill>
                <a:latin typeface="Arial"/>
              </a:rPr>
              <a:t>≈27%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100" y="2108200"/>
            <a:ext cx="16002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валовая 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100" y="23114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$120 на тонну ОМУ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21100" y="2641600"/>
            <a:ext cx="1498600" cy="0"/>
          </a:xfrm>
          <a:prstGeom prst="line">
            <a:avLst/>
          </a:prstGeom>
          <a:ln w="9525">
            <a:solidFill>
              <a:srgbClr val="3552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8400" y="2794000"/>
            <a:ext cx="16002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E0A46A"/>
                </a:solidFill>
                <a:latin typeface="Arial"/>
              </a:rPr>
              <a:t>−29%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100" y="3175000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к цене импортного
комплексного аналога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8000" y="1346200"/>
            <a:ext cx="30480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40400" y="1447800"/>
            <a:ext cx="2794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1" spc="50">
                <a:solidFill>
                  <a:srgbClr val="6B7A8D"/>
                </a:solidFill>
                <a:latin typeface="Calibri"/>
              </a:rPr>
              <a:t>ЦЕНЫ КОНКУРЕНТОВ, $/т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15000" y="1676400"/>
          <a:ext cx="2794000" cy="18415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Продукт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NPK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Kusto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Alem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Карбамид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56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467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Аммофос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P 52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475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823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Сульфоаммофос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20-20-14S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584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Аммиачная селитра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34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dirty="0">
                <a:solidFill>
                  <a:srgbClr val="E0A46A"/>
                </a:solidFill>
                <a:latin typeface="Calibri"/>
              </a:rPr>
              <a:t>ПРЕИМУЩЕСТВО:  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ОМУ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≈ 29%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дешевле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импортных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комплексных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удобрений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(~$630/т)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эффективности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питательных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веществ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1:3 (ФАО) и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локальном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сырье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устойчивая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юнит-экономика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независимо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от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глобальных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цен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маркетинговый анализ проекта, 2026; World Bank, 06.2026; ФАО (эффективность 1:3). Цены — ориентировочные, до подтверждения контрактами.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ЦЕНЫ И ЭКОНОМИКА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E0A46A"/>
                </a:solidFill>
                <a:latin typeface="Calibri"/>
              </a:rPr>
              <a:t>ИНВЕСТИЦИОННЫЙ ТЕЗИС  ·  MARKET →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FFFFFF"/>
                </a:solidFill>
                <a:latin typeface="Arial"/>
              </a:rPr>
              <a:t>Рынок конвертируется в защищённую выручку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AEC8DE"/>
                </a:solidFill>
                <a:latin typeface="Calibri"/>
              </a:rPr>
              <a:t>Импортозамещение + ценовое преимущество + локальное сырьё = устойчивая маржинальная выручка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РК — адресный спрос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1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03500" y="1435100"/>
            <a:ext cx="38100" cy="6858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59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dirty="0">
                <a:solidFill>
                  <a:srgbClr val="AEC8DE"/>
                </a:solidFill>
                <a:latin typeface="Arial"/>
              </a:rPr>
              <a:t>≈11%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59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доля завода в импорте РК (75 тыс т)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73600" y="1435100"/>
            <a:ext cx="381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26000" y="1398657"/>
            <a:ext cx="1638300" cy="35394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lang="ru-RU" sz="2300" b="1" dirty="0">
                <a:solidFill>
                  <a:srgbClr val="FFFFFF"/>
                </a:solidFill>
                <a:latin typeface="Arial"/>
              </a:rPr>
              <a:t>до </a:t>
            </a:r>
            <a:r>
              <a:rPr sz="2300" b="1" dirty="0">
                <a:solidFill>
                  <a:srgbClr val="FFFFFF"/>
                </a:solidFill>
                <a:latin typeface="Arial"/>
              </a:rPr>
              <a:t>$34</a:t>
            </a:r>
            <a:r>
              <a:rPr sz="1050" b="1" dirty="0">
                <a:solidFill>
                  <a:srgbClr val="AEC8DE"/>
                </a:solidFill>
                <a:latin typeface="Calibri"/>
              </a:rPr>
              <a:t> </a:t>
            </a:r>
            <a:r>
              <a:rPr sz="1050" b="1" dirty="0" err="1">
                <a:solidFill>
                  <a:srgbClr val="AEC8DE"/>
                </a:solidFill>
                <a:latin typeface="Calibri"/>
              </a:rPr>
              <a:t>млн</a:t>
            </a:r>
            <a:r>
              <a:rPr sz="1050" b="1" dirty="0">
                <a:solidFill>
                  <a:srgbClr val="AEC8DE"/>
                </a:solidFill>
                <a:latin typeface="Calibri"/>
              </a:rPr>
              <a:t>/</a:t>
            </a:r>
            <a:r>
              <a:rPr sz="1050" b="1" dirty="0" err="1">
                <a:solidFill>
                  <a:srgbClr val="AEC8DE"/>
                </a:solidFill>
                <a:latin typeface="Calibri"/>
              </a:rPr>
              <a:t>год</a:t>
            </a:r>
            <a:endParaRPr sz="1050" b="1" dirty="0">
              <a:solidFill>
                <a:srgbClr val="AEC8DE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260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выручка ОМУ (75 тыс т × $450/т)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83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437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61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≈27%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61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($120/т)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2362200"/>
            <a:ext cx="8128000" cy="1168400"/>
          </a:xfrm>
          <a:prstGeom prst="roundRect">
            <a:avLst>
              <a:gd name="adj" fmla="val 4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1200" y="25400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000" y="24892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Импортозамещение — государственный приоритет: спрос структурный и растущий, не привязан к сырьевому суперциклу.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200" y="28829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9000" y="28321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Ценовое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преимущество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: ОМУ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на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≈ 29%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дешевле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импортных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комплексных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удобрений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(~$630/т)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эффективности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1:3 (ФАО).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1200" y="32258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9000" y="3175000"/>
            <a:ext cx="7569200" cy="146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Локальная себестоимость ($330/т) защищает маржу от волатильности мировых цен.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/>
            </a:r>
            <a:r>
              <a:rPr sz="969" b="0" dirty="0">
                <a:solidFill>
                  <a:srgbClr val="D6E0EC"/>
                </a:solidFill>
                <a:latin typeface="Calibri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8000" y="3683000"/>
            <a:ext cx="8128000" cy="584200"/>
          </a:xfrm>
          <a:prstGeom prst="roundRect">
            <a:avLst>
              <a:gd name="adj" fmla="val 6000"/>
            </a:avLst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1200" y="3683000"/>
            <a:ext cx="7747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 dirty="0">
                <a:solidFill>
                  <a:srgbClr val="13294B"/>
                </a:solidFill>
                <a:latin typeface="Calibri"/>
              </a:rPr>
              <a:t>ПРОЕКТНАЯ ЭКОНОМИКА:  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IRR 31%  ·  NPV ≈ 30,8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млрд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₸  ·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окупаемость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≈ 5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лет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 —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подтверждается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рыночной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позицией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(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цена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ОМУ $450/т).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6F8298"/>
                </a:solidFill>
                <a:latin typeface="Calibri"/>
              </a:rPr>
              <a:t>Расчёты менеджмента на основе проектных данных (≥75 тыс т/год, цена $450/т) и рыночных источников IFA / World Bank / БНС РК.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ИНВЕСТИЦИОННЫЙ ТЕЗИС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  ·  ПОЛЕВЫЕ ИСПЫТАНИЯ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ОМУ дают прирост урожайности 19–25% против аналогов на трёх культурах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87652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22376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Кормовая кукуруза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2376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 т/га против ЖКУ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22376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Акмолинская обл. · NPK 12-12-12 · 80 кг/га, однократно с семенами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3264408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465576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787652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50792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3483864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Яровой ячмень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83864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2,82 против 2,26 т/га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83864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3483864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 · аналоги (аммофос 10-46, Яра Милла) — лишь +2%</a:t>
            </a:r>
            <a:endParaRPr lang="en-US" sz="860" dirty="0"/>
          </a:p>
        </p:txBody>
      </p:sp>
      <p:sp>
        <p:nvSpPr>
          <p:cNvPr id="20" name="Shape 16"/>
          <p:cNvSpPr/>
          <p:nvPr/>
        </p:nvSpPr>
        <p:spPr>
          <a:xfrm>
            <a:off x="6025896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27064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1787652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300" dirty="0"/>
          </a:p>
        </p:txBody>
      </p:sp>
      <p:sp>
        <p:nvSpPr>
          <p:cNvPr id="24" name="Text 19"/>
          <p:cNvSpPr/>
          <p:nvPr/>
        </p:nvSpPr>
        <p:spPr>
          <a:xfrm>
            <a:off x="6245352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Яровая пшеница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245352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200 кг/га (+11% при 100 кг/га)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245352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6245352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Бараева · NP 8-21-15SO₃ → +22% к контролю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502920" y="3712464"/>
            <a:ext cx="8138160" cy="603504"/>
          </a:xfrm>
          <a:prstGeom prst="roundRect">
            <a:avLst>
              <a:gd name="adj" fmla="val 12121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9" name="Image 3" descr="assets/icons/star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8770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4241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зерна повышено до 1 класса (контроль — 2); клейковина 28,7–30,4%</a:t>
            </a:r>
            <a:endParaRPr lang="en-US" sz="900" dirty="0"/>
          </a:p>
        </p:txBody>
      </p:sp>
      <p:pic>
        <p:nvPicPr>
          <p:cNvPr id="31" name="Image 4" descr="assets/icons/seedl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877056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6577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одномоментно с семенами — без дополнительной техники и проходов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отдельных полевых опытов 2023 г.; часть экономических расчётов зависит от методики анализа — перед инвест-решением рекомендуется независимая агрономическая проверка.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И ПОДТВЕРЖДЕНИЕ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Независимое заключение НПЦЗХ и эффективность 1:3 подтверждают позицию ОМУ на рынке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45920"/>
            <a:ext cx="512064" cy="512064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7739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16642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подтверждение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1284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2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А.И. Бараева рекомендует ОМУ NPK 12-12-12 и NP 8-21-15SO₃ для яровой пшеницы: урожайность сопоставима с аммофосом, зерно — 1 класс.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931920" cy="1417320"/>
          </a:xfrm>
          <a:prstGeom prst="roundRect">
            <a:avLst>
              <a:gd name="adj" fmla="val 5806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8580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44F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питательных веществ ОМУ к минеральным (по данным ФАО)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2376" y="38404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12-12-12 ОМУ ≈ NPK 36-36-36 мин. · NP 8-21 ОМУ ≈ NP 12-52 аммофос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9160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≥ 75 000 Т/ГОД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4837176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NPK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837176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12-12-12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39128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867144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67144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8-21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4709160" y="2596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Состав: 40% органического вещества · 15% гуминовой + фульвовой кислоты · pH 5–7 · без патогенов и семян сорняков</a:t>
            </a:r>
            <a:endParaRPr lang="en-US" sz="880" dirty="0"/>
          </a:p>
        </p:txBody>
      </p:sp>
      <p:pic>
        <p:nvPicPr>
          <p:cNvPr id="21" name="Image 1" descr="assets/icons/seedling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3145536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0056" y="3108960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при посеве — без дополнительной техники</a:t>
            </a:r>
            <a:endParaRPr lang="en-US" sz="950" dirty="0"/>
          </a:p>
        </p:txBody>
      </p:sp>
      <p:pic>
        <p:nvPicPr>
          <p:cNvPr id="23" name="Image 2" descr="assets/icons/recycle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47472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0056" y="3438144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почвы: +2% плодородного слоя в год</a:t>
            </a:r>
            <a:endParaRPr lang="en-US" sz="950" dirty="0"/>
          </a:p>
        </p:txBody>
      </p:sp>
      <p:pic>
        <p:nvPicPr>
          <p:cNvPr id="25" name="Image 3" descr="assets/icons/coins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380390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0056" y="376732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Дешевле минеральных: 40–60% состава — органика</a:t>
            </a:r>
            <a:endParaRPr lang="en-US" sz="950" dirty="0"/>
          </a:p>
        </p:txBody>
      </p:sp>
      <p:pic>
        <p:nvPicPr>
          <p:cNvPr id="27" name="Image 4" descr="assets/icons/shiel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13308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20056" y="4096512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Стабильный гарантированный состав NPK под запрос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КОММЕРЧЕСКАЯ ПРОРАБОТКА · СБЫТ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сбыта на 4 рынках; задача — перевести переговоры в предварительные соглашения и условия сделок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216152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8379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Agro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Казахстан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30936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на внутреннем рынке РК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2660904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374136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37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Фос-Агро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752344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788920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схема реализации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818888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5532120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8" name="Image 2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3794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10328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MakFert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910328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Турция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946904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10 тыс. тонн в год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6976872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90104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3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183794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68312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UzKimyo Impex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068312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104888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экспортный канал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502920" y="361188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4" descr="assets/icons/target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70432" y="3767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Управленческий вывод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1170432" y="4059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активно прорабатывается, но для привлечения финансирования переговоры необходимо перевести в предварительные соглашения, условия сделок, рамочные или предварительные договоры сбыта. Твёрдые договоры планируются после открытия финансирования и начала СМР.</a:t>
            </a:r>
            <a:endParaRPr lang="en-US" sz="1030" dirty="0"/>
          </a:p>
        </p:txBody>
      </p:sp>
      <p:sp>
        <p:nvSpPr>
          <p:cNvPr id="32" name="Text 2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БЮДЖЕТА ЗА 1 ПОЛУГОДИЕ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 ниже бюджета из-за сдвига графика; финансирование учредителей — тоже ниже плана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481328"/>
          <a:ext cx="50749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9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· план-факт за 6 месяцев 2026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760720" y="1481328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907024" y="157276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Операционная деятельность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498080" y="15544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+47,8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0" y="191109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экономия к плану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5760720" y="2267712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907024" y="235915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Инвестиционная деятельность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498080" y="234086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+330,3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0" y="2697480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ниже плана (сдвиг работ)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760720" y="3054096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907024" y="314553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Финансовая деятельность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7498080" y="31272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−371,3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0" y="3483864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недобор поступлений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760720" y="3840480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07024" y="393192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Денежные средства на конец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7498080" y="39136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315200" y="4270248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факт (план 90,5)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6 МЕС.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 НА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Годовой бюджет ~728 млн ₸; исполнено 266,5 млн ₸ за 1 полугодие (37%), ~462 млн ₸ — во II полугодии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70328551-68D6-10A3-BDCD-295268E8B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284302"/>
              </p:ext>
            </p:extLst>
          </p:nvPr>
        </p:nvGraphicFramePr>
        <p:xfrm>
          <a:off x="230115" y="1326728"/>
          <a:ext cx="8683769" cy="2882915"/>
        </p:xfrm>
        <a:graphic>
          <a:graphicData uri="http://schemas.openxmlformats.org/drawingml/2006/table">
            <a:tbl>
              <a:tblPr/>
              <a:tblGrid>
                <a:gridCol w="1042594">
                  <a:extLst>
                    <a:ext uri="{9D8B030D-6E8A-4147-A177-3AD203B41FA5}">
                      <a16:colId xmlns:a16="http://schemas.microsoft.com/office/drawing/2014/main" val="289259040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1689829021"/>
                    </a:ext>
                  </a:extLst>
                </a:gridCol>
                <a:gridCol w="361071">
                  <a:extLst>
                    <a:ext uri="{9D8B030D-6E8A-4147-A177-3AD203B41FA5}">
                      <a16:colId xmlns:a16="http://schemas.microsoft.com/office/drawing/2014/main" val="4090045445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658930044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3640480232"/>
                    </a:ext>
                  </a:extLst>
                </a:gridCol>
                <a:gridCol w="320451">
                  <a:extLst>
                    <a:ext uri="{9D8B030D-6E8A-4147-A177-3AD203B41FA5}">
                      <a16:colId xmlns:a16="http://schemas.microsoft.com/office/drawing/2014/main" val="174758931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8333266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39893706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504146471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2048312961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2758640154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813759758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419985940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625686787"/>
                    </a:ext>
                  </a:extLst>
                </a:gridCol>
                <a:gridCol w="320451">
                  <a:extLst>
                    <a:ext uri="{9D8B030D-6E8A-4147-A177-3AD203B41FA5}">
                      <a16:colId xmlns:a16="http://schemas.microsoft.com/office/drawing/2014/main" val="4205624849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957051336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600771278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85902880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87034760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82425905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459596190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298564263"/>
                    </a:ext>
                  </a:extLst>
                </a:gridCol>
              </a:tblGrid>
              <a:tr h="24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Название статьи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Январь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Февраль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Март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Апрель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Май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Июнь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ИТОГО ЗА 6 МЕСЯЦЕВ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084927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операционной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3870727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399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(124 582 000)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(76 771 514)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782925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Аренда З/У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(381 834)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(111 834)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638245"/>
                  </a:ext>
                </a:extLst>
              </a:tr>
              <a:tr h="11805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Зарплата и соответствующие отчисления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(11 549 446)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(41 446)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11 508 000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(10 790 263)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3 183 737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(20 281 912)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(6 307 912)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(3 000 000)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12 344 000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(13 560 491)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1 783 509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(81 652 000)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(59 182 113)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22 469 887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68077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Административные расходы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(2 710 000)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(4 863 640)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(2 153 640)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(3 760 000)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2 721 389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(1 360 000)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(4 526 000)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(3 166 000)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(1 851 033)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14 258 967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14 587 030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(2 610 000)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(3 405 313)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(795 313)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(42 660 000)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(17 207 567)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25 452 433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834930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операционной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(106 628 000)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(59 777 956)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66350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инвестиционной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019171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средств, всего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6572455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330 247 320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5137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Приобретение земельного участка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566095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Изменение ПДП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4325674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Проектирование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(157 636 267)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157 636 267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(12 500 000)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(170 136 267)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(125 776 992)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44 359 275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529581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Адаптация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(20 381 130)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(43 256 895)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(254 559 603)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196 888 045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477439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01646"/>
                  </a:ext>
                </a:extLst>
              </a:tr>
              <a:tr h="11805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 (генерация)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76389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Банковская гарантия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02620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Расходы по площадке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791894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Основные средства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43425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инвестиционной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85 317 695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244 929 625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1285797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финансовой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088252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015063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Поступление в УК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5172817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Получение займов от 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637 800 000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266 540 587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088976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811676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финансовой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674945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Влияние изменений обменного курса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D9D9D9"/>
                          </a:solidFill>
                          <a:effectLst/>
                          <a:latin typeface="Arial" panose="020B0604020202020204" pitchFamily="34" charset="0"/>
                        </a:rPr>
                        <a:t>        65 000,00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65 000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114993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Чистое изменение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220 306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(162 594)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(382 900)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(58 427)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26 967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85 394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29 875 573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63 562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(29 812 011)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(9 427)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3 368 469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3 377 896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5 000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(4 527 970)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(30 510 895)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7 612 090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38 122 984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30 033 025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(1 226 566)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(31 259 591)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007726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начало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100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164 050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163 950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60 448 163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5 246 369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(55 201 794)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204313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конец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(477 769)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8 049 574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8 527 344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90 481 189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5 519 804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(84 961 385)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5451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И МЕРЫ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управляемых рисков; критические точки — тариф на электроэнергию и график собственного участия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16322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444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/ госэкспертиза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61488" y="160020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761488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703320" y="14447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сроков экспертизы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5669280" y="144475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 адаптации, ранняя подача, буфер в графике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148840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44852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2057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61488" y="2212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2761488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703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Банк. гарантия раскрыта, тариф не закреплён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5669280" y="20574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маршрут: восстановление / повторный аукцион / альт. модель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67004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761488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285750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33856" y="26700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761488" y="282549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 lang="ru-KZ" dirty="0"/>
          </a:p>
        </p:txBody>
      </p:sp>
      <p:sp>
        <p:nvSpPr>
          <p:cNvPr id="25" name="Text 20"/>
          <p:cNvSpPr/>
          <p:nvPr/>
        </p:nvSpPr>
        <p:spPr>
          <a:xfrm>
            <a:off x="2761488" y="28254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3703320" y="26700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Недобор собственного участия, условия банков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5669280" y="26700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проектной компании, гарантия БРК, синхронизация графика взносов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28269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374136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3470148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3856" y="328269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61488" y="343814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2761488" y="3438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370332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твёрдых договоров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5669280" y="32826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предварительные соглашения до финансового закрытия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89534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986784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sca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4082796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33856" y="38953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761488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4"/>
          <p:cNvSpPr/>
          <p:nvPr/>
        </p:nvSpPr>
        <p:spPr>
          <a:xfrm>
            <a:off x="2761488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3703320" y="38953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Ограниченность собственного участия</a:t>
            </a:r>
            <a:endParaRPr lang="en-US" sz="880" dirty="0"/>
          </a:p>
        </p:txBody>
      </p:sp>
      <p:sp>
        <p:nvSpPr>
          <p:cNvPr id="43" name="Text 36"/>
          <p:cNvSpPr/>
          <p:nvPr/>
        </p:nvSpPr>
        <p:spPr>
          <a:xfrm>
            <a:off x="5669280" y="389534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Утверждённый лимит собственного участия, структурированный заём акционеров</a:t>
            </a:r>
            <a:endParaRPr lang="en-US" sz="850" dirty="0"/>
          </a:p>
        </p:txBody>
      </p:sp>
      <p:sp>
        <p:nvSpPr>
          <p:cNvPr id="44" name="Text 3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Японский углеродный грант (механизм JCM) — дополнительный, а не базовый источник финансирования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200400" cy="2331720"/>
          </a:xfrm>
          <a:prstGeom prst="roundRect">
            <a:avLst>
              <a:gd name="adj" fmla="val 3922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~1,3 млрд ¥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5836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до ~8 млн долл. США потенциального гранта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" y="3456432"/>
            <a:ext cx="1600200" cy="292608"/>
          </a:xfrm>
          <a:prstGeom prst="roundRect">
            <a:avLst>
              <a:gd name="adj" fmla="val 4375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58368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ПОДТВЕРЖДЕНИЯ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023360" y="1572768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168706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JCM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08576" y="1810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Совместный механизм кредитования — японский инструмент углеродных единиц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023360" y="219456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660" y="23088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8576" y="21579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метана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08576" y="24323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как основа для углеродных единиц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023360" y="2816352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" name="Image 3" descr="assets/icons/coin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7660" y="293065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608576" y="27797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выручка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608576" y="30540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Возможная уступка углеродных поступлений в пользу проекта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023360" y="34381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60" y="3552444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608576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608576" y="36758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как доп. возможность к базовой структуре, не закладывать в расчёт долга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гранта требуют подтверждения материалами и японской стороной (предварительно).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JCM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Благодарим за внимание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931920" y="2514600"/>
            <a:ext cx="128016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  ·  9 июля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Житикара, Костанайская область, Казахстан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5279</Words>
  <Application>Microsoft Office PowerPoint</Application>
  <PresentationFormat>Экран (16:9)</PresentationFormat>
  <Paragraphs>1242</Paragraphs>
  <Slides>27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KazBioFert / BBFF — Board of Directors</dc:title>
  <dc:subject>PptxGenJS Presentation</dc:subject>
  <dc:creator>KazBioFert</dc:creator>
  <cp:lastModifiedBy>Алимбек Аубакиров</cp:lastModifiedBy>
  <cp:revision>35</cp:revision>
  <dcterms:created xsi:type="dcterms:W3CDTF">2026-07-07T10:49:46Z</dcterms:created>
  <dcterms:modified xsi:type="dcterms:W3CDTF">2026-07-08T09:08:02Z</dcterms:modified>
</cp:coreProperties>
</file>