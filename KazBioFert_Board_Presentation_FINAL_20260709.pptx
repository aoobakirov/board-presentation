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18.jpg" ContentType="image/jpg"/>
  <Override PartName="/ppt/media/image1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80" r:id="rId14"/>
    <p:sldId id="281" r:id="rId15"/>
    <p:sldId id="282" r:id="rId16"/>
    <p:sldId id="286" r:id="rId34"/>
    <p:sldId id="283" r:id="rId17"/>
    <p:sldId id="284" r:id="rId18"/>
    <p:sldId id="271" r:id="rId19"/>
    <p:sldId id="272" r:id="rId20"/>
    <p:sldId id="273" r:id="rId21"/>
    <p:sldId id="275" r:id="rId22"/>
    <p:sldId id="285" r:id="rId23"/>
    <p:sldId id="276" r:id="rId24"/>
    <p:sldId id="277" r:id="rId25"/>
    <p:sldId id="279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3BC66F-F9DC-4D5F-84AF-8E176B323A07}" v="1" dt="2026-07-09T06:30:12.1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Алимбек Аубакиров" userId="0d2dddd8a3c35c3e" providerId="LiveId" clId="{E5D989C1-7977-45AF-8B9E-1EEA63DBB1CC}"/>
    <pc:docChg chg="undo custSel delSld modSld">
      <pc:chgData name="Алимбек Аубакиров" userId="0d2dddd8a3c35c3e" providerId="LiveId" clId="{E5D989C1-7977-45AF-8B9E-1EEA63DBB1CC}" dt="2026-07-09T07:00:04.403" v="412" actId="20577"/>
      <pc:docMkLst>
        <pc:docMk/>
      </pc:docMkLst>
      <pc:sldChg chg="modSp mod">
        <pc:chgData name="Алимбек Аубакиров" userId="0d2dddd8a3c35c3e" providerId="LiveId" clId="{E5D989C1-7977-45AF-8B9E-1EEA63DBB1CC}" dt="2026-07-09T06:07:52.923" v="21" actId="20577"/>
        <pc:sldMkLst>
          <pc:docMk/>
          <pc:sldMk cId="0" sldId="256"/>
        </pc:sldMkLst>
        <pc:spChg chg="mod">
          <ac:chgData name="Алимбек Аубакиров" userId="0d2dddd8a3c35c3e" providerId="LiveId" clId="{E5D989C1-7977-45AF-8B9E-1EEA63DBB1CC}" dt="2026-07-09T06:07:52.923" v="21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Алимбек Аубакиров" userId="0d2dddd8a3c35c3e" providerId="LiveId" clId="{E5D989C1-7977-45AF-8B9E-1EEA63DBB1CC}" dt="2026-07-09T06:54:40.442" v="292" actId="20577"/>
        <pc:sldMkLst>
          <pc:docMk/>
          <pc:sldMk cId="0" sldId="258"/>
        </pc:sldMkLst>
        <pc:spChg chg="mod">
          <ac:chgData name="Алимбек Аубакиров" userId="0d2dddd8a3c35c3e" providerId="LiveId" clId="{E5D989C1-7977-45AF-8B9E-1EEA63DBB1CC}" dt="2026-07-09T06:54:40.442" v="292" actId="2057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Алимбек Аубакиров" userId="0d2dddd8a3c35c3e" providerId="LiveId" clId="{E5D989C1-7977-45AF-8B9E-1EEA63DBB1CC}" dt="2026-07-09T06:55:18.413" v="319" actId="20577"/>
        <pc:sldMkLst>
          <pc:docMk/>
          <pc:sldMk cId="0" sldId="260"/>
        </pc:sldMkLst>
        <pc:spChg chg="mod">
          <ac:chgData name="Алимбек Аубакиров" userId="0d2dddd8a3c35c3e" providerId="LiveId" clId="{E5D989C1-7977-45AF-8B9E-1EEA63DBB1CC}" dt="2026-07-09T06:55:18.413" v="319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Алимбек Аубакиров" userId="0d2dddd8a3c35c3e" providerId="LiveId" clId="{E5D989C1-7977-45AF-8B9E-1EEA63DBB1CC}" dt="2026-07-09T06:16:36.419" v="45" actId="113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Алимбек Аубакиров" userId="0d2dddd8a3c35c3e" providerId="LiveId" clId="{E5D989C1-7977-45AF-8B9E-1EEA63DBB1CC}" dt="2026-07-09T06:55:25.361" v="321" actId="20577"/>
        <pc:sldMkLst>
          <pc:docMk/>
          <pc:sldMk cId="0" sldId="261"/>
        </pc:sldMkLst>
        <pc:spChg chg="mod">
          <ac:chgData name="Алимбек Аубакиров" userId="0d2dddd8a3c35c3e" providerId="LiveId" clId="{E5D989C1-7977-45AF-8B9E-1EEA63DBB1CC}" dt="2026-07-09T06:55:25.361" v="321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Алимбек Аубакиров" userId="0d2dddd8a3c35c3e" providerId="LiveId" clId="{E5D989C1-7977-45AF-8B9E-1EEA63DBB1CC}" dt="2026-07-09T06:58:41.405" v="335" actId="20577"/>
        <pc:sldMkLst>
          <pc:docMk/>
          <pc:sldMk cId="0" sldId="263"/>
        </pc:sldMkLst>
        <pc:spChg chg="mod">
          <ac:chgData name="Алимбек Аубакиров" userId="0d2dddd8a3c35c3e" providerId="LiveId" clId="{E5D989C1-7977-45AF-8B9E-1EEA63DBB1CC}" dt="2026-07-09T06:58:41.405" v="335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Алимбек Аубакиров" userId="0d2dddd8a3c35c3e" providerId="LiveId" clId="{E5D989C1-7977-45AF-8B9E-1EEA63DBB1CC}" dt="2026-07-09T06:06:09.096" v="0" actId="47"/>
        <pc:sldMkLst>
          <pc:docMk/>
          <pc:sldMk cId="0" sldId="267"/>
        </pc:sldMkLst>
      </pc:sldChg>
      <pc:sldChg chg="delSp modSp mod">
        <pc:chgData name="Алимбек Аубакиров" userId="0d2dddd8a3c35c3e" providerId="LiveId" clId="{E5D989C1-7977-45AF-8B9E-1EEA63DBB1CC}" dt="2026-07-09T06:34:01.750" v="216" actId="478"/>
        <pc:sldMkLst>
          <pc:docMk/>
          <pc:sldMk cId="0" sldId="268"/>
        </pc:sldMkLst>
        <pc:spChg chg="mod">
          <ac:chgData name="Алимбек Аубакиров" userId="0d2dddd8a3c35c3e" providerId="LiveId" clId="{E5D989C1-7977-45AF-8B9E-1EEA63DBB1CC}" dt="2026-07-09T06:32:41.806" v="214" actId="20577"/>
          <ac:spMkLst>
            <pc:docMk/>
            <pc:sldMk cId="0" sldId="268"/>
            <ac:spMk id="3" creationId="{00000000-0000-0000-0000-000000000000}"/>
          </ac:spMkLst>
        </pc:spChg>
        <pc:spChg chg="del">
          <ac:chgData name="Алимбек Аубакиров" userId="0d2dddd8a3c35c3e" providerId="LiveId" clId="{E5D989C1-7977-45AF-8B9E-1EEA63DBB1CC}" dt="2026-07-09T06:34:01.750" v="216" actId="478"/>
          <ac:spMkLst>
            <pc:docMk/>
            <pc:sldMk cId="0" sldId="268"/>
            <ac:spMk id="5" creationId="{00000000-0000-0000-0000-000000000000}"/>
          </ac:spMkLst>
        </pc:spChg>
        <pc:graphicFrameChg chg="mod modGraphic">
          <ac:chgData name="Алимбек Аубакиров" userId="0d2dddd8a3c35c3e" providerId="LiveId" clId="{E5D989C1-7977-45AF-8B9E-1EEA63DBB1CC}" dt="2026-07-09T06:33:34.011" v="215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</pc:sldChg>
      <pc:sldChg chg="del">
        <pc:chgData name="Алимбек Аубакиров" userId="0d2dddd8a3c35c3e" providerId="LiveId" clId="{E5D989C1-7977-45AF-8B9E-1EEA63DBB1CC}" dt="2026-07-09T06:06:17.018" v="1" actId="47"/>
        <pc:sldMkLst>
          <pc:docMk/>
          <pc:sldMk cId="0" sldId="269"/>
        </pc:sldMkLst>
      </pc:sldChg>
      <pc:sldChg chg="modSp mod">
        <pc:chgData name="Алимбек Аубакиров" userId="0d2dddd8a3c35c3e" providerId="LiveId" clId="{E5D989C1-7977-45AF-8B9E-1EEA63DBB1CC}" dt="2026-07-09T06:54:21.584" v="268" actId="20577"/>
        <pc:sldMkLst>
          <pc:docMk/>
          <pc:sldMk cId="0" sldId="273"/>
        </pc:sldMkLst>
        <pc:spChg chg="mod">
          <ac:chgData name="Алимбек Аубакиров" userId="0d2dddd8a3c35c3e" providerId="LiveId" clId="{E5D989C1-7977-45AF-8B9E-1EEA63DBB1CC}" dt="2026-07-09T06:54:21.584" v="268" actId="20577"/>
          <ac:spMkLst>
            <pc:docMk/>
            <pc:sldMk cId="0" sldId="273"/>
            <ac:spMk id="3" creationId="{00000000-0000-0000-0000-000000000000}"/>
          </ac:spMkLst>
        </pc:spChg>
        <pc:spChg chg="mod">
          <ac:chgData name="Алимбек Аубакиров" userId="0d2dddd8a3c35c3e" providerId="LiveId" clId="{E5D989C1-7977-45AF-8B9E-1EEA63DBB1CC}" dt="2026-07-09T06:54:00.162" v="231" actId="20577"/>
          <ac:spMkLst>
            <pc:docMk/>
            <pc:sldMk cId="0" sldId="273"/>
            <ac:spMk id="15" creationId="{00000000-0000-0000-0000-000000000000}"/>
          </ac:spMkLst>
        </pc:spChg>
        <pc:spChg chg="mod">
          <ac:chgData name="Алимбек Аубакиров" userId="0d2dddd8a3c35c3e" providerId="LiveId" clId="{E5D989C1-7977-45AF-8B9E-1EEA63DBB1CC}" dt="2026-07-09T06:53:29.682" v="228" actId="20577"/>
          <ac:spMkLst>
            <pc:docMk/>
            <pc:sldMk cId="0" sldId="273"/>
            <ac:spMk id="21" creationId="{00000000-0000-0000-0000-000000000000}"/>
          </ac:spMkLst>
        </pc:spChg>
        <pc:spChg chg="mod">
          <ac:chgData name="Алимбек Аубакиров" userId="0d2dddd8a3c35c3e" providerId="LiveId" clId="{E5D989C1-7977-45AF-8B9E-1EEA63DBB1CC}" dt="2026-07-09T06:54:17.305" v="267" actId="20577"/>
          <ac:spMkLst>
            <pc:docMk/>
            <pc:sldMk cId="0" sldId="273"/>
            <ac:spMk id="27" creationId="{00000000-0000-0000-0000-000000000000}"/>
          </ac:spMkLst>
        </pc:spChg>
      </pc:sldChg>
      <pc:sldChg chg="modSp mod">
        <pc:chgData name="Алимбек Аубакиров" userId="0d2dddd8a3c35c3e" providerId="LiveId" clId="{E5D989C1-7977-45AF-8B9E-1EEA63DBB1CC}" dt="2026-07-09T07:00:04.403" v="412" actId="20577"/>
        <pc:sldMkLst>
          <pc:docMk/>
          <pc:sldMk cId="0" sldId="276"/>
        </pc:sldMkLst>
        <pc:spChg chg="mod">
          <ac:chgData name="Алимбек Аубакиров" userId="0d2dddd8a3c35c3e" providerId="LiveId" clId="{E5D989C1-7977-45AF-8B9E-1EEA63DBB1CC}" dt="2026-07-09T07:00:04.403" v="412" actId="20577"/>
          <ac:spMkLst>
            <pc:docMk/>
            <pc:sldMk cId="0" sldId="276"/>
            <ac:spMk id="3" creationId="{00000000-0000-0000-0000-000000000000}"/>
          </ac:spMkLst>
        </pc:spChg>
      </pc:sldChg>
      <pc:sldChg chg="delSp modSp mod">
        <pc:chgData name="Алимбек Аубакиров" userId="0d2dddd8a3c35c3e" providerId="LiveId" clId="{E5D989C1-7977-45AF-8B9E-1EEA63DBB1CC}" dt="2026-07-09T06:59:41.422" v="411" actId="478"/>
        <pc:sldMkLst>
          <pc:docMk/>
          <pc:sldMk cId="0" sldId="284"/>
        </pc:sldMkLst>
        <pc:spChg chg="del">
          <ac:chgData name="Алимбек Аубакиров" userId="0d2dddd8a3c35c3e" providerId="LiveId" clId="{E5D989C1-7977-45AF-8B9E-1EEA63DBB1CC}" dt="2026-07-09T06:59:15.887" v="336" actId="478"/>
          <ac:spMkLst>
            <pc:docMk/>
            <pc:sldMk cId="0" sldId="284"/>
            <ac:spMk id="2" creationId="{00000000-0000-0000-0000-000000000000}"/>
          </ac:spMkLst>
        </pc:spChg>
        <pc:spChg chg="mod">
          <ac:chgData name="Алимбек Аубакиров" userId="0d2dddd8a3c35c3e" providerId="LiveId" clId="{E5D989C1-7977-45AF-8B9E-1EEA63DBB1CC}" dt="2026-07-09T06:59:38.636" v="410" actId="20577"/>
          <ac:spMkLst>
            <pc:docMk/>
            <pc:sldMk cId="0" sldId="284"/>
            <ac:spMk id="3" creationId="{00000000-0000-0000-0000-000000000000}"/>
          </ac:spMkLst>
        </pc:spChg>
        <pc:spChg chg="del">
          <ac:chgData name="Алимбек Аубакиров" userId="0d2dddd8a3c35c3e" providerId="LiveId" clId="{E5D989C1-7977-45AF-8B9E-1EEA63DBB1CC}" dt="2026-07-09T06:59:41.422" v="411" actId="478"/>
          <ac:spMkLst>
            <pc:docMk/>
            <pc:sldMk cId="0" sldId="284"/>
            <ac:spMk id="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B8-4C19-9725-7E323024E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B8-4C19-9725-7E323024E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"/>
          <c:min val="16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  <a:endParaRPr lang="ru-KZ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4772F"/>
              </a:solidFill>
            </c:spPr>
            <c:extLst>
              <c:ext xmlns:c16="http://schemas.microsoft.com/office/drawing/2014/chart" uri="{C3380CC4-5D6E-409C-BE32-E72D297353CC}">
                <c16:uniqueId val="{00000001-DACB-4F94-A66E-38E4B5895A20}"/>
              </c:ext>
            </c:extLst>
          </c:dPt>
          <c:dPt>
            <c:idx val="1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3-DACB-4F94-A66E-38E4B5895A20}"/>
              </c:ext>
            </c:extLst>
          </c:dPt>
          <c:dPt>
            <c:idx val="2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5-DACB-4F94-A66E-38E4B5895A20}"/>
              </c:ext>
            </c:extLst>
          </c:dPt>
          <c:dPt>
            <c:idx val="3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7-DACB-4F94-A66E-38E4B5895A20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1">
                    <a:solidFill>
                      <a:srgbClr val="2A3746"/>
                    </a:solidFill>
                    <a:latin typeface="Calibri"/>
                  </a:defRPr>
                </a:pPr>
                <a:endParaRPr lang="ru-K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ACB-4F94-A66E-38E4B5895A2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8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тыс т</c:v>
                </c:pt>
              </c:strCache>
            </c:strRef>
          </c:tx>
          <c:dPt>
            <c:idx val="0"/>
            <c:spPr>
              <a:solidFill>
                <a:srgbClr val="2F6690"/>
              </a:solidFill>
            </c:spPr>
          </c:dPt>
          <c:dPt>
            <c:idx val="1"/>
            <c:spPr>
              <a:solidFill>
                <a:srgbClr val="AEC8DE"/>
              </a:solidFill>
            </c:spPr>
          </c:dPt>
          <c:cat>
            <c:strRef>
              <c:f>Sheet1!$A$2:$A$3</c:f>
              <c:strCache>
                <c:ptCount val="2"/>
                <c:pt idx="0">
                  <c:v>Казфосфат
(аммофос, P)</c:v>
                </c:pt>
                <c:pt idx="1">
                  <c:v>КазАзот
(селитра, N)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750</c:v>
                </c:pt>
                <c:pt idx="1">
                  <c:v>330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 b="1">
                  <a:solidFill>
                    <a:srgbClr val="2A374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0.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B3D7C-13E7-3F0A-F663-94C953464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2AAA5-24A7-0517-C4B1-3E0BC9F6B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FE539-6D39-7481-C3BE-E33C9425F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9842A-5CA2-F265-6D03-3C2106CE31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78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QazBioFert</a:t>
            </a: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</a:t>
            </a:r>
            <a:r>
              <a:rPr lang="ru-RU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ый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проект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ru-RU" sz="950" dirty="0">
              <a:solidFill>
                <a:srgbClr val="2A374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ru-RU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– </a:t>
            </a:r>
            <a:r>
              <a:rPr lang="ru-RU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150 млн тенге</a:t>
            </a:r>
            <a:endParaRPr lang="en-US" sz="950" b="1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89045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0581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179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</a:t>
            </a:r>
            <a:r>
              <a:rPr lang="ru-RU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циркулярная экономика </a:t>
            </a:r>
            <a:r>
              <a:rPr lang="en-US" sz="87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06338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основных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направлений в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передана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адапторам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получено освобождение от КПН за нерезидента </a:t>
            </a:r>
            <a:r>
              <a:rPr lang="en-US" sz="98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(138 </a:t>
            </a:r>
            <a:r>
              <a:rPr lang="ru-RU" sz="98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тенге)</a:t>
            </a:r>
            <a:endParaRPr lang="en-US" sz="980" b="1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направлениям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осэкспертиза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2027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источники 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ФРП + гарантия БРК + БВУ; гранты и углеродные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доходы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756238"/>
              </p:ext>
            </p:extLst>
          </p:nvPr>
        </p:nvGraphicFramePr>
        <p:xfrm>
          <a:off x="502920" y="1481328"/>
          <a:ext cx="8138160" cy="28031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ru-RU" sz="900" b="1" dirty="0">
                          <a:solidFill>
                            <a:srgbClr val="FFFFFF"/>
                          </a:solidFill>
                        </a:rPr>
                        <a:t>Залоги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Залог</a:t>
                      </a: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 </a:t>
                      </a: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оборудования</a:t>
                      </a:r>
                      <a:r>
                        <a:rPr lang="ru-RU" sz="870" dirty="0">
                          <a:solidFill>
                            <a:srgbClr val="2A3746"/>
                          </a:solidFill>
                        </a:rPr>
                        <a:t>, остальное - </a:t>
                      </a: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PPA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~5 </a:t>
                      </a: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млрд</a:t>
                      </a: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Институциональная</a:t>
                      </a: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 </a:t>
                      </a: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</a:t>
                      </a: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сбыту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ru-RU" sz="870" dirty="0">
                          <a:solidFill>
                            <a:srgbClr val="2A3746"/>
                          </a:solidFill>
                        </a:rPr>
                        <a:t>СМР - ОРЛЕУ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 err="1">
                          <a:solidFill>
                            <a:srgbClr val="2A3746"/>
                          </a:solidFill>
                        </a:rPr>
                        <a:t>Эко-стандарты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≈34%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$330 себест. → $500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dirty="0" err="1">
                <a:solidFill>
                  <a:srgbClr val="13294B"/>
                </a:solidFill>
                <a:latin typeface="Arial"/>
              </a:rPr>
              <a:t>Казахстан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lang="ru-RU" sz="2100" b="1" dirty="0">
                <a:solidFill>
                  <a:srgbClr val="13294B"/>
                </a:solidFill>
                <a:latin typeface="Arial"/>
              </a:rPr>
              <a:t>-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импортозависимый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и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недоудобренный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рынок</a:t>
            </a:r>
            <a:endParaRPr sz="2100" b="1" dirty="0">
              <a:solidFill>
                <a:srgbClr val="13294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(75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 dirty="0">
                <a:solidFill>
                  <a:srgbClr val="6B7A8D"/>
                </a:solidFill>
                <a:latin typeface="Calibri"/>
              </a:rPr>
              <a:t>СТРУКТУРА ИМПОРТА (с</a:t>
            </a:r>
            <a:r>
              <a:rPr lang="kk-KZ" sz="740" b="1" spc="50" dirty="0">
                <a:solidFill>
                  <a:srgbClr val="6B7A8D"/>
                </a:solidFill>
                <a:latin typeface="Calibri"/>
              </a:rPr>
              <a:t>тоимость</a:t>
            </a:r>
            <a:r>
              <a:rPr lang="ru-KZ" sz="740" b="1" spc="50" dirty="0">
                <a:solidFill>
                  <a:srgbClr val="6B7A8D"/>
                </a:solidFill>
                <a:latin typeface="Calibri"/>
              </a:rPr>
              <a:t>)</a:t>
            </a:r>
            <a:endParaRPr sz="740" b="1" spc="50" dirty="0">
              <a:solidFill>
                <a:srgbClr val="6B7A8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(75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Себестоимость ОМУ $330/т при цене реализации $500/т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ОМУ NPK 8-21: себестоимость $330/т (сырьё + производство); цена $500/т; валовая маржа ≈ 34% ($170/т)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630714"/>
            <a:ext cx="533400" cy="798285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1200" y="2427514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219476"/>
            <a:ext cx="533400" cy="1209523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7800" y="2016276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$170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40400" y="1417520"/>
            <a:ext cx="2794000" cy="2585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 dirty="0">
                <a:solidFill>
                  <a:srgbClr val="6B7A8D"/>
                </a:solidFill>
                <a:latin typeface="Calibri"/>
              </a:rPr>
              <a:t>ЦЕНЫ </a:t>
            </a:r>
            <a:r>
              <a:rPr lang="ru-RU" sz="840" b="1" spc="50" dirty="0">
                <a:solidFill>
                  <a:srgbClr val="6B7A8D"/>
                </a:solidFill>
                <a:latin typeface="Calibri"/>
              </a:rPr>
              <a:t>ПРИОБРЕТЕНИЯ УДОБРЕНИЙ </a:t>
            </a:r>
            <a:r>
              <a:rPr lang="en-US" sz="840" b="1" spc="50" dirty="0">
                <a:solidFill>
                  <a:srgbClr val="6B7A8D"/>
                </a:solidFill>
                <a:latin typeface="Calibri"/>
              </a:rPr>
              <a:t>KUSTO AGRO </a:t>
            </a:r>
            <a:r>
              <a:rPr lang="ru-RU" sz="840" b="1" spc="50" dirty="0">
                <a:solidFill>
                  <a:srgbClr val="6B7A8D"/>
                </a:solidFill>
                <a:latin typeface="Calibri"/>
              </a:rPr>
              <a:t>И ЦЕНЫ </a:t>
            </a:r>
            <a:r>
              <a:rPr lang="en-US" sz="840" b="1" spc="50" dirty="0">
                <a:solidFill>
                  <a:srgbClr val="6B7A8D"/>
                </a:solidFill>
                <a:latin typeface="Calibri"/>
              </a:rPr>
              <a:t>ALEM AGRO</a:t>
            </a:r>
            <a:endParaRPr sz="840" b="1" spc="50" dirty="0">
              <a:solidFill>
                <a:srgbClr val="6B7A8D"/>
              </a:solidFill>
              <a:latin typeface="Calibri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570900"/>
              </p:ext>
            </p:extLst>
          </p:nvPr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500</a:t>
                      </a:r>
                      <a:endParaRPr sz="840" b="1" dirty="0">
                        <a:solidFill>
                          <a:srgbClr val="2F6690"/>
                        </a:solidFill>
                        <a:latin typeface="Calibri"/>
                      </a:endParaRP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dirty="0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ОМУ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≈ 21%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дешевле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импортных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комплексных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удобрений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(~$630/т)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эффективности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питательных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веществ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1:3 (ФАО) и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локальном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сырье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устойчивая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юнит-экономика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независимо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от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глобальных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цен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маркетинговый анализ проекта, 2026; World Bank, 06.2026; ФАО (эффективность 1:3). Цены — ориентировочные, до подтверждения контрактами.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8000" y="584200"/>
            <a:ext cx="8229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lang="ru-RU" sz="2100" b="1" dirty="0">
                <a:solidFill>
                  <a:srgbClr val="FFFFFF"/>
                </a:solidFill>
                <a:latin typeface="Arial"/>
              </a:rPr>
              <a:t>Потенциальная доля на рынке</a:t>
            </a:r>
            <a:endParaRPr sz="2100" b="1" dirty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AEC8DE"/>
                </a:solidFill>
                <a:latin typeface="Arial"/>
              </a:rPr>
              <a:t>≈11%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(75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6000" y="1342079"/>
            <a:ext cx="1739900" cy="70788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lang="ru-RU" sz="2300" b="1" dirty="0">
                <a:solidFill>
                  <a:srgbClr val="FFFFFF"/>
                </a:solidFill>
                <a:latin typeface="Arial"/>
              </a:rPr>
              <a:t>до $38 млн/год</a:t>
            </a:r>
            <a:endParaRPr sz="1050" b="1" dirty="0">
              <a:solidFill>
                <a:srgbClr val="AEC8DE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26000" y="2049965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 dirty="0" err="1">
                <a:solidFill>
                  <a:srgbClr val="AEC8DE"/>
                </a:solidFill>
                <a:latin typeface="Calibri"/>
              </a:rPr>
              <a:t>выручка</a:t>
            </a:r>
            <a:r>
              <a:rPr sz="860" b="0" dirty="0">
                <a:solidFill>
                  <a:srgbClr val="AEC8DE"/>
                </a:solidFill>
                <a:latin typeface="Calibri"/>
              </a:rPr>
              <a:t> ОМУ (75 </a:t>
            </a:r>
            <a:r>
              <a:rPr sz="860" b="0" dirty="0" err="1">
                <a:solidFill>
                  <a:srgbClr val="AEC8DE"/>
                </a:solidFill>
                <a:latin typeface="Calibri"/>
              </a:rPr>
              <a:t>тыс</a:t>
            </a:r>
            <a:r>
              <a:rPr sz="860" b="0" dirty="0">
                <a:solidFill>
                  <a:srgbClr val="AEC8DE"/>
                </a:solidFill>
                <a:latin typeface="Calibri"/>
              </a:rPr>
              <a:t> т × $500/т)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≈34%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($170/т)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Ценовое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преимущество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: ОМУ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на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≈ 21%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дешевле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импортных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комплексных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удобрений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(~$630/т)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эффективности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146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Локальная себестоимость ($330/т) защищает маржу от волатильности мировых цен.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 dirty="0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IRR 31%  ·  NPV ≈ 30,8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млрд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₸  ·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окупаемость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≈ 5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лет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 —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подтверждается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рыночной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позицией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(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цена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ОМУ $500/т).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Расчёты менеджмента на основе проектных данных (≥75 тыс т/год, цена $500/т) и рыночных источников IFA / World Bank / БНС РК.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ПОТЕНЦИАЛЬНАЯ ДОЛЯ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75 000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рынках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</a:t>
            </a:r>
            <a:r>
              <a:rPr lang="en-US" sz="8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</a:t>
            </a: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</a:t>
            </a:r>
            <a:r>
              <a:rPr lang="en-US" sz="8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</a:t>
            </a:r>
            <a:r>
              <a:rPr lang="ru-RU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8 -21)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</a:t>
            </a:r>
            <a:r>
              <a:rPr lang="en-US" sz="8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экспортный</a:t>
            </a: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</a:t>
            </a: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ru-RU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схема)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77" y="44765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· 1 ПОЛУГОДИЕ 2026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48691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691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· 1 ПОЛУГОДИЕ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70328551-68D6-10A3-BDCD-295268E8B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731826"/>
              </p:ext>
            </p:extLst>
          </p:nvPr>
        </p:nvGraphicFramePr>
        <p:xfrm>
          <a:off x="12106" y="328141"/>
          <a:ext cx="9131888" cy="4605508"/>
        </p:xfrm>
        <a:graphic>
          <a:graphicData uri="http://schemas.openxmlformats.org/drawingml/2006/table">
            <a:tbl>
              <a:tblPr/>
              <a:tblGrid>
                <a:gridCol w="1096396">
                  <a:extLst>
                    <a:ext uri="{9D8B030D-6E8A-4147-A177-3AD203B41FA5}">
                      <a16:colId xmlns:a16="http://schemas.microsoft.com/office/drawing/2014/main" val="2892590409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1689829021"/>
                    </a:ext>
                  </a:extLst>
                </a:gridCol>
                <a:gridCol w="379704">
                  <a:extLst>
                    <a:ext uri="{9D8B030D-6E8A-4147-A177-3AD203B41FA5}">
                      <a16:colId xmlns:a16="http://schemas.microsoft.com/office/drawing/2014/main" val="4090045445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658930044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3640480232"/>
                    </a:ext>
                  </a:extLst>
                </a:gridCol>
                <a:gridCol w="336988">
                  <a:extLst>
                    <a:ext uri="{9D8B030D-6E8A-4147-A177-3AD203B41FA5}">
                      <a16:colId xmlns:a16="http://schemas.microsoft.com/office/drawing/2014/main" val="1747589315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1883332665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1839893706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504146471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2048312961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2758640154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3813759758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4199859405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625686787"/>
                    </a:ext>
                  </a:extLst>
                </a:gridCol>
                <a:gridCol w="336988">
                  <a:extLst>
                    <a:ext uri="{9D8B030D-6E8A-4147-A177-3AD203B41FA5}">
                      <a16:colId xmlns:a16="http://schemas.microsoft.com/office/drawing/2014/main" val="4205624849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957051336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600771278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1885902880"/>
                    </a:ext>
                  </a:extLst>
                </a:gridCol>
                <a:gridCol w="374958">
                  <a:extLst>
                    <a:ext uri="{9D8B030D-6E8A-4147-A177-3AD203B41FA5}">
                      <a16:colId xmlns:a16="http://schemas.microsoft.com/office/drawing/2014/main" val="870347609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824259059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3459596190"/>
                    </a:ext>
                  </a:extLst>
                </a:gridCol>
                <a:gridCol w="408182">
                  <a:extLst>
                    <a:ext uri="{9D8B030D-6E8A-4147-A177-3AD203B41FA5}">
                      <a16:colId xmlns:a16="http://schemas.microsoft.com/office/drawing/2014/main" val="3298564263"/>
                    </a:ext>
                  </a:extLst>
                </a:gridCol>
              </a:tblGrid>
              <a:tr h="21929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Название статьи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Январь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Февраль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Март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Апрель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Май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Июнь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ИТОГО ЗА 6 МЕСЯЦЕВ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084927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операционной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ru-KZ" sz="5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Откл</a:t>
                      </a: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870727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399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(124 582 000)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(76 771 514)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782925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Аренда З/У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(270 000)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(381 834)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(111 834)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638245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Зарплата и соответствующие отчисления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(11 549 446)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(41 446)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11 508 000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(10 790 263)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3 183 737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(20 281 912)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(6 307 912)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(3 000 000)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12 344 000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(13 560 491)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1 783 509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(81 652 000)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(59 182 113)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22 469 887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68077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Административные расходы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(2 710 000)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(4 863 640)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(2 153 640)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(3 760 000)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2 721 389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(1 360 000)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(4 526 000)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(3 166 000)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(1 851 033)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14 258 967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14 587 030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(2 610 000)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(3 405 313)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(795 313)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(42 660 000)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(17 207 567)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25 452 433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34930"/>
                  </a:ext>
                </a:extLst>
              </a:tr>
              <a:tr h="20364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операционной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(106 628 000)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(59 777 956)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66350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инвестиционной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019171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средств, всего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6572455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330 247 320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51370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Приобретение земельного участка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566095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Изменение ПДП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4325674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Проектирование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(157 636 267)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157 636 267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(12 500 000)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(170 136 267)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(125 776 992)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44 359 275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529581"/>
                  </a:ext>
                </a:extLst>
              </a:tr>
              <a:tr h="1429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Адаптация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(20 381 130)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(43 256 895)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(254 559 603)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196 888 045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477439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01646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 (генерация)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763890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Банковская гарантия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026200"/>
                  </a:ext>
                </a:extLst>
              </a:tr>
              <a:tr h="6932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Расходы по площадке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791894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Основные средства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43425"/>
                  </a:ext>
                </a:extLst>
              </a:tr>
              <a:tr h="20364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инвестиционной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85 317 695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244 929 625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285797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финансовой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088252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015063"/>
                  </a:ext>
                </a:extLst>
              </a:tr>
              <a:tr h="6932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Поступление в УК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5172817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Получение займов от 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637 800 000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266 540 587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088976"/>
                  </a:ext>
                </a:extLst>
              </a:tr>
              <a:tr h="6932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811676"/>
                  </a:ext>
                </a:extLst>
              </a:tr>
              <a:tr h="20364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финансовой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674945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Влияние изменений обменного курса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D9D9D9"/>
                          </a:solidFill>
                          <a:effectLst/>
                          <a:latin typeface="Arial" panose="020B0604020202020204" pitchFamily="34" charset="0"/>
                        </a:rPr>
                        <a:t>65 000,00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-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65 000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114993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Чистое изменение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220 306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(162 594)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(382 900)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(58 427)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26 967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85 394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29 875 573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63 562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(29 812 011)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(9 427)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3 368 469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3 377 896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5 000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(4 527 970)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(30 510 895)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7 612 090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38 122 984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30 033 025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(1 226 566)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(31 259 591)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007726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начало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164 050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163 950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60 448 163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5 246 369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(55 201 794)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204313"/>
                  </a:ext>
                </a:extLst>
              </a:tr>
              <a:tr h="13648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5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конец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(477 769)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8 049 574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8 527 344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90 481 189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5 519 804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5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(84 961 385)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451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0D0F5B-A950-D7DD-E8A8-5EE0148EC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219CBA3-6BC8-2302-63CF-016D20D45796}"/>
              </a:ext>
            </a:extLst>
          </p:cNvPr>
          <p:cNvSpPr/>
          <p:nvPr/>
        </p:nvSpPr>
        <p:spPr>
          <a:xfrm>
            <a:off x="85077" y="44765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· 2 ПОЛУГОДИЕ 2026</a:t>
            </a:r>
            <a:endParaRPr lang="en-US" sz="11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BBB651A-5AC8-A27D-BE5F-53FD92B563EE}"/>
              </a:ext>
            </a:extLst>
          </p:cNvPr>
          <p:cNvSpPr/>
          <p:nvPr/>
        </p:nvSpPr>
        <p:spPr>
          <a:xfrm>
            <a:off x="502920" y="48691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DD25BADE-E6DD-E33D-B94C-71C793F486F3}"/>
              </a:ext>
            </a:extLst>
          </p:cNvPr>
          <p:cNvSpPr/>
          <p:nvPr/>
        </p:nvSpPr>
        <p:spPr>
          <a:xfrm>
            <a:off x="4572000" y="48691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· 2 ПОЛУГОДИЕ</a:t>
            </a:r>
            <a:endParaRPr lang="en-US" sz="8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155BE06-26D3-966A-26DD-C6223239B1EB}"/>
              </a:ext>
            </a:extLst>
          </p:cNvPr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DC207D1F-B254-D9C1-04DC-91DA6C7F0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832994"/>
              </p:ext>
            </p:extLst>
          </p:nvPr>
        </p:nvGraphicFramePr>
        <p:xfrm>
          <a:off x="175916" y="608509"/>
          <a:ext cx="6642720" cy="3737147"/>
        </p:xfrm>
        <a:graphic>
          <a:graphicData uri="http://schemas.openxmlformats.org/drawingml/2006/table">
            <a:tbl>
              <a:tblPr/>
              <a:tblGrid>
                <a:gridCol w="2382124">
                  <a:extLst>
                    <a:ext uri="{9D8B030D-6E8A-4147-A177-3AD203B41FA5}">
                      <a16:colId xmlns:a16="http://schemas.microsoft.com/office/drawing/2014/main" val="1245215910"/>
                    </a:ext>
                  </a:extLst>
                </a:gridCol>
                <a:gridCol w="558097">
                  <a:extLst>
                    <a:ext uri="{9D8B030D-6E8A-4147-A177-3AD203B41FA5}">
                      <a16:colId xmlns:a16="http://schemas.microsoft.com/office/drawing/2014/main" val="3462165896"/>
                    </a:ext>
                  </a:extLst>
                </a:gridCol>
                <a:gridCol w="517261">
                  <a:extLst>
                    <a:ext uri="{9D8B030D-6E8A-4147-A177-3AD203B41FA5}">
                      <a16:colId xmlns:a16="http://schemas.microsoft.com/office/drawing/2014/main" val="3749079432"/>
                    </a:ext>
                  </a:extLst>
                </a:gridCol>
                <a:gridCol w="558097">
                  <a:extLst>
                    <a:ext uri="{9D8B030D-6E8A-4147-A177-3AD203B41FA5}">
                      <a16:colId xmlns:a16="http://schemas.microsoft.com/office/drawing/2014/main" val="1617534934"/>
                    </a:ext>
                  </a:extLst>
                </a:gridCol>
                <a:gridCol w="517261">
                  <a:extLst>
                    <a:ext uri="{9D8B030D-6E8A-4147-A177-3AD203B41FA5}">
                      <a16:colId xmlns:a16="http://schemas.microsoft.com/office/drawing/2014/main" val="4135589813"/>
                    </a:ext>
                  </a:extLst>
                </a:gridCol>
                <a:gridCol w="517261">
                  <a:extLst>
                    <a:ext uri="{9D8B030D-6E8A-4147-A177-3AD203B41FA5}">
                      <a16:colId xmlns:a16="http://schemas.microsoft.com/office/drawing/2014/main" val="2091710449"/>
                    </a:ext>
                  </a:extLst>
                </a:gridCol>
                <a:gridCol w="517261">
                  <a:extLst>
                    <a:ext uri="{9D8B030D-6E8A-4147-A177-3AD203B41FA5}">
                      <a16:colId xmlns:a16="http://schemas.microsoft.com/office/drawing/2014/main" val="3949884142"/>
                    </a:ext>
                  </a:extLst>
                </a:gridCol>
                <a:gridCol w="517261">
                  <a:extLst>
                    <a:ext uri="{9D8B030D-6E8A-4147-A177-3AD203B41FA5}">
                      <a16:colId xmlns:a16="http://schemas.microsoft.com/office/drawing/2014/main" val="4228155555"/>
                    </a:ext>
                  </a:extLst>
                </a:gridCol>
                <a:gridCol w="558097">
                  <a:extLst>
                    <a:ext uri="{9D8B030D-6E8A-4147-A177-3AD203B41FA5}">
                      <a16:colId xmlns:a16="http://schemas.microsoft.com/office/drawing/2014/main" val="1446315252"/>
                    </a:ext>
                  </a:extLst>
                </a:gridCol>
              </a:tblGrid>
              <a:tr h="193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Название статьи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Июнь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Июль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Август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Сентябрь</a:t>
                      </a:r>
                    </a:p>
                  </a:txBody>
                  <a:tcPr marL="3227" marR="3227" marT="3227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Октябрь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Ноябрь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Декабрь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Всего ПЛАН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3449"/>
                  </a:ext>
                </a:extLst>
              </a:tr>
              <a:tr h="1484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операционной деятельности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866579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086857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Реализация удобрений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236965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Прочие поступления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 dirty="0">
                          <a:solidFill>
                            <a:srgbClr val="595959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22455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17 954 000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29 324 000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29 324 000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153 898 000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82768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Зарплата и соответствующие отчисления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15 344 000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16 714 000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16 714 000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16 714 000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16 714 000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16 714 000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16 714 000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115 628 000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811675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Административные расходы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  2 610 000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12 610 000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12 610 000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2 610 000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2 610 000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2 610 000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2 610 000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38 270 000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0698309"/>
                  </a:ext>
                </a:extLst>
              </a:tr>
              <a:tr h="1484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операционной деятельности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  17 954 000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29 324 000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  29 324 000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19 324 000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153 898 000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2673038"/>
                  </a:ext>
                </a:extLst>
              </a:tr>
              <a:tr h="1484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инвестиционной деятельности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132877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средств, всего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667760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103 256 895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64 256 895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95 583 179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20 000 000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50 000 000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333 096 968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4705948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Открытие компании в ЯПОНИИ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10 000 000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10 000 000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929754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Изменение ПДП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1051973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Проектирование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11 000 000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23 500 000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34 500 000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8316305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Адаптация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43 256 895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43 256 895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72 083 179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158 596 968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316433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30 000 000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8688668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 (генерация)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30 000 000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30 000 000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295015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Банковская гарантия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50 000 000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50 000 000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8524683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Расходы по площадке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9775581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Основные средства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20 000 000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20 000 000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8426824"/>
                  </a:ext>
                </a:extLst>
              </a:tr>
              <a:tr h="1484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инвестиционной деятельности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103 256 895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64 256 895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  95 583 179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20 000 000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50 000 000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-   333 096 968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98608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финансовой деятельности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5583337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121 300 000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93 500 000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125 000 000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39 500 000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19 050 000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69 500 000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19 200 000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487 050 000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4087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Поступление в УК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833468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Получение займов от ГО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121 300 000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93 500 000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125 000 000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39 500 000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19 050 000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69 500 000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19 200 000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487 050 000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66619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896479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Внутригрупповые займы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817622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Погашение займов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8788271"/>
                  </a:ext>
                </a:extLst>
              </a:tr>
              <a:tr h="14843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финансовой деятельности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121 300 000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93 500 000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125 000 000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39 500 000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19 050 000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69 500 000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19 200 000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487 050 000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70620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Влияние изменений обменного курса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3837296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Чистое изменение денежных средств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89 105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     80 895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92 821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176 000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   274 000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176 000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        124 000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55 032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066124"/>
                  </a:ext>
                </a:extLst>
              </a:tr>
              <a:tr h="7744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начало периода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100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89 205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8 311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101 132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277 132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3 132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179 132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658 144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060151"/>
                  </a:ext>
                </a:extLst>
              </a:tr>
              <a:tr h="8067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конец периода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89 205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8 311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101 132 </a:t>
                      </a:r>
                    </a:p>
                  </a:txBody>
                  <a:tcPr marL="3227" marR="3227" marT="3227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277 132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3 132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179 132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55 132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713 176 </a:t>
                      </a:r>
                    </a:p>
                  </a:txBody>
                  <a:tcPr marL="3227" marR="3227" marT="32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854072"/>
                  </a:ext>
                </a:extLst>
              </a:tr>
            </a:tbl>
          </a:graphicData>
        </a:graphic>
      </p:graphicFrame>
      <p:sp>
        <p:nvSpPr>
          <p:cNvPr id="9" name="Text 1">
            <a:extLst>
              <a:ext uri="{FF2B5EF4-FFF2-40B4-BE49-F238E27FC236}">
                <a16:creationId xmlns:a16="http://schemas.microsoft.com/office/drawing/2014/main" id="{AF90CF3C-B11B-9EE5-BFEF-46F7A666C250}"/>
              </a:ext>
            </a:extLst>
          </p:cNvPr>
          <p:cNvSpPr/>
          <p:nvPr/>
        </p:nvSpPr>
        <p:spPr>
          <a:xfrm>
            <a:off x="7036640" y="566928"/>
            <a:ext cx="1931444" cy="3737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исполнено 266,5 млн ₸ за 1 полугодие (37%), </a:t>
            </a:r>
            <a:endParaRPr lang="ru-RU" sz="2100" b="1" dirty="0">
              <a:solidFill>
                <a:srgbClr val="13294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~462 млн ₸ — во II полугодии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2734637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управляемых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рисков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 err="1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</a:t>
            </a:r>
            <a:r>
              <a:rPr lang="en-US" sz="8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QazBioFert / SBFF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ПРОИЗВОДИТЕЛИ  ·  KAZPHOSPHATE / КАЗАЗОТ,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Внутреннее производство — два игрока; ниша ОМУ свободна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Казфосфат и КазАзот дают ≈ 96% производства РК; гранулированные органоминеральные удобрения не выпускает никто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Крупнейшие производители РК, тыс т в год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5000" y="1727200"/>
          <a:ext cx="4724400" cy="1879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736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38800" y="1409700"/>
            <a:ext cx="38100" cy="6096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91200" y="144780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13294B"/>
                </a:solidFill>
                <a:latin typeface="Calibri"/>
              </a:rPr>
              <a:t>Казфосфат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91200" y="1701800"/>
            <a:ext cx="27178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880" b="0">
                <a:solidFill>
                  <a:srgbClr val="2A3746"/>
                </a:solidFill>
                <a:latin typeface="Calibri"/>
              </a:rPr>
              <a:t>Фосфорные (аммофос) · ~750 тыс т в 2025 (+58% г/г) · крупнейший в СНГ, значит. экспорт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13400" y="2133600"/>
            <a:ext cx="3022600" cy="736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38800" y="2197100"/>
            <a:ext cx="38100" cy="6096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1200" y="223520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13294B"/>
                </a:solidFill>
                <a:latin typeface="Calibri"/>
              </a:rPr>
              <a:t>КазАзот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0" y="2489200"/>
            <a:ext cx="27178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880" b="0">
                <a:solidFill>
                  <a:srgbClr val="2A3746"/>
                </a:solidFill>
                <a:latin typeface="Calibri"/>
              </a:rPr>
              <a:t>Азотные (селитра, аммиак) · мощность ~330 тыс т/год · единственный в РК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13400" y="2921000"/>
            <a:ext cx="3022600" cy="787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5875">
            <a:solidFill>
              <a:srgbClr val="C477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38800" y="2984500"/>
            <a:ext cx="38100" cy="6604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1200" y="29972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19" b="1" spc="60">
                <a:solidFill>
                  <a:srgbClr val="C4772F"/>
                </a:solidFill>
                <a:latin typeface="Calibri"/>
              </a:rPr>
              <a:t>СВОБОДНАЯ НИША · ОМУ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0" y="3200400"/>
            <a:ext cx="2717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880" b="0">
                <a:solidFill>
                  <a:srgbClr val="2A3746"/>
                </a:solidFill>
                <a:latin typeface="Calibri"/>
              </a:rPr>
              <a:t>0 производителей гранулированных ОМУ в РК → проект 75 тыс т без прямых внутр. конкурентов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ВЫВОД:  </a:t>
            </a:r>
            <a:r>
              <a:rPr sz="950" b="0">
                <a:solidFill>
                  <a:srgbClr val="FFFFFF"/>
                </a:solidFill>
                <a:latin typeface="Calibri"/>
              </a:rPr>
              <a:t>оба игрока выпускают минеральные N и P и значительную часть экспортируют; гранулированные ОМУ в РК не производит никто — конкуренция проекта не внутренняя, а импорт (~700 тыс т/год).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4572000"/>
            <a:ext cx="802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Kazphosphate / Kursiv, 2025 (аммофос 750 тыс т, +58%); АО «КазАзот» (мощность ~330 тыс т); БНС РК; The Diplomat (два игрока ≈ 96% производства).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QazBioFert / SBFF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ПРОИЗВОДИТЕЛИ РК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5412</Words>
  <Application>Microsoft Office PowerPoint</Application>
  <PresentationFormat>Экран (16:9)</PresentationFormat>
  <Paragraphs>1488</Paragraphs>
  <Slides>25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44</cp:revision>
  <dcterms:created xsi:type="dcterms:W3CDTF">2026-07-07T10:49:46Z</dcterms:created>
  <dcterms:modified xsi:type="dcterms:W3CDTF">2026-07-09T07:00:12Z</dcterms:modified>
</cp:coreProperties>
</file>