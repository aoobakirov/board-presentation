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media/image19.jpg" ContentType="image/jpg"/>
  <Override PartName="/ppt/media/image20.jpg" ContentType="image/jp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80" r:id="rId29"/>
    <p:sldId id="281" r:id="rId30"/>
    <p:sldId id="282" r:id="rId31"/>
    <p:sldId id="283" r:id="rId32"/>
    <p:sldId id="284" r:id="rId33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9" r:id="rId2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0" d="100"/>
          <a:sy n="130" d="100"/>
        </p:scale>
        <p:origin x="82" y="31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План</c:v>
                </c:pt>
              </c:strCache>
            </c:strRef>
          </c:tx>
          <c:spPr>
            <a:solidFill>
              <a:srgbClr val="AEC8DE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2A3746"/>
                    </a:solidFill>
                    <a:latin typeface="Arial"/>
                  </a:defRPr>
                </a:pPr>
                <a:endParaRPr lang="ru-KZ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Операц.
(выбытие)</c:v>
                </c:pt>
                <c:pt idx="1">
                  <c:v>Инвест.
(выбытие)</c:v>
                </c:pt>
                <c:pt idx="2">
                  <c:v>Финанс.
(поступл.)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106.6</c:v>
                </c:pt>
                <c:pt idx="1">
                  <c:v>427.9</c:v>
                </c:pt>
                <c:pt idx="2">
                  <c:v>564.6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793-48CE-A10A-C84B8E6DF2A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Факт</c:v>
                </c:pt>
              </c:strCache>
            </c:strRef>
          </c:tx>
          <c:spPr>
            <a:solidFill>
              <a:srgbClr val="2F6690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2A3746"/>
                    </a:solidFill>
                    <a:latin typeface="Arial"/>
                  </a:defRPr>
                </a:pPr>
                <a:endParaRPr lang="ru-KZ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Операц.
(выбытие)</c:v>
                </c:pt>
                <c:pt idx="1">
                  <c:v>Инвест.
(выбытие)</c:v>
                </c:pt>
                <c:pt idx="2">
                  <c:v>Финанс.
(поступл.)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59.8</c:v>
                </c:pt>
                <c:pt idx="1">
                  <c:v>183</c:v>
                </c:pt>
                <c:pt idx="2">
                  <c:v>241.5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793-48CE-A10A-C84B8E6DF2A7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2A374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650"/>
          <c:min val="0"/>
        </c:scaling>
        <c:delete val="0"/>
        <c:axPos val="l"/>
        <c:majorGridlines>
          <c:spPr>
            <a:ln w="6350" cap="flat">
              <a:solidFill>
                <a:srgbClr val="DCE3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B7A8D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900">
              <a:solidFill>
                <a:srgbClr val="2A3746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F6690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D29C-4236-A3FE-5FAC544342A4}"/>
              </c:ext>
            </c:extLst>
          </c:dPt>
          <c:dPt>
            <c:idx val="1"/>
            <c:invertIfNegative val="0"/>
            <c:bubble3D val="0"/>
            <c:spPr>
              <a:solidFill>
                <a:srgbClr val="AEC8DE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D29C-4236-A3FE-5FAC544342A4}"/>
              </c:ext>
            </c:extLst>
          </c:dPt>
          <c:dPt>
            <c:idx val="2"/>
            <c:invertIfNegative val="0"/>
            <c:bubble3D val="0"/>
            <c:spPr>
              <a:solidFill>
                <a:srgbClr val="C4772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D29C-4236-A3FE-5FAC544342A4}"/>
              </c:ext>
            </c:extLst>
          </c:dPt>
          <c:dPt>
            <c:idx val="3"/>
            <c:invertIfNegative val="0"/>
            <c:bubble3D val="0"/>
            <c:spPr>
              <a:solidFill>
                <a:srgbClr val="AEC8DE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D29C-4236-A3FE-5FAC544342A4}"/>
              </c:ext>
            </c:extLst>
          </c:dPt>
          <c:dPt>
            <c:idx val="4"/>
            <c:invertIfNegative val="0"/>
            <c:bubble3D val="0"/>
            <c:spPr>
              <a:solidFill>
                <a:srgbClr val="244F7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D29C-4236-A3FE-5FAC544342A4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50" b="0" i="0" u="none" strike="noStrike">
                    <a:solidFill>
                      <a:srgbClr val="2A3746"/>
                    </a:solidFill>
                    <a:latin typeface="Arial"/>
                  </a:defRPr>
                </a:pPr>
                <a:endParaRPr lang="ru-KZ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Первонач.
бюджет</c:v>
                </c:pt>
                <c:pt idx="1">
                  <c:v>Бюджет
5 мес.</c:v>
                </c:pt>
                <c:pt idx="2">
                  <c:v>Факт
5 мес.</c:v>
                </c:pt>
                <c:pt idx="3">
                  <c:v>Бюджет
7 мес.</c:v>
                </c:pt>
                <c:pt idx="4">
                  <c:v>Годовой
план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729</c:v>
                </c:pt>
                <c:pt idx="1">
                  <c:v>564.6</c:v>
                </c:pt>
                <c:pt idx="2">
                  <c:v>241.5</c:v>
                </c:pt>
                <c:pt idx="3">
                  <c:v>487</c:v>
                </c:pt>
                <c:pt idx="4">
                  <c:v>728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D29C-4236-A3FE-5FAC544342A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2A374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850"/>
        </c:scaling>
        <c:delete val="0"/>
        <c:axPos val="l"/>
        <c:majorGridlines>
          <c:spPr>
            <a:ln w="6350" cap="flat">
              <a:solidFill>
                <a:srgbClr val="DCE3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B7A8D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Производство</c:v>
                </c:pt>
              </c:strCache>
            </c:strRef>
          </c:tx>
          <c:spPr>
            <a:ln w="31750">
              <a:solidFill>
                <a:srgbClr val="2F6690"/>
              </a:solidFill>
            </a:ln>
          </c:spPr>
          <c:marker>
            <c:symbol val="circle"/>
            <c:size val="5"/>
            <c:spPr>
              <a:solidFill>
                <a:srgbClr val="2F6690"/>
              </a:solidFill>
              <a:ln w="12700">
                <a:solidFill>
                  <a:srgbClr val="FFFFFF"/>
                </a:solidFill>
              </a:ln>
            </c:spPr>
          </c:marker>
          <c:cat>
            <c:strRef>
              <c:f>Sheet1!$A$2:$A$9</c:f>
              <c:strCache>
                <c:ptCount val="8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  <c:pt idx="7">
                  <c:v>2026п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200</c:v>
                </c:pt>
                <c:pt idx="1">
                  <c:v>202</c:v>
                </c:pt>
                <c:pt idx="2">
                  <c:v>205</c:v>
                </c:pt>
                <c:pt idx="3">
                  <c:v>198</c:v>
                </c:pt>
                <c:pt idx="4">
                  <c:v>208</c:v>
                </c:pt>
                <c:pt idx="5">
                  <c:v>212</c:v>
                </c:pt>
                <c:pt idx="6">
                  <c:v>216</c:v>
                </c:pt>
                <c:pt idx="7">
                  <c:v>219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Потребление</c:v>
                </c:pt>
              </c:strCache>
            </c:strRef>
          </c:tx>
          <c:spPr>
            <a:ln w="31750">
              <a:solidFill>
                <a:srgbClr val="C4772F"/>
              </a:solidFill>
            </a:ln>
          </c:spPr>
          <c:marker>
            <c:symbol val="circle"/>
            <c:size val="5"/>
            <c:spPr>
              <a:solidFill>
                <a:srgbClr val="C4772F"/>
              </a:solidFill>
              <a:ln w="12700">
                <a:solidFill>
                  <a:srgbClr val="FFFFFF"/>
                </a:solidFill>
              </a:ln>
            </c:spPr>
          </c:marker>
          <c:cat>
            <c:strRef>
              <c:f>Sheet1!$A$2:$A$9</c:f>
              <c:strCache>
                <c:ptCount val="8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  <c:pt idx="7">
                  <c:v>2026п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190</c:v>
                </c:pt>
                <c:pt idx="1">
                  <c:v>193</c:v>
                </c:pt>
                <c:pt idx="2">
                  <c:v>195</c:v>
                </c:pt>
                <c:pt idx="3">
                  <c:v>185</c:v>
                </c:pt>
                <c:pt idx="4">
                  <c:v>198</c:v>
                </c:pt>
                <c:pt idx="5">
                  <c:v>204</c:v>
                </c:pt>
                <c:pt idx="6">
                  <c:v>208</c:v>
                </c:pt>
                <c:pt idx="7">
                  <c:v>211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>
            <a:solidFill>
              <a:srgbClr val="DCE3EB"/>
            </a:solidFill>
          </a:ln>
        </c:spPr>
        <c:txPr>
          <a:bodyPr/>
          <a:lstStyle/>
          <a:p>
            <a:pPr>
              <a:defRPr sz="750">
                <a:solidFill>
                  <a:srgbClr val="2A3746"/>
                </a:solidFill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230.0"/>
          <c:min val="160.0"/>
        </c:scaling>
        <c:delete val="0"/>
        <c:axPos val="l"/>
        <c:majorGridlines>
          <c:spPr>
            <a:ln w="9525">
              <a:solidFill>
                <a:srgbClr val="EAEFF4"/>
              </a:solidFill>
            </a:ln>
          </c:spPr>
        </c:majorGridlines>
        <c:numFmt formatCode="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750">
                <a:solidFill>
                  <a:srgbClr val="6B7A8D"/>
                </a:solidFill>
                <a:latin typeface="Calibri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50">
              <a:solidFill>
                <a:srgbClr val="2A3746"/>
              </a:solidFill>
              <a:latin typeface="Calibri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800">
          <a:solidFill>
            <a:srgbClr val="2A3746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кг/га</c:v>
                </c:pt>
              </c:strCache>
            </c:strRef>
          </c:tx>
          <c:dPt>
            <c:idx val="0"/>
            <c:spPr>
              <a:solidFill>
                <a:srgbClr val="C4772F"/>
              </a:solidFill>
            </c:spPr>
          </c:dPt>
          <c:dPt>
            <c:idx val="1"/>
            <c:spPr>
              <a:solidFill>
                <a:srgbClr val="2F6690"/>
              </a:solidFill>
            </c:spPr>
          </c:dPt>
          <c:dPt>
            <c:idx val="2"/>
            <c:spPr>
              <a:solidFill>
                <a:srgbClr val="2F6690"/>
              </a:solidFill>
            </c:spPr>
          </c:dPt>
          <c:dPt>
            <c:idx val="3"/>
            <c:spPr>
              <a:solidFill>
                <a:srgbClr val="2F6690"/>
              </a:solidFill>
            </c:spPr>
          </c:dPt>
          <c:cat>
            <c:strRef>
              <c:f>Sheet1!$A$2:$A$5</c:f>
              <c:strCache>
                <c:ptCount val="4"/>
                <c:pt idx="0">
                  <c:v>Казахстан</c:v>
                </c:pt>
                <c:pt idx="1">
                  <c:v>Афганистан</c:v>
                </c:pt>
                <c:pt idx="2">
                  <c:v>Узбекистан</c:v>
                </c:pt>
                <c:pt idx="3">
                  <c:v>Бразилия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</c:v>
                </c:pt>
                <c:pt idx="1">
                  <c:v>7</c:v>
                </c:pt>
                <c:pt idx="2">
                  <c:v>150</c:v>
                </c:pt>
                <c:pt idx="3">
                  <c:v>344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850" b="1">
                  <a:solidFill>
                    <a:srgbClr val="2A3746"/>
                  </a:solidFill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>
            <a:solidFill>
              <a:srgbClr val="DCE3EB"/>
            </a:solidFill>
          </a:ln>
        </c:spPr>
        <c:txPr>
          <a:bodyPr/>
          <a:lstStyle/>
          <a:p>
            <a:pPr>
              <a:defRPr sz="800">
                <a:solidFill>
                  <a:srgbClr val="2A3746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80.0"/>
        </c:scaling>
        <c:delete val="0"/>
        <c:axPos val="l"/>
        <c:majorGridlines>
          <c:spPr>
            <a:ln w="9525">
              <a:solidFill>
                <a:srgbClr val="EAEFF4"/>
              </a:solidFill>
            </a:ln>
          </c:spPr>
        </c:majorGridlines>
        <c:numFmt formatCode="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750">
                <a:solidFill>
                  <a:srgbClr val="6B7A8D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800">
          <a:solidFill>
            <a:srgbClr val="2A3746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246723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png"/><Relationship Id="rId4" Type="http://schemas.openxmlformats.org/officeDocument/2006/relationships/image" Target="../media/image6.png"/><Relationship Id="rId5" Type="http://schemas.openxmlformats.org/officeDocument/2006/relationships/image" Target="../media/image9.png"/><Relationship Id="rId6" Type="http://schemas.openxmlformats.org/officeDocument/2006/relationships/image" Target="../media/image8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6.png"/><Relationship Id="rId7" Type="http://schemas.openxmlformats.org/officeDocument/2006/relationships/image" Target="../media/image4.png"/><Relationship Id="rId8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Relationship Id="rId4" Type="http://schemas.openxmlformats.org/officeDocument/2006/relationships/image" Target="../media/image15.png"/><Relationship Id="rId5" Type="http://schemas.openxmlformats.org/officeDocument/2006/relationships/image" Target="../media/image8.png"/><Relationship Id="rId6" Type="http://schemas.openxmlformats.org/officeDocument/2006/relationships/image" Target="../media/image4.png"/><Relationship Id="rId7" Type="http://schemas.openxmlformats.org/officeDocument/2006/relationships/image" Target="../media/image1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9.jpg"/><Relationship Id="rId4" Type="http://schemas.openxmlformats.org/officeDocument/2006/relationships/image" Target="../media/image20.jpg"/><Relationship Id="rId5" Type="http://schemas.openxmlformats.org/officeDocument/2006/relationships/image" Target="../media/image9.png"/><Relationship Id="rId6" Type="http://schemas.openxmlformats.org/officeDocument/2006/relationships/image" Target="../media/image21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2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1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Relationship Id="rId6" Type="http://schemas.openxmlformats.org/officeDocument/2006/relationships/image" Target="../media/image26.png"/><Relationship Id="rId7" Type="http://schemas.openxmlformats.org/officeDocument/2006/relationships/image" Target="../media/image27.png"/><Relationship Id="rId8" Type="http://schemas.openxmlformats.org/officeDocument/2006/relationships/image" Target="../media/image2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9.png"/><Relationship Id="rId4" Type="http://schemas.openxmlformats.org/officeDocument/2006/relationships/image" Target="../media/image22.png"/><Relationship Id="rId5" Type="http://schemas.openxmlformats.org/officeDocument/2006/relationships/image" Target="../media/image30.png"/><Relationship Id="rId6" Type="http://schemas.openxmlformats.org/officeDocument/2006/relationships/image" Target="../media/image6.png"/><Relationship Id="rId7" Type="http://schemas.openxmlformats.org/officeDocument/2006/relationships/image" Target="../media/image5.png"/><Relationship Id="rId8" Type="http://schemas.openxmlformats.org/officeDocument/2006/relationships/image" Target="../media/image31.png"/><Relationship Id="rId9" Type="http://schemas.openxmlformats.org/officeDocument/2006/relationships/image" Target="../media/image32.png"/><Relationship Id="rId10" Type="http://schemas.openxmlformats.org/officeDocument/2006/relationships/image" Target="../media/image27.png"/><Relationship Id="rId11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3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3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Relationship Id="rId4" Type="http://schemas.openxmlformats.org/officeDocument/2006/relationships/image" Target="../media/image3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chart" Target="../charts/char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chart" Target="../charts/char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5.png"/><Relationship Id="rId4" Type="http://schemas.openxmlformats.org/officeDocument/2006/relationships/image" Target="../media/image6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2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40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41.png"/><Relationship Id="rId7" Type="http://schemas.openxmlformats.org/officeDocument/2006/relationships/image" Target="../media/image2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85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E0A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СОВЕТ ДИРЕКТОРОВ KUSTO GROUP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30352" y="1024128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KazBioFert / BBFF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548640" y="1847088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AEC8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Биогазовый завод и производство органоминеральных удобрений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2331720"/>
            <a:ext cx="6309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D8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Стратегический зелёный промышленный проект: биогаз, генерация энергии</a:t>
            </a:r>
            <a:endParaRPr lang="en-US" sz="13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D8E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 производство органоминеральных удобрений в Казахстане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66928" y="3154680"/>
            <a:ext cx="2011680" cy="0"/>
          </a:xfrm>
          <a:prstGeom prst="line">
            <a:avLst/>
          </a:prstGeom>
          <a:noFill/>
          <a:ln w="19050">
            <a:solidFill>
              <a:srgbClr val="C4772F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48640" y="3310128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Презентация для Совета директоров Kusto Group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BFD4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июля 2026  ·  г. Житикара, Костанайская область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КРАТКОЕ РЕЗЮМЕ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Проект переходит из стадии подготовки в стадию проектного финансирования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02920" y="1481328"/>
            <a:ext cx="3913632" cy="1170432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04088" y="1719072"/>
            <a:ext cx="566928" cy="566928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6" name="Image 0" descr="assets/icons/compass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820" y="1860804"/>
            <a:ext cx="283464" cy="28346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35608" y="162763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ПСД </a:t>
            </a:r>
            <a:r>
              <a:rPr lang="en-US" sz="1350" b="1" dirty="0" err="1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</a:t>
            </a:r>
            <a:r>
              <a:rPr lang="ru-RU" sz="1350" b="1" dirty="0" err="1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ится</a:t>
            </a:r>
            <a:r>
              <a:rPr lang="en-US" sz="13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к экспертизе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1435608" y="1984248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Проектирование 100%, адаптация под РК завершается; сдача на госэкспертизу — </a:t>
            </a:r>
            <a:r>
              <a:rPr lang="en-US" sz="1000" dirty="0" err="1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конец</a:t>
            </a:r>
            <a:r>
              <a:rPr lang="en-US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u-RU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августа</a:t>
            </a:r>
            <a:r>
              <a:rPr lang="en-US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2026</a:t>
            </a:r>
            <a:r>
              <a:rPr lang="ru-RU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начало сентября 2026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727448" y="1481328"/>
            <a:ext cx="3913632" cy="1170432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4928616" y="1719072"/>
            <a:ext cx="566928" cy="566928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11" name="Image 1" descr="assets/icons/plug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0348" y="1860804"/>
            <a:ext cx="283464" cy="28346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660136" y="162763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Разрешения ~9</a:t>
            </a:r>
            <a:r>
              <a:rPr lang="ru-RU" sz="13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r>
              <a:rPr lang="en-US" sz="13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5660136" y="1984248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ключевым ТУ получены положительные ответы: энергия, газ, вода, подъездные пути, связь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502920" y="2852928"/>
            <a:ext cx="3913632" cy="1170432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5" name="Shape 11"/>
          <p:cNvSpPr/>
          <p:nvPr/>
        </p:nvSpPr>
        <p:spPr>
          <a:xfrm>
            <a:off x="704088" y="3090672"/>
            <a:ext cx="566928" cy="566928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16" name="Image 2" descr="assets/icons/money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5820" y="3232404"/>
            <a:ext cx="283464" cy="28346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435608" y="299923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Финансирование структурируется</a:t>
            </a:r>
            <a:endParaRPr lang="en-US" sz="1350" dirty="0"/>
          </a:p>
        </p:txBody>
      </p:sp>
      <p:sp>
        <p:nvSpPr>
          <p:cNvPr id="18" name="Text 13"/>
          <p:cNvSpPr/>
          <p:nvPr/>
        </p:nvSpPr>
        <p:spPr>
          <a:xfrm>
            <a:off x="1435608" y="3355848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ФРП (лизинг), Халык + гарантия БРК; цель — структура на уровне проектной компании без гарантий акционеров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4727448" y="2852928"/>
            <a:ext cx="3913632" cy="1170432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0" name="Shape 15"/>
          <p:cNvSpPr/>
          <p:nvPr/>
        </p:nvSpPr>
        <p:spPr>
          <a:xfrm>
            <a:off x="4928616" y="3090672"/>
            <a:ext cx="566928" cy="566928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21" name="Image 3" descr="assets/icons/handshake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70348" y="3232404"/>
            <a:ext cx="283464" cy="28346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5660136" y="299923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Рынок сбыта прорабатывается</a:t>
            </a:r>
            <a:endParaRPr lang="en-US" sz="1350" dirty="0"/>
          </a:p>
        </p:txBody>
      </p:sp>
      <p:sp>
        <p:nvSpPr>
          <p:cNvPr id="23" name="Text 17"/>
          <p:cNvSpPr/>
          <p:nvPr/>
        </p:nvSpPr>
        <p:spPr>
          <a:xfrm>
            <a:off x="5660136" y="3355848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Alem Agro, Фос-Агро, MakFert, UzKimyo Impex — перевод переговоров в предварительные соглашения по сбыту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502920" y="4224528"/>
            <a:ext cx="8138160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5" name="Text 19"/>
          <p:cNvSpPr/>
          <p:nvPr/>
        </p:nvSpPr>
        <p:spPr>
          <a:xfrm>
            <a:off x="731520" y="4224528"/>
            <a:ext cx="7680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0A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Ключевой фокус этапа:  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завершение адаптации ПСД, прохождение госэкспертизы и структурирование финансирования на уровне проектной компании.</a:t>
            </a:r>
            <a:endParaRPr lang="en-US" sz="1100" dirty="0"/>
          </a:p>
        </p:txBody>
      </p:sp>
      <p:sp>
        <p:nvSpPr>
          <p:cNvPr id="26" name="Text 20"/>
          <p:cNvSpPr/>
          <p:nvPr/>
        </p:nvSpPr>
        <p:spPr>
          <a:xfrm>
            <a:off x="502920" y="4828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KazBioFert</a:t>
            </a:r>
            <a:r>
              <a:rPr lang="en-US" sz="8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BBFF  ·  Совет директоров</a:t>
            </a:r>
            <a:endParaRPr lang="en-US" sz="850" dirty="0"/>
          </a:p>
        </p:txBody>
      </p:sp>
      <p:sp>
        <p:nvSpPr>
          <p:cNvPr id="27" name="Text 21"/>
          <p:cNvSpPr/>
          <p:nvPr/>
        </p:nvSpPr>
        <p:spPr>
          <a:xfrm>
            <a:off x="4572000" y="48280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КРАТКОЕ РЕЗЮМЕ</a:t>
            </a:r>
            <a:endParaRPr lang="en-US" sz="800" dirty="0"/>
          </a:p>
        </p:txBody>
      </p:sp>
      <p:sp>
        <p:nvSpPr>
          <p:cNvPr id="28" name="Text 22"/>
          <p:cNvSpPr/>
          <p:nvPr/>
        </p:nvSpPr>
        <p:spPr>
          <a:xfrm>
            <a:off x="827532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ПРОЕКТ КОРОТКО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Промышленная платформа на 17,29 га с тремя источниками выручки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02920" y="1481328"/>
            <a:ext cx="1975104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94360" y="1664208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F6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17,29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30936" y="2231136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95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га — земельный участок (аренда 20 лет, внесён в УК)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2660904" y="1481328"/>
            <a:ext cx="1975104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2752344" y="1664208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F6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69 557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788920" y="2231136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95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м² — производственные здания и сооружения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02920" y="2999232"/>
            <a:ext cx="1975104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594360" y="3182112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F6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630936" y="3749040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95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ключевое здание и сооружение на площадке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660904" y="2999232"/>
            <a:ext cx="1975104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2752344" y="3182112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F6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2788920" y="3749040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95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источника выручки: энергия, удобрения, карбон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892040" y="1481328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ИСТОЧНИКА ВЫРУЧКИ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892040" y="1755648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Вход:  </a:t>
            </a:r>
            <a:r>
              <a:rPr lang="en-US" sz="9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сельхозотходы и солома → биогаз (4 реактора)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892040" y="2212848"/>
            <a:ext cx="530352" cy="530352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19" name="Image 0" descr="assets/icons/bolt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4628" y="2345436"/>
            <a:ext cx="265176" cy="265176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5568696" y="2176272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Электроэнергия
</a:t>
            </a:r>
            <a:endParaRPr lang="en-US" sz="12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9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Генерация и продажа по тарифу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4892040" y="2926080"/>
            <a:ext cx="530352" cy="530352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22" name="Image 1" descr="assets/icons/seedling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4628" y="3058668"/>
            <a:ext cx="265176" cy="265176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5568696" y="2889504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Удобрения
</a:t>
            </a:r>
            <a:endParaRPr lang="en-US" sz="12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9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Органоминеральные удобрения (ОМУ)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4892040" y="3639312"/>
            <a:ext cx="530352" cy="530352"/>
          </a:xfrm>
          <a:prstGeom prst="ellipse">
            <a:avLst/>
          </a:prstGeom>
          <a:solidFill>
            <a:srgbClr val="C4772F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25" name="Image 2" descr="assets/icons/leaf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4628" y="3771900"/>
            <a:ext cx="265176" cy="265176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5568696" y="3602736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Карбоновые офсеты
</a:t>
            </a:r>
            <a:endParaRPr lang="en-US" sz="12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9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Углеродные единицы от снижения метана</a:t>
            </a:r>
            <a:endParaRPr lang="en-US" sz="1200" dirty="0"/>
          </a:p>
        </p:txBody>
      </p:sp>
      <p:sp>
        <p:nvSpPr>
          <p:cNvPr id="27" name="Text 22"/>
          <p:cNvSpPr/>
          <p:nvPr/>
        </p:nvSpPr>
        <p:spPr>
          <a:xfrm>
            <a:off x="502920" y="4828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KazBioFert</a:t>
            </a:r>
            <a:r>
              <a:rPr lang="en-US" sz="8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BBFF  ·  Совет директоров</a:t>
            </a:r>
            <a:endParaRPr lang="en-US" sz="850" dirty="0"/>
          </a:p>
        </p:txBody>
      </p:sp>
      <p:sp>
        <p:nvSpPr>
          <p:cNvPr id="28" name="Text 23"/>
          <p:cNvSpPr/>
          <p:nvPr/>
        </p:nvSpPr>
        <p:spPr>
          <a:xfrm>
            <a:off x="4572000" y="48280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ПРОЕКТ КОРОТКО</a:t>
            </a:r>
            <a:endParaRPr lang="en-US" sz="800" dirty="0"/>
          </a:p>
        </p:txBody>
      </p:sp>
      <p:sp>
        <p:nvSpPr>
          <p:cNvPr id="29" name="Text 24"/>
          <p:cNvSpPr/>
          <p:nvPr/>
        </p:nvSpPr>
        <p:spPr>
          <a:xfrm>
            <a:off x="827532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СТРАТЕГИЧЕСКОЕ ОБОСНОВАНИЕ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Проект решает пять государственных и рыночных задач — это инвестиционная защита проекта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2615184" cy="1417320"/>
          </a:xfrm>
          <a:prstGeom prst="roundRect">
            <a:avLst>
              <a:gd name="adj" fmla="val 6452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04088" y="1664208"/>
            <a:ext cx="548640" cy="54864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6" name="Image 0" descr="assets/icons/seedling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1801368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2286000"/>
            <a:ext cx="22494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Импортозамещение удобрений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685800" y="2495101"/>
            <a:ext cx="2377440" cy="2419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87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Снижение зависимости Казахстана от импортных минеральных удобрений собственным производством</a:t>
            </a:r>
            <a:endParaRPr lang="en-US" sz="870" dirty="0"/>
          </a:p>
        </p:txBody>
      </p:sp>
      <p:sp>
        <p:nvSpPr>
          <p:cNvPr id="9" name="Shape 6"/>
          <p:cNvSpPr/>
          <p:nvPr/>
        </p:nvSpPr>
        <p:spPr>
          <a:xfrm>
            <a:off x="3264408" y="1463040"/>
            <a:ext cx="2615184" cy="1417320"/>
          </a:xfrm>
          <a:prstGeom prst="roundRect">
            <a:avLst>
              <a:gd name="adj" fmla="val 6452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3465576" y="1664208"/>
            <a:ext cx="548640" cy="54864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11" name="Image 1" descr="assets/icons/bolt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02736" y="1801368"/>
            <a:ext cx="274320" cy="2743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447288" y="2286000"/>
            <a:ext cx="22494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Возобновляемая энергия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3447288" y="2560320"/>
            <a:ext cx="22677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87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Генерация «зелёной» электроэнергии по тарифу и в рамках национальной повестки ВИЭ</a:t>
            </a:r>
            <a:endParaRPr lang="en-US" sz="870" dirty="0"/>
          </a:p>
        </p:txBody>
      </p:sp>
      <p:sp>
        <p:nvSpPr>
          <p:cNvPr id="14" name="Shape 10"/>
          <p:cNvSpPr/>
          <p:nvPr/>
        </p:nvSpPr>
        <p:spPr>
          <a:xfrm>
            <a:off x="6025896" y="1463040"/>
            <a:ext cx="2615184" cy="1417320"/>
          </a:xfrm>
          <a:prstGeom prst="roundRect">
            <a:avLst>
              <a:gd name="adj" fmla="val 6452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5" name="Shape 11"/>
          <p:cNvSpPr/>
          <p:nvPr/>
        </p:nvSpPr>
        <p:spPr>
          <a:xfrm>
            <a:off x="6227064" y="1664208"/>
            <a:ext cx="548640" cy="54864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16" name="Image 2" descr="assets/icons/recycle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64224" y="1801368"/>
            <a:ext cx="274320" cy="27432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208776" y="2286000"/>
            <a:ext cx="22494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Управление отходами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6208776" y="2560320"/>
            <a:ext cx="22677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87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Переработка сельхозотходов и органики — circular economy на региональном уровне</a:t>
            </a:r>
            <a:endParaRPr lang="en-US" sz="870" dirty="0"/>
          </a:p>
        </p:txBody>
      </p:sp>
      <p:sp>
        <p:nvSpPr>
          <p:cNvPr id="19" name="Shape 14"/>
          <p:cNvSpPr/>
          <p:nvPr/>
        </p:nvSpPr>
        <p:spPr>
          <a:xfrm>
            <a:off x="502920" y="3026664"/>
            <a:ext cx="2615184" cy="1417320"/>
          </a:xfrm>
          <a:prstGeom prst="roundRect">
            <a:avLst>
              <a:gd name="adj" fmla="val 6452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0" name="Shape 15"/>
          <p:cNvSpPr/>
          <p:nvPr/>
        </p:nvSpPr>
        <p:spPr>
          <a:xfrm>
            <a:off x="704088" y="3227832"/>
            <a:ext cx="548640" cy="548640"/>
          </a:xfrm>
          <a:prstGeom prst="ellipse">
            <a:avLst/>
          </a:prstGeom>
          <a:solidFill>
            <a:srgbClr val="C4772F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21" name="Image 3" descr="assets/icons/leaf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248" y="3364992"/>
            <a:ext cx="274320" cy="27432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685800" y="3849624"/>
            <a:ext cx="22494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Углеродная повестка</a:t>
            </a:r>
            <a:endParaRPr lang="en-US" sz="1250" dirty="0"/>
          </a:p>
        </p:txBody>
      </p:sp>
      <p:sp>
        <p:nvSpPr>
          <p:cNvPr id="23" name="Text 17"/>
          <p:cNvSpPr/>
          <p:nvPr/>
        </p:nvSpPr>
        <p:spPr>
          <a:xfrm>
            <a:off x="685800" y="4041709"/>
            <a:ext cx="22677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87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Сокращение выбросов метана и потенциал монетизации через продажу углеродных единиц</a:t>
            </a:r>
            <a:endParaRPr lang="en-US" sz="870" dirty="0"/>
          </a:p>
        </p:txBody>
      </p:sp>
      <p:sp>
        <p:nvSpPr>
          <p:cNvPr id="24" name="Shape 18"/>
          <p:cNvSpPr/>
          <p:nvPr/>
        </p:nvSpPr>
        <p:spPr>
          <a:xfrm>
            <a:off x="3264408" y="3026664"/>
            <a:ext cx="2615184" cy="1417320"/>
          </a:xfrm>
          <a:prstGeom prst="roundRect">
            <a:avLst>
              <a:gd name="adj" fmla="val 6452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5" name="Shape 19"/>
          <p:cNvSpPr/>
          <p:nvPr/>
        </p:nvSpPr>
        <p:spPr>
          <a:xfrm>
            <a:off x="3465576" y="3227832"/>
            <a:ext cx="548640" cy="54864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26" name="Image 4" descr="assets/icons/industry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02736" y="3364992"/>
            <a:ext cx="274320" cy="27432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3447288" y="3849624"/>
            <a:ext cx="22494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Региональное развитие</a:t>
            </a:r>
            <a:endParaRPr lang="en-US" sz="1250" dirty="0"/>
          </a:p>
        </p:txBody>
      </p:sp>
      <p:sp>
        <p:nvSpPr>
          <p:cNvPr id="28" name="Text 21"/>
          <p:cNvSpPr/>
          <p:nvPr/>
        </p:nvSpPr>
        <p:spPr>
          <a:xfrm>
            <a:off x="3447288" y="4123944"/>
            <a:ext cx="22677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87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Промышленный актив, рабочие места и инфраструктура в Сайрамском районе</a:t>
            </a:r>
            <a:endParaRPr lang="en-US" sz="870" dirty="0"/>
          </a:p>
        </p:txBody>
      </p:sp>
      <p:sp>
        <p:nvSpPr>
          <p:cNvPr id="29" name="Shape 22"/>
          <p:cNvSpPr/>
          <p:nvPr/>
        </p:nvSpPr>
        <p:spPr>
          <a:xfrm>
            <a:off x="6025896" y="3026664"/>
            <a:ext cx="2615184" cy="1417320"/>
          </a:xfrm>
          <a:prstGeom prst="roundRect">
            <a:avLst>
              <a:gd name="adj" fmla="val 6452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30" name="Shape 23"/>
          <p:cNvSpPr/>
          <p:nvPr/>
        </p:nvSpPr>
        <p:spPr>
          <a:xfrm>
            <a:off x="6227064" y="3227832"/>
            <a:ext cx="548640" cy="54864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31" name="Image 5" descr="assets/icons/target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64224" y="3364992"/>
            <a:ext cx="274320" cy="274320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6208776" y="3849624"/>
            <a:ext cx="22494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Устойчивость модели</a:t>
            </a:r>
            <a:endParaRPr lang="en-US" sz="1250" dirty="0"/>
          </a:p>
        </p:txBody>
      </p:sp>
      <p:sp>
        <p:nvSpPr>
          <p:cNvPr id="33" name="Text 25"/>
          <p:cNvSpPr/>
          <p:nvPr/>
        </p:nvSpPr>
        <p:spPr>
          <a:xfrm>
            <a:off x="6208776" y="4041709"/>
            <a:ext cx="22677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87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Диверсифицированная выручка: энергия + удобрения + возможные углеродные и грантовые поступления</a:t>
            </a:r>
            <a:endParaRPr lang="en-US" sz="870" dirty="0"/>
          </a:p>
        </p:txBody>
      </p:sp>
      <p:sp>
        <p:nvSpPr>
          <p:cNvPr id="34" name="Text 26"/>
          <p:cNvSpPr/>
          <p:nvPr/>
        </p:nvSpPr>
        <p:spPr>
          <a:xfrm>
            <a:off x="502920" y="4828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KazBioFert</a:t>
            </a:r>
            <a:r>
              <a:rPr lang="en-US" sz="8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BBFF  ·  Совет директоров</a:t>
            </a:r>
            <a:endParaRPr lang="en-US" sz="850" dirty="0"/>
          </a:p>
        </p:txBody>
      </p:sp>
      <p:sp>
        <p:nvSpPr>
          <p:cNvPr id="35" name="Text 27"/>
          <p:cNvSpPr/>
          <p:nvPr/>
        </p:nvSpPr>
        <p:spPr>
          <a:xfrm>
            <a:off x="4572000" y="48280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ОБОСНОВАНИЕ</a:t>
            </a:r>
            <a:endParaRPr lang="en-US" sz="800" dirty="0"/>
          </a:p>
        </p:txBody>
      </p:sp>
      <p:sp>
        <p:nvSpPr>
          <p:cNvPr id="36" name="Text 28"/>
          <p:cNvSpPr/>
          <p:nvPr/>
        </p:nvSpPr>
        <p:spPr>
          <a:xfrm>
            <a:off x="827532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КЛЮЧЕВЫЕ НАПРАВЛЕНИЯ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Все шесть направлений в работе; критический путь — ПСД, тариф и финансирование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8138160" cy="502920"/>
          </a:xfrm>
          <a:prstGeom prst="roundRect">
            <a:avLst>
              <a:gd name="adj" fmla="val 10909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621792" y="1531620"/>
            <a:ext cx="365760" cy="36576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6" name="Image 0" descr="assets/icons/compass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623060"/>
            <a:ext cx="182880" cy="1828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06424" y="146304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Проектирование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2697480" y="146304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выполнено, часть передана адапторам</a:t>
            </a:r>
            <a:endParaRPr lang="en-US" sz="980" dirty="0"/>
          </a:p>
        </p:txBody>
      </p:sp>
      <p:sp>
        <p:nvSpPr>
          <p:cNvPr id="9" name="Text 6"/>
          <p:cNvSpPr/>
          <p:nvPr/>
        </p:nvSpPr>
        <p:spPr>
          <a:xfrm>
            <a:off x="6492240" y="1463040"/>
            <a:ext cx="1143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Май 2026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7589520" y="1577340"/>
            <a:ext cx="914400" cy="274320"/>
          </a:xfrm>
          <a:prstGeom prst="roundRect">
            <a:avLst>
              <a:gd name="adj" fmla="val 50000"/>
            </a:avLst>
          </a:prstGeom>
          <a:solidFill>
            <a:srgbClr val="2F6690"/>
          </a:solidFill>
          <a:ln/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7589520" y="15773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Готово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502920" y="2007108"/>
            <a:ext cx="813816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3" name="Shape 10"/>
          <p:cNvSpPr/>
          <p:nvPr/>
        </p:nvSpPr>
        <p:spPr>
          <a:xfrm>
            <a:off x="621792" y="2075688"/>
            <a:ext cx="365760" cy="36576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14" name="Image 1" descr="assets/icons/sync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2167128"/>
            <a:ext cx="182880" cy="18288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106424" y="20071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Адаптация ПСД</a:t>
            </a:r>
            <a:endParaRPr lang="en-US" sz="1150" dirty="0"/>
          </a:p>
        </p:txBody>
      </p:sp>
      <p:sp>
        <p:nvSpPr>
          <p:cNvPr id="16" name="Text 12"/>
          <p:cNvSpPr/>
          <p:nvPr/>
        </p:nvSpPr>
        <p:spPr>
          <a:xfrm>
            <a:off x="2697480" y="2007108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Разделы переведены, адаптация решений завершается</a:t>
            </a:r>
            <a:endParaRPr lang="en-US" sz="980" dirty="0"/>
          </a:p>
        </p:txBody>
      </p:sp>
      <p:sp>
        <p:nvSpPr>
          <p:cNvPr id="17" name="Text 13"/>
          <p:cNvSpPr/>
          <p:nvPr/>
        </p:nvSpPr>
        <p:spPr>
          <a:xfrm>
            <a:off x="6492240" y="2007108"/>
            <a:ext cx="1143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ru-RU" sz="95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Сентябрь</a:t>
            </a:r>
            <a:r>
              <a:rPr lang="en-US" sz="95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2026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7589520" y="2121408"/>
            <a:ext cx="914400" cy="274320"/>
          </a:xfrm>
          <a:prstGeom prst="roundRect">
            <a:avLst>
              <a:gd name="adj" fmla="val 50000"/>
            </a:avLst>
          </a:prstGeom>
          <a:solidFill>
            <a:srgbClr val="C4772F"/>
          </a:solidFill>
          <a:ln/>
        </p:spPr>
        <p:txBody>
          <a:bodyPr/>
          <a:p/>
        </p:txBody>
      </p:sp>
      <p:sp>
        <p:nvSpPr>
          <p:cNvPr id="19" name="Text 15"/>
          <p:cNvSpPr/>
          <p:nvPr/>
        </p:nvSpPr>
        <p:spPr>
          <a:xfrm>
            <a:off x="7589520" y="212140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работе</a:t>
            </a:r>
            <a:endParaRPr lang="en-US" sz="850" dirty="0"/>
          </a:p>
        </p:txBody>
      </p:sp>
      <p:sp>
        <p:nvSpPr>
          <p:cNvPr id="20" name="Shape 16"/>
          <p:cNvSpPr/>
          <p:nvPr/>
        </p:nvSpPr>
        <p:spPr>
          <a:xfrm>
            <a:off x="502920" y="2551176"/>
            <a:ext cx="8138160" cy="502920"/>
          </a:xfrm>
          <a:prstGeom prst="roundRect">
            <a:avLst>
              <a:gd name="adj" fmla="val 10909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1" name="Shape 17"/>
          <p:cNvSpPr/>
          <p:nvPr/>
        </p:nvSpPr>
        <p:spPr>
          <a:xfrm>
            <a:off x="621792" y="2619756"/>
            <a:ext cx="365760" cy="36576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22" name="Image 2" descr="assets/icons/map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232" y="2711196"/>
            <a:ext cx="182880" cy="182880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1106424" y="2551176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Земельный участок</a:t>
            </a:r>
            <a:endParaRPr lang="en-US" sz="1150" dirty="0"/>
          </a:p>
        </p:txBody>
      </p:sp>
      <p:sp>
        <p:nvSpPr>
          <p:cNvPr id="24" name="Text 19"/>
          <p:cNvSpPr/>
          <p:nvPr/>
        </p:nvSpPr>
        <p:spPr>
          <a:xfrm>
            <a:off x="2697480" y="2551176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17,29 га получен, назначение изменено, внесён в УК</a:t>
            </a:r>
            <a:endParaRPr lang="en-US" sz="980" dirty="0"/>
          </a:p>
        </p:txBody>
      </p:sp>
      <p:sp>
        <p:nvSpPr>
          <p:cNvPr id="25" name="Text 20"/>
          <p:cNvSpPr/>
          <p:nvPr/>
        </p:nvSpPr>
        <p:spPr>
          <a:xfrm>
            <a:off x="6492240" y="2551176"/>
            <a:ext cx="1143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Март 2026</a:t>
            </a:r>
            <a:endParaRPr lang="en-US" sz="950" dirty="0"/>
          </a:p>
        </p:txBody>
      </p:sp>
      <p:sp>
        <p:nvSpPr>
          <p:cNvPr id="26" name="Shape 21"/>
          <p:cNvSpPr/>
          <p:nvPr/>
        </p:nvSpPr>
        <p:spPr>
          <a:xfrm>
            <a:off x="7589520" y="2665476"/>
            <a:ext cx="914400" cy="274320"/>
          </a:xfrm>
          <a:prstGeom prst="roundRect">
            <a:avLst>
              <a:gd name="adj" fmla="val 50000"/>
            </a:avLst>
          </a:prstGeom>
          <a:solidFill>
            <a:srgbClr val="2F6690"/>
          </a:solidFill>
          <a:ln/>
        </p:spPr>
        <p:txBody>
          <a:bodyPr/>
          <a:p/>
        </p:txBody>
      </p:sp>
      <p:sp>
        <p:nvSpPr>
          <p:cNvPr id="27" name="Text 22"/>
          <p:cNvSpPr/>
          <p:nvPr/>
        </p:nvSpPr>
        <p:spPr>
          <a:xfrm>
            <a:off x="7589520" y="26654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Готово</a:t>
            </a:r>
            <a:endParaRPr lang="en-US" sz="850" dirty="0"/>
          </a:p>
        </p:txBody>
      </p:sp>
      <p:sp>
        <p:nvSpPr>
          <p:cNvPr id="28" name="Shape 23"/>
          <p:cNvSpPr/>
          <p:nvPr/>
        </p:nvSpPr>
        <p:spPr>
          <a:xfrm>
            <a:off x="502920" y="3095244"/>
            <a:ext cx="813816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9" name="Shape 24"/>
          <p:cNvSpPr/>
          <p:nvPr/>
        </p:nvSpPr>
        <p:spPr>
          <a:xfrm>
            <a:off x="621792" y="3163824"/>
            <a:ext cx="365760" cy="36576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30" name="Image 3" descr="assets/icons/bolt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3232" y="3255264"/>
            <a:ext cx="182880" cy="182880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1106424" y="3095244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Тариф на электроэнергию</a:t>
            </a:r>
            <a:endParaRPr lang="en-US" sz="1150" dirty="0"/>
          </a:p>
        </p:txBody>
      </p:sp>
      <p:sp>
        <p:nvSpPr>
          <p:cNvPr id="32" name="Text 26"/>
          <p:cNvSpPr/>
          <p:nvPr/>
        </p:nvSpPr>
        <p:spPr>
          <a:xfrm>
            <a:off x="2697480" y="3095244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Раскрыта БГ; рассматривается повторный аукцион</a:t>
            </a:r>
            <a:endParaRPr lang="en-US" sz="980" dirty="0"/>
          </a:p>
        </p:txBody>
      </p:sp>
      <p:sp>
        <p:nvSpPr>
          <p:cNvPr id="33" name="Text 27"/>
          <p:cNvSpPr/>
          <p:nvPr/>
        </p:nvSpPr>
        <p:spPr>
          <a:xfrm>
            <a:off x="6492240" y="3095244"/>
            <a:ext cx="1143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Требует решения</a:t>
            </a:r>
            <a:endParaRPr lang="en-US" sz="950" dirty="0"/>
          </a:p>
        </p:txBody>
      </p:sp>
      <p:sp>
        <p:nvSpPr>
          <p:cNvPr id="34" name="Shape 28"/>
          <p:cNvSpPr/>
          <p:nvPr/>
        </p:nvSpPr>
        <p:spPr>
          <a:xfrm>
            <a:off x="7589520" y="3209544"/>
            <a:ext cx="914400" cy="274320"/>
          </a:xfrm>
          <a:prstGeom prst="roundRect">
            <a:avLst>
              <a:gd name="adj" fmla="val 50000"/>
            </a:avLst>
          </a:prstGeom>
          <a:solidFill>
            <a:srgbClr val="B4432E"/>
          </a:solidFill>
          <a:ln/>
        </p:spPr>
        <p:txBody>
          <a:bodyPr/>
          <a:p/>
        </p:txBody>
      </p:sp>
      <p:sp>
        <p:nvSpPr>
          <p:cNvPr id="35" name="Text 29"/>
          <p:cNvSpPr/>
          <p:nvPr/>
        </p:nvSpPr>
        <p:spPr>
          <a:xfrm>
            <a:off x="7589520" y="320954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Решение</a:t>
            </a:r>
            <a:endParaRPr lang="en-US" sz="850" dirty="0"/>
          </a:p>
        </p:txBody>
      </p:sp>
      <p:sp>
        <p:nvSpPr>
          <p:cNvPr id="36" name="Shape 30"/>
          <p:cNvSpPr/>
          <p:nvPr/>
        </p:nvSpPr>
        <p:spPr>
          <a:xfrm>
            <a:off x="502920" y="3639312"/>
            <a:ext cx="8138160" cy="502920"/>
          </a:xfrm>
          <a:prstGeom prst="roundRect">
            <a:avLst>
              <a:gd name="adj" fmla="val 10909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37" name="Shape 31"/>
          <p:cNvSpPr/>
          <p:nvPr/>
        </p:nvSpPr>
        <p:spPr>
          <a:xfrm>
            <a:off x="621792" y="3707892"/>
            <a:ext cx="365760" cy="36576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38" name="Image 4" descr="assets/icons/money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3232" y="3799332"/>
            <a:ext cx="182880" cy="182880"/>
          </a:xfrm>
          <a:prstGeom prst="rect">
            <a:avLst/>
          </a:prstGeom>
        </p:spPr>
      </p:pic>
      <p:sp>
        <p:nvSpPr>
          <p:cNvPr id="39" name="Text 32"/>
          <p:cNvSpPr/>
          <p:nvPr/>
        </p:nvSpPr>
        <p:spPr>
          <a:xfrm>
            <a:off x="1106424" y="363931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Финансирование</a:t>
            </a:r>
            <a:endParaRPr lang="en-US" sz="1150" dirty="0"/>
          </a:p>
        </p:txBody>
      </p:sp>
      <p:sp>
        <p:nvSpPr>
          <p:cNvPr id="40" name="Text 33"/>
          <p:cNvSpPr/>
          <p:nvPr/>
        </p:nvSpPr>
        <p:spPr>
          <a:xfrm>
            <a:off x="2697480" y="3639312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проработке у ФРП, БРК, БВУ; структурируется</a:t>
            </a:r>
            <a:endParaRPr lang="en-US" sz="980" dirty="0"/>
          </a:p>
        </p:txBody>
      </p:sp>
      <p:sp>
        <p:nvSpPr>
          <p:cNvPr id="41" name="Text 34"/>
          <p:cNvSpPr/>
          <p:nvPr/>
        </p:nvSpPr>
        <p:spPr>
          <a:xfrm>
            <a:off x="6492240" y="3639312"/>
            <a:ext cx="1143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 кв. 2026</a:t>
            </a:r>
            <a:endParaRPr lang="en-US" sz="950" dirty="0"/>
          </a:p>
        </p:txBody>
      </p:sp>
      <p:sp>
        <p:nvSpPr>
          <p:cNvPr id="42" name="Shape 35"/>
          <p:cNvSpPr/>
          <p:nvPr/>
        </p:nvSpPr>
        <p:spPr>
          <a:xfrm>
            <a:off x="7589520" y="3753612"/>
            <a:ext cx="914400" cy="274320"/>
          </a:xfrm>
          <a:prstGeom prst="roundRect">
            <a:avLst>
              <a:gd name="adj" fmla="val 50000"/>
            </a:avLst>
          </a:prstGeom>
          <a:solidFill>
            <a:srgbClr val="C4772F"/>
          </a:solidFill>
          <a:ln/>
        </p:spPr>
        <p:txBody>
          <a:bodyPr/>
          <a:p/>
        </p:txBody>
      </p:sp>
      <p:sp>
        <p:nvSpPr>
          <p:cNvPr id="43" name="Text 36"/>
          <p:cNvSpPr/>
          <p:nvPr/>
        </p:nvSpPr>
        <p:spPr>
          <a:xfrm>
            <a:off x="7589520" y="37536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работе</a:t>
            </a:r>
            <a:endParaRPr lang="en-US" sz="850" dirty="0"/>
          </a:p>
        </p:txBody>
      </p:sp>
      <p:sp>
        <p:nvSpPr>
          <p:cNvPr id="44" name="Shape 37"/>
          <p:cNvSpPr/>
          <p:nvPr/>
        </p:nvSpPr>
        <p:spPr>
          <a:xfrm>
            <a:off x="502920" y="4183380"/>
            <a:ext cx="813816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45" name="Shape 38"/>
          <p:cNvSpPr/>
          <p:nvPr/>
        </p:nvSpPr>
        <p:spPr>
          <a:xfrm>
            <a:off x="621792" y="4251960"/>
            <a:ext cx="365760" cy="36576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46" name="Image 5" descr="assets/icons/handshake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3232" y="4343400"/>
            <a:ext cx="182880" cy="182880"/>
          </a:xfrm>
          <a:prstGeom prst="rect">
            <a:avLst/>
          </a:prstGeom>
        </p:spPr>
      </p:pic>
      <p:sp>
        <p:nvSpPr>
          <p:cNvPr id="47" name="Text 39"/>
          <p:cNvSpPr/>
          <p:nvPr/>
        </p:nvSpPr>
        <p:spPr>
          <a:xfrm>
            <a:off x="1106424" y="41833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Сбыт / сбыт</a:t>
            </a:r>
            <a:endParaRPr lang="en-US" sz="1150" dirty="0"/>
          </a:p>
        </p:txBody>
      </p:sp>
      <p:sp>
        <p:nvSpPr>
          <p:cNvPr id="48" name="Text 40"/>
          <p:cNvSpPr/>
          <p:nvPr/>
        </p:nvSpPr>
        <p:spPr>
          <a:xfrm>
            <a:off x="2697480" y="418338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Переговоры с трейдерами; твёрдые договоры </a:t>
            </a:r>
            <a:r>
              <a:rPr lang="en-US" sz="980" dirty="0" err="1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после</a:t>
            </a:r>
            <a:r>
              <a:rPr lang="en-US" sz="98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u-RU" sz="98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начала </a:t>
            </a:r>
            <a:r>
              <a:rPr lang="en-US" sz="98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СМР</a:t>
            </a:r>
            <a:endParaRPr lang="en-US" sz="980" dirty="0"/>
          </a:p>
        </p:txBody>
      </p:sp>
      <p:sp>
        <p:nvSpPr>
          <p:cNvPr id="49" name="Text 41"/>
          <p:cNvSpPr/>
          <p:nvPr/>
        </p:nvSpPr>
        <p:spPr>
          <a:xfrm>
            <a:off x="6492240" y="4183380"/>
            <a:ext cx="1143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Сентябрь 2026</a:t>
            </a:r>
            <a:endParaRPr lang="en-US" sz="950" dirty="0"/>
          </a:p>
        </p:txBody>
      </p:sp>
      <p:sp>
        <p:nvSpPr>
          <p:cNvPr id="50" name="Shape 42"/>
          <p:cNvSpPr/>
          <p:nvPr/>
        </p:nvSpPr>
        <p:spPr>
          <a:xfrm>
            <a:off x="7589520" y="4297680"/>
            <a:ext cx="914400" cy="274320"/>
          </a:xfrm>
          <a:prstGeom prst="roundRect">
            <a:avLst>
              <a:gd name="adj" fmla="val 50000"/>
            </a:avLst>
          </a:prstGeom>
          <a:solidFill>
            <a:srgbClr val="C4772F"/>
          </a:solidFill>
          <a:ln/>
        </p:spPr>
        <p:txBody>
          <a:bodyPr/>
          <a:p/>
        </p:txBody>
      </p:sp>
      <p:sp>
        <p:nvSpPr>
          <p:cNvPr id="51" name="Text 43"/>
          <p:cNvSpPr/>
          <p:nvPr/>
        </p:nvSpPr>
        <p:spPr>
          <a:xfrm>
            <a:off x="7589520" y="42976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работе</a:t>
            </a:r>
            <a:endParaRPr lang="en-US" sz="850" dirty="0"/>
          </a:p>
        </p:txBody>
      </p:sp>
      <p:sp>
        <p:nvSpPr>
          <p:cNvPr id="52" name="Text 44"/>
          <p:cNvSpPr/>
          <p:nvPr/>
        </p:nvSpPr>
        <p:spPr>
          <a:xfrm>
            <a:off x="502920" y="4828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KazBioFert</a:t>
            </a:r>
            <a:r>
              <a:rPr lang="en-US" sz="8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BBFF  ·  Совет директоров</a:t>
            </a:r>
            <a:endParaRPr lang="en-US" sz="850" dirty="0"/>
          </a:p>
        </p:txBody>
      </p:sp>
      <p:sp>
        <p:nvSpPr>
          <p:cNvPr id="53" name="Text 45"/>
          <p:cNvSpPr/>
          <p:nvPr/>
        </p:nvSpPr>
        <p:spPr>
          <a:xfrm>
            <a:off x="7385539" y="4814433"/>
            <a:ext cx="15310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СТАТУС</a:t>
            </a:r>
            <a:endParaRPr lang="en-US" sz="800" dirty="0"/>
          </a:p>
        </p:txBody>
      </p:sp>
      <p:sp>
        <p:nvSpPr>
          <p:cNvPr id="54" name="Text 46"/>
          <p:cNvSpPr/>
          <p:nvPr/>
        </p:nvSpPr>
        <p:spPr>
          <a:xfrm>
            <a:off x="827532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РАЗРЕШЕНИЯ И ТЕХНИЧЕСКИЕ УСЛОВИЯ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r>
              <a:rPr lang="ru-RU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r>
              <a:rPr lang="en-US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 ТУ </a:t>
            </a:r>
            <a:r>
              <a:rPr lang="ru-RU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получено</a:t>
            </a:r>
            <a:r>
              <a:rPr lang="en-US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по ключевым инженерным направлениям — положительные ответы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02920" y="1481328"/>
            <a:ext cx="1828800" cy="2834640"/>
          </a:xfrm>
          <a:prstGeom prst="roundRect">
            <a:avLst>
              <a:gd name="adj" fmla="val 5000"/>
            </a:avLst>
          </a:prstGeom>
          <a:solidFill>
            <a:srgbClr val="13294B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02920" y="178308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E0A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~9</a:t>
            </a:r>
            <a:r>
              <a:rPr lang="ru-RU" sz="4400" b="1" dirty="0">
                <a:solidFill>
                  <a:srgbClr val="E0A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r>
              <a:rPr lang="en-US" sz="4400" b="1" dirty="0">
                <a:solidFill>
                  <a:srgbClr val="E0A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548640" y="256032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готовность по</a:t>
            </a:r>
            <a:endParaRPr lang="en-US" sz="1100" dirty="0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разрешительной части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77240" y="3200400"/>
            <a:ext cx="1280160" cy="0"/>
          </a:xfrm>
          <a:prstGeom prst="line">
            <a:avLst/>
          </a:prstGeom>
          <a:noFill/>
          <a:ln w="12700">
            <a:solidFill>
              <a:srgbClr val="5B8CB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66928" y="3310128"/>
            <a:ext cx="17007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AEC8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из 10 </a:t>
            </a:r>
            <a:r>
              <a:rPr lang="en-US" sz="1050" dirty="0">
                <a:solidFill>
                  <a:srgbClr val="CF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направлений — положительный ответ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2606040" y="1481328"/>
            <a:ext cx="6035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ПОЛОЖИТЕЛЬНЫЙ ОТВЕТ</a:t>
            </a:r>
            <a:endParaRPr lang="en-US" sz="950" dirty="0"/>
          </a:p>
        </p:txBody>
      </p:sp>
      <p:pic>
        <p:nvPicPr>
          <p:cNvPr id="10" name="Image 0" descr="assets/icons/check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6040" y="1764792"/>
            <a:ext cx="182880" cy="18288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2862072" y="173736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Генерация — ОЖТ</a:t>
            </a:r>
            <a:endParaRPr lang="en-US" sz="1000" dirty="0"/>
          </a:p>
        </p:txBody>
      </p:sp>
      <p:pic>
        <p:nvPicPr>
          <p:cNvPr id="12" name="Image 1" descr="assets/icons/check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41848" y="1764792"/>
            <a:ext cx="182880" cy="18288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897880" y="173736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Потребление — ОЖТ</a:t>
            </a:r>
            <a:endParaRPr lang="en-US" sz="1000" dirty="0"/>
          </a:p>
        </p:txBody>
      </p:sp>
      <p:pic>
        <p:nvPicPr>
          <p:cNvPr id="14" name="Image 2" descr="assets/icons/check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6040" y="2148840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2862072" y="212140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Газ — QazaqGaz Aimaq</a:t>
            </a:r>
            <a:endParaRPr lang="en-US" sz="1000" dirty="0"/>
          </a:p>
        </p:txBody>
      </p:sp>
      <p:pic>
        <p:nvPicPr>
          <p:cNvPr id="16" name="Image 3" descr="assets/icons/check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41848" y="2148840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5897880" y="212140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Слив отработанной воды</a:t>
            </a:r>
            <a:r>
              <a:rPr lang="en-US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ГКП «Аксу»</a:t>
            </a:r>
            <a:endParaRPr lang="en-US" sz="1000" dirty="0"/>
          </a:p>
        </p:txBody>
      </p:sp>
      <p:pic>
        <p:nvPicPr>
          <p:cNvPr id="18" name="Image 4" descr="assets/icons/check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6040" y="2532888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2862072" y="250545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Подъездные пути — </a:t>
            </a:r>
            <a:r>
              <a:rPr lang="ru-RU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</a:t>
            </a:r>
            <a:r>
              <a:rPr lang="en-US" sz="1000" dirty="0" err="1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кимат</a:t>
            </a:r>
            <a:endParaRPr lang="en-US" sz="1000" dirty="0"/>
          </a:p>
        </p:txBody>
      </p:sp>
      <p:pic>
        <p:nvPicPr>
          <p:cNvPr id="20" name="Image 5" descr="assets/icons/check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41848" y="2532888"/>
            <a:ext cx="182880" cy="182880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5897880" y="250545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КТЖ ВЛ-10</a:t>
            </a:r>
            <a:endParaRPr lang="en-US" sz="1000" dirty="0"/>
          </a:p>
        </p:txBody>
      </p:sp>
      <p:pic>
        <p:nvPicPr>
          <p:cNvPr id="22" name="Image 6" descr="assets/icons/check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6040" y="2916936"/>
            <a:ext cx="182880" cy="182880"/>
          </a:xfrm>
          <a:prstGeom prst="rect">
            <a:avLst/>
          </a:prstGeom>
        </p:spPr>
      </p:pic>
      <p:sp>
        <p:nvSpPr>
          <p:cNvPr id="23" name="Text 14"/>
          <p:cNvSpPr/>
          <p:nvPr/>
        </p:nvSpPr>
        <p:spPr>
          <a:xfrm>
            <a:off x="2862072" y="288950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Связь — Казахтелеком / Jusan</a:t>
            </a:r>
            <a:endParaRPr lang="en-US" sz="1000" dirty="0"/>
          </a:p>
        </p:txBody>
      </p:sp>
      <p:sp>
        <p:nvSpPr>
          <p:cNvPr id="24" name="Text 15"/>
          <p:cNvSpPr/>
          <p:nvPr/>
        </p:nvSpPr>
        <p:spPr>
          <a:xfrm>
            <a:off x="2606040" y="3401568"/>
            <a:ext cx="6035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РАБОТЕ</a:t>
            </a:r>
            <a:endParaRPr lang="en-US" sz="950" dirty="0"/>
          </a:p>
        </p:txBody>
      </p:sp>
      <p:sp>
        <p:nvSpPr>
          <p:cNvPr id="25" name="Shape 16"/>
          <p:cNvSpPr/>
          <p:nvPr/>
        </p:nvSpPr>
        <p:spPr>
          <a:xfrm>
            <a:off x="2624328" y="3703320"/>
            <a:ext cx="137160" cy="137160"/>
          </a:xfrm>
          <a:prstGeom prst="ellipse">
            <a:avLst/>
          </a:prstGeom>
          <a:solidFill>
            <a:srgbClr val="C4772F"/>
          </a:solidFill>
          <a:ln/>
        </p:spPr>
        <p:txBody>
          <a:bodyPr/>
          <a:p/>
        </p:txBody>
      </p:sp>
      <p:sp>
        <p:nvSpPr>
          <p:cNvPr id="26" name="Text 17"/>
          <p:cNvSpPr/>
          <p:nvPr/>
        </p:nvSpPr>
        <p:spPr>
          <a:xfrm>
            <a:off x="2862072" y="36576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Скважина - </a:t>
            </a:r>
            <a:r>
              <a:rPr lang="en-US" sz="1000" dirty="0" err="1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Арало-Сырдар</a:t>
            </a:r>
            <a:r>
              <a:rPr lang="en-US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бас. </a:t>
            </a:r>
            <a:r>
              <a:rPr lang="kk-KZ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</a:t>
            </a:r>
            <a:r>
              <a:rPr lang="en-US" sz="1000" dirty="0" err="1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нспекция</a:t>
            </a:r>
            <a:r>
              <a:rPr lang="ru-RU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00" dirty="0"/>
          </a:p>
        </p:txBody>
      </p:sp>
      <p:sp>
        <p:nvSpPr>
          <p:cNvPr id="27" name="Shape 18"/>
          <p:cNvSpPr/>
          <p:nvPr/>
        </p:nvSpPr>
        <p:spPr>
          <a:xfrm>
            <a:off x="5660136" y="3703320"/>
            <a:ext cx="137160" cy="137160"/>
          </a:xfrm>
          <a:prstGeom prst="ellipse">
            <a:avLst/>
          </a:prstGeom>
          <a:solidFill>
            <a:srgbClr val="C4772F"/>
          </a:solidFill>
          <a:ln/>
        </p:spPr>
        <p:txBody>
          <a:bodyPr/>
          <a:p/>
        </p:txBody>
      </p:sp>
      <p:sp>
        <p:nvSpPr>
          <p:cNvPr id="28" name="Text 19"/>
          <p:cNvSpPr/>
          <p:nvPr/>
        </p:nvSpPr>
        <p:spPr>
          <a:xfrm>
            <a:off x="5897880" y="36576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Подключение к ВЛ-35 (SALUS)</a:t>
            </a:r>
            <a:r>
              <a:rPr lang="ru-RU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альтернатива</a:t>
            </a:r>
            <a:endParaRPr lang="en-US" sz="1000" dirty="0"/>
          </a:p>
        </p:txBody>
      </p:sp>
      <p:sp>
        <p:nvSpPr>
          <p:cNvPr id="29" name="Shape 20"/>
          <p:cNvSpPr/>
          <p:nvPr/>
        </p:nvSpPr>
        <p:spPr>
          <a:xfrm>
            <a:off x="2624328" y="4087368"/>
            <a:ext cx="137160" cy="137160"/>
          </a:xfrm>
          <a:prstGeom prst="ellipse">
            <a:avLst/>
          </a:prstGeom>
          <a:solidFill>
            <a:srgbClr val="C4772F"/>
          </a:solidFill>
          <a:ln/>
        </p:spPr>
        <p:txBody>
          <a:bodyPr/>
          <a:p/>
        </p:txBody>
      </p:sp>
      <p:sp>
        <p:nvSpPr>
          <p:cNvPr id="30" name="Text 21"/>
          <p:cNvSpPr/>
          <p:nvPr/>
        </p:nvSpPr>
        <p:spPr>
          <a:xfrm>
            <a:off x="2862072" y="404164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ОВОС — обществ. слушания</a:t>
            </a:r>
            <a:endParaRPr lang="en-US" sz="1000" dirty="0"/>
          </a:p>
        </p:txBody>
      </p:sp>
      <p:sp>
        <p:nvSpPr>
          <p:cNvPr id="31" name="Text 22"/>
          <p:cNvSpPr/>
          <p:nvPr/>
        </p:nvSpPr>
        <p:spPr>
          <a:xfrm>
            <a:off x="502920" y="4828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KazBioFert</a:t>
            </a:r>
            <a:r>
              <a:rPr lang="en-US" sz="8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BBFF  ·  Совет директоров</a:t>
            </a:r>
            <a:endParaRPr lang="en-US" sz="850" dirty="0"/>
          </a:p>
        </p:txBody>
      </p:sp>
      <p:sp>
        <p:nvSpPr>
          <p:cNvPr id="32" name="Text 23"/>
          <p:cNvSpPr/>
          <p:nvPr/>
        </p:nvSpPr>
        <p:spPr>
          <a:xfrm>
            <a:off x="4572000" y="48280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РАЗРЕШЕНИЯ</a:t>
            </a:r>
            <a:endParaRPr lang="en-US" sz="800" dirty="0"/>
          </a:p>
        </p:txBody>
      </p:sp>
      <p:sp>
        <p:nvSpPr>
          <p:cNvPr id="33" name="Text 24"/>
          <p:cNvSpPr/>
          <p:nvPr/>
        </p:nvSpPr>
        <p:spPr>
          <a:xfrm>
            <a:off x="827532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357552" y="1828800"/>
            <a:ext cx="7778262" cy="54864"/>
          </a:xfrm>
          <a:prstGeom prst="line">
            <a:avLst/>
          </a:prstGeom>
          <a:noFill/>
          <a:ln w="2540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15" name="Shape 11"/>
          <p:cNvSpPr/>
          <p:nvPr/>
        </p:nvSpPr>
        <p:spPr>
          <a:xfrm>
            <a:off x="5820520" y="1600200"/>
            <a:ext cx="457200" cy="45720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" name="Text 0"/>
          <p:cNvSpPr/>
          <p:nvPr/>
        </p:nvSpPr>
        <p:spPr>
          <a:xfrm>
            <a:off x="502920" y="310896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ПСД И ГРАФИК ГОСЭКСПЕРТИЗЫ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Критический путь: госэкспертиза → ОВОС → рассмотрение финансовыми институтами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2005828" y="1600200"/>
            <a:ext cx="457200" cy="45720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6" name="Image 0" descr="assets/icons/compass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0128" y="1714500"/>
            <a:ext cx="228600" cy="2286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68668" y="21671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10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Сентябрь </a:t>
            </a:r>
            <a:r>
              <a:rPr lang="en-US" sz="10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1868668" y="242316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ru-RU" sz="12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Подача ПСД на </a:t>
            </a:r>
            <a:r>
              <a:rPr lang="ru-RU" sz="1250" b="1" dirty="0" err="1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гос.экспертизу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1868668" y="2971800"/>
            <a:ext cx="162483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ru-RU" sz="9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Окончание п</a:t>
            </a:r>
            <a:r>
              <a:rPr lang="en-US" sz="930" dirty="0" err="1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еревод</a:t>
            </a:r>
            <a:r>
              <a:rPr lang="ru-RU" sz="9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</a:t>
            </a:r>
            <a:r>
              <a:rPr lang="en-US" sz="9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и адаптация технологической и производственной документации под требования РК</a:t>
            </a:r>
            <a:endParaRPr lang="en-US" sz="930" dirty="0"/>
          </a:p>
        </p:txBody>
      </p:sp>
      <p:sp>
        <p:nvSpPr>
          <p:cNvPr id="10" name="Shape 7"/>
          <p:cNvSpPr/>
          <p:nvPr/>
        </p:nvSpPr>
        <p:spPr>
          <a:xfrm>
            <a:off x="3878005" y="1600200"/>
            <a:ext cx="457200" cy="45720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11" name="Image 1" descr="assets/icons/filecheck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4820" y="1696681"/>
            <a:ext cx="228600" cy="2286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740845" y="21671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10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Октябрь </a:t>
            </a:r>
            <a:r>
              <a:rPr lang="en-US" sz="10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3740845" y="242316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ru-RU" sz="12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ОВОС – эко экспертиза</a:t>
            </a:r>
            <a:endParaRPr lang="en-US" sz="1250" dirty="0"/>
          </a:p>
        </p:txBody>
      </p:sp>
      <p:sp>
        <p:nvSpPr>
          <p:cNvPr id="14" name="Text 10"/>
          <p:cNvSpPr/>
          <p:nvPr/>
        </p:nvSpPr>
        <p:spPr>
          <a:xfrm>
            <a:off x="3740845" y="297180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ru-RU" sz="9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Экологическая экспертиза через общественные слушания</a:t>
            </a:r>
            <a:endParaRPr lang="en-US" sz="930" dirty="0"/>
          </a:p>
        </p:txBody>
      </p:sp>
      <p:pic>
        <p:nvPicPr>
          <p:cNvPr id="16" name="Image 2" descr="assets/icons/leaf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92305" y="1703364"/>
            <a:ext cx="228600" cy="22860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5683360" y="21671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10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Ноябрь </a:t>
            </a:r>
            <a:r>
              <a:rPr lang="en-US" sz="10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050" dirty="0"/>
          </a:p>
        </p:txBody>
      </p:sp>
      <p:sp>
        <p:nvSpPr>
          <p:cNvPr id="18" name="Text 13"/>
          <p:cNvSpPr/>
          <p:nvPr/>
        </p:nvSpPr>
        <p:spPr>
          <a:xfrm>
            <a:off x="5683360" y="242316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95000"/>
              </a:lnSpc>
            </a:pPr>
            <a:r>
              <a:rPr lang="en-US" sz="1250" b="1" dirty="0" err="1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Государственная</a:t>
            </a:r>
            <a:r>
              <a:rPr lang="en-US" sz="12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b="1" dirty="0" err="1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экспертиза</a:t>
            </a:r>
            <a:endParaRPr lang="en-US" sz="1250" dirty="0"/>
          </a:p>
        </p:txBody>
      </p:sp>
      <p:sp>
        <p:nvSpPr>
          <p:cNvPr id="19" name="Text 14"/>
          <p:cNvSpPr/>
          <p:nvPr/>
        </p:nvSpPr>
        <p:spPr>
          <a:xfrm>
            <a:off x="5683360" y="297180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05000"/>
              </a:lnSpc>
            </a:pPr>
            <a:r>
              <a:rPr lang="ru-RU" sz="9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Получение положительного заключения </a:t>
            </a:r>
            <a:r>
              <a:rPr lang="ru-RU" sz="930" dirty="0" err="1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Гос.экспертизы</a:t>
            </a:r>
            <a:endParaRPr lang="en-US" sz="930" dirty="0"/>
          </a:p>
        </p:txBody>
      </p:sp>
      <p:sp>
        <p:nvSpPr>
          <p:cNvPr id="20" name="Shape 15"/>
          <p:cNvSpPr/>
          <p:nvPr/>
        </p:nvSpPr>
        <p:spPr>
          <a:xfrm>
            <a:off x="7751314" y="1600200"/>
            <a:ext cx="457200" cy="457200"/>
          </a:xfrm>
          <a:prstGeom prst="ellipse">
            <a:avLst/>
          </a:prstGeom>
          <a:solidFill>
            <a:srgbClr val="C4772F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21" name="Image 3" descr="assets/icons/money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65614" y="1714500"/>
            <a:ext cx="228600" cy="22860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614154" y="21671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1050" b="1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Ноябрь </a:t>
            </a:r>
            <a:r>
              <a:rPr lang="en-US" sz="1050" b="1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050" dirty="0"/>
          </a:p>
        </p:txBody>
      </p:sp>
      <p:sp>
        <p:nvSpPr>
          <p:cNvPr id="23" name="Text 17"/>
          <p:cNvSpPr/>
          <p:nvPr/>
        </p:nvSpPr>
        <p:spPr>
          <a:xfrm>
            <a:off x="7614154" y="2423160"/>
            <a:ext cx="163536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Финансовое рассмотрение</a:t>
            </a:r>
            <a:endParaRPr lang="en-US" sz="1250" dirty="0"/>
          </a:p>
        </p:txBody>
      </p:sp>
      <p:sp>
        <p:nvSpPr>
          <p:cNvPr id="24" name="Text 18"/>
          <p:cNvSpPr/>
          <p:nvPr/>
        </p:nvSpPr>
        <p:spPr>
          <a:xfrm>
            <a:off x="7614154" y="2807207"/>
            <a:ext cx="1418503" cy="12161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ru-RU" sz="9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Подача п</a:t>
            </a:r>
            <a:r>
              <a:rPr lang="en-US" sz="930" dirty="0" err="1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акет</a:t>
            </a:r>
            <a:r>
              <a:rPr lang="ru-RU" sz="9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</a:t>
            </a:r>
            <a:r>
              <a:rPr lang="en-US" sz="9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u-RU" sz="9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 положительным заключением </a:t>
            </a:r>
            <a:r>
              <a:rPr lang="ru-RU" sz="930" dirty="0" err="1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гос.экспертизы</a:t>
            </a:r>
            <a:r>
              <a:rPr lang="ru-RU" sz="9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30" dirty="0" err="1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</a:t>
            </a:r>
            <a:r>
              <a:rPr lang="en-US" sz="9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финансирования ФРП, БРК и БВУ; </a:t>
            </a:r>
            <a:r>
              <a:rPr lang="en-US" sz="930" dirty="0" err="1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открытие</a:t>
            </a:r>
            <a:r>
              <a:rPr lang="en-US" sz="9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30" dirty="0" err="1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финансирования</a:t>
            </a:r>
            <a:r>
              <a:rPr lang="ru-RU" sz="9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</a:t>
            </a:r>
            <a:r>
              <a:rPr lang="en-US" sz="930" b="1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</a:t>
            </a:r>
            <a:r>
              <a:rPr lang="ru-RU" sz="930" b="1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квартал 2027 года</a:t>
            </a:r>
            <a:endParaRPr lang="en-US" sz="930" b="1" dirty="0"/>
          </a:p>
        </p:txBody>
      </p:sp>
      <p:sp>
        <p:nvSpPr>
          <p:cNvPr id="25" name="Shape 19"/>
          <p:cNvSpPr/>
          <p:nvPr/>
        </p:nvSpPr>
        <p:spPr>
          <a:xfrm>
            <a:off x="502920" y="4160520"/>
            <a:ext cx="8138160" cy="566928"/>
          </a:xfrm>
          <a:prstGeom prst="roundRect">
            <a:avLst>
              <a:gd name="adj" fmla="val 12903"/>
            </a:avLst>
          </a:prstGeom>
          <a:solidFill>
            <a:srgbClr val="EAF1F7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26" name="Image 4" descr="assets/icons/clock_gree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3232" y="4315968"/>
            <a:ext cx="256032" cy="256032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097280" y="4160520"/>
            <a:ext cx="7406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1050" dirty="0">
                <a:solidFill>
                  <a:srgbClr val="244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u-RU" sz="105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</a:t>
            </a:r>
            <a:r>
              <a:rPr lang="en-US" sz="1050" dirty="0" err="1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инансировани</a:t>
            </a:r>
            <a:r>
              <a:rPr lang="ru-RU" sz="105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</a:t>
            </a:r>
            <a:r>
              <a:rPr lang="en-US" sz="105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долж</a:t>
            </a:r>
            <a:r>
              <a:rPr lang="ru-RU" sz="105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</a:t>
            </a:r>
            <a:r>
              <a:rPr lang="en-US" sz="105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быть</a:t>
            </a:r>
            <a:r>
              <a:rPr lang="en-US" sz="105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синхронизирован</a:t>
            </a:r>
            <a:r>
              <a:rPr lang="ru-RU" sz="105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</a:t>
            </a:r>
            <a:r>
              <a:rPr lang="en-US" sz="105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с </a:t>
            </a:r>
            <a:r>
              <a:rPr lang="en-US" sz="1050" dirty="0" err="1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открыти</a:t>
            </a:r>
            <a:r>
              <a:rPr lang="ru-RU" sz="105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ем</a:t>
            </a:r>
            <a:r>
              <a:rPr lang="en-US" sz="105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финансирования</a:t>
            </a:r>
            <a:endParaRPr lang="en-US" sz="1050" dirty="0"/>
          </a:p>
        </p:txBody>
      </p:sp>
      <p:sp>
        <p:nvSpPr>
          <p:cNvPr id="28" name="Text 21"/>
          <p:cNvSpPr/>
          <p:nvPr/>
        </p:nvSpPr>
        <p:spPr>
          <a:xfrm>
            <a:off x="502920" y="4828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KazBioFert</a:t>
            </a:r>
            <a:r>
              <a:rPr lang="en-US" sz="8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BBFF  ·  Совет директоров</a:t>
            </a:r>
            <a:endParaRPr lang="en-US" sz="850" dirty="0"/>
          </a:p>
        </p:txBody>
      </p:sp>
      <p:sp>
        <p:nvSpPr>
          <p:cNvPr id="29" name="Text 22"/>
          <p:cNvSpPr/>
          <p:nvPr/>
        </p:nvSpPr>
        <p:spPr>
          <a:xfrm>
            <a:off x="4572000" y="48280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ГРАФИК ПСД</a:t>
            </a:r>
            <a:endParaRPr lang="en-US" sz="800" dirty="0"/>
          </a:p>
        </p:txBody>
      </p:sp>
      <p:sp>
        <p:nvSpPr>
          <p:cNvPr id="30" name="Text 23"/>
          <p:cNvSpPr/>
          <p:nvPr/>
        </p:nvSpPr>
        <p:spPr>
          <a:xfrm>
            <a:off x="827532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32" name="Shape 3">
            <a:extLst>
              <a:ext uri="{FF2B5EF4-FFF2-40B4-BE49-F238E27FC236}">
                <a16:creationId xmlns:a16="http://schemas.microsoft.com/office/drawing/2014/main" id="{401820D7-19C2-5B39-C309-17524D40CEB1}"/>
              </a:ext>
            </a:extLst>
          </p:cNvPr>
          <p:cNvSpPr/>
          <p:nvPr/>
        </p:nvSpPr>
        <p:spPr>
          <a:xfrm>
            <a:off x="247368" y="1609344"/>
            <a:ext cx="457200" cy="45720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34" name="Text 4">
            <a:extLst>
              <a:ext uri="{FF2B5EF4-FFF2-40B4-BE49-F238E27FC236}">
                <a16:creationId xmlns:a16="http://schemas.microsoft.com/office/drawing/2014/main" id="{09D9FA05-47D3-50A4-A791-6362F4C22DC4}"/>
              </a:ext>
            </a:extLst>
          </p:cNvPr>
          <p:cNvSpPr/>
          <p:nvPr/>
        </p:nvSpPr>
        <p:spPr>
          <a:xfrm>
            <a:off x="162953" y="218283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10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Июль-Август 2025</a:t>
            </a:r>
            <a:endParaRPr lang="en-US" sz="1050" dirty="0"/>
          </a:p>
        </p:txBody>
      </p:sp>
      <p:sp>
        <p:nvSpPr>
          <p:cNvPr id="36" name="Text 5">
            <a:extLst>
              <a:ext uri="{FF2B5EF4-FFF2-40B4-BE49-F238E27FC236}">
                <a16:creationId xmlns:a16="http://schemas.microsoft.com/office/drawing/2014/main" id="{145807CF-DC76-8983-2B35-EBE40351CFA9}"/>
              </a:ext>
            </a:extLst>
          </p:cNvPr>
          <p:cNvSpPr/>
          <p:nvPr/>
        </p:nvSpPr>
        <p:spPr>
          <a:xfrm>
            <a:off x="162953" y="243886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250" b="1" dirty="0" err="1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Адапта</a:t>
            </a:r>
            <a:r>
              <a:rPr lang="ru-RU" sz="1250" b="1" dirty="0" err="1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ционные</a:t>
            </a:r>
            <a:r>
              <a:rPr lang="ru-RU" sz="12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работы</a:t>
            </a:r>
            <a:r>
              <a:rPr lang="en-US" sz="12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ПСД</a:t>
            </a:r>
            <a:endParaRPr lang="en-US" sz="1250" dirty="0"/>
          </a:p>
        </p:txBody>
      </p:sp>
      <p:sp>
        <p:nvSpPr>
          <p:cNvPr id="38" name="Text 6">
            <a:extLst>
              <a:ext uri="{FF2B5EF4-FFF2-40B4-BE49-F238E27FC236}">
                <a16:creationId xmlns:a16="http://schemas.microsoft.com/office/drawing/2014/main" id="{7338EACF-C322-540D-F9D3-EF25E9BC6ED4}"/>
              </a:ext>
            </a:extLst>
          </p:cNvPr>
          <p:cNvSpPr/>
          <p:nvPr/>
        </p:nvSpPr>
        <p:spPr>
          <a:xfrm>
            <a:off x="162953" y="2987508"/>
            <a:ext cx="15685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ru-RU" sz="9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Работы по адаптации и приведению ПСД к СНИПам и ГОСТам к РК</a:t>
            </a:r>
            <a:endParaRPr lang="en-US" sz="930" dirty="0"/>
          </a:p>
        </p:txBody>
      </p:sp>
      <p:pic>
        <p:nvPicPr>
          <p:cNvPr id="40" name="Image 0" descr="assets/icons/compass_white.png">
            <a:extLst>
              <a:ext uri="{FF2B5EF4-FFF2-40B4-BE49-F238E27FC236}">
                <a16:creationId xmlns:a16="http://schemas.microsoft.com/office/drawing/2014/main" id="{8CDECF00-CDEA-17D5-1A46-085D0CAFFE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5" y="1707699"/>
            <a:ext cx="228600" cy="228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ГРАФИК ФИНАНСИРОВАНИЯ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Открытие финансирования сдвигается с августа–сентября на декабрь 2026 из-за адаптационных работ ПСД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02920" y="1993392"/>
            <a:ext cx="2011680" cy="310896"/>
          </a:xfrm>
          <a:prstGeom prst="roundRect">
            <a:avLst>
              <a:gd name="adj" fmla="val 23529"/>
            </a:avLst>
          </a:prstGeom>
          <a:solidFill>
            <a:srgbClr val="2F6690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02920" y="1993392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БАЗОВЫЙ ПЛАН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2697480" y="2148840"/>
            <a:ext cx="5212080" cy="0"/>
          </a:xfrm>
          <a:prstGeom prst="line">
            <a:avLst/>
          </a:prstGeom>
          <a:noFill/>
          <a:ln w="190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2898648" y="2029968"/>
            <a:ext cx="237744" cy="237744"/>
          </a:xfrm>
          <a:prstGeom prst="ellipse">
            <a:avLst/>
          </a:prstGeom>
          <a:solidFill>
            <a:srgbClr val="2F6690"/>
          </a:solidFill>
          <a:ln w="25400">
            <a:solidFill>
              <a:srgbClr val="FFFFFF"/>
            </a:solidFill>
            <a:prstDash val="solid"/>
          </a:ln>
          <a:effectLst>
            <a:outerShdw blurRad="63500" dist="25400" dir="5400000" algn="bl" rotWithShape="0">
              <a:srgbClr val="000000">
                <a:alpha val="14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2194560" y="1581912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8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ПСД → госэкспертиза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2194560" y="229514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Июнь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321808" y="2029968"/>
            <a:ext cx="237744" cy="237744"/>
          </a:xfrm>
          <a:prstGeom prst="ellipse">
            <a:avLst/>
          </a:prstGeom>
          <a:solidFill>
            <a:srgbClr val="2F6690"/>
          </a:solidFill>
          <a:ln w="25400">
            <a:solidFill>
              <a:srgbClr val="FFFFFF"/>
            </a:solidFill>
            <a:prstDash val="solid"/>
          </a:ln>
          <a:effectLst>
            <a:outerShdw blurRad="63500" dist="25400" dir="5400000" algn="bl" rotWithShape="0">
              <a:srgbClr val="000000">
                <a:alpha val="14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617720" y="1581912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8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Госэкспертиза + ОВОС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4617720" y="229514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Июль–август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7744968" y="2029968"/>
            <a:ext cx="237744" cy="237744"/>
          </a:xfrm>
          <a:prstGeom prst="ellipse">
            <a:avLst/>
          </a:prstGeom>
          <a:solidFill>
            <a:srgbClr val="C4772F"/>
          </a:solidFill>
          <a:ln w="25400">
            <a:solidFill>
              <a:srgbClr val="FFFFFF"/>
            </a:solidFill>
            <a:prstDash val="solid"/>
          </a:ln>
          <a:effectLst>
            <a:outerShdw blurRad="63500" dist="25400" dir="5400000" algn="bl" rotWithShape="0">
              <a:srgbClr val="000000">
                <a:alpha val="14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040880" y="1581912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8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Финансирование + СМР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7040880" y="229514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Август–сентябрь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3017520" y="2724912"/>
            <a:ext cx="4846320" cy="310896"/>
          </a:xfrm>
          <a:prstGeom prst="roundRect">
            <a:avLst>
              <a:gd name="adj" fmla="val 50000"/>
            </a:avLst>
          </a:prstGeom>
          <a:solidFill>
            <a:srgbClr val="F7ECE0"/>
          </a:solidFill>
          <a:ln w="12700">
            <a:solidFill>
              <a:srgbClr val="E0A46A"/>
            </a:solidFill>
            <a:prstDash val="solid"/>
          </a:ln>
        </p:spPr>
        <p:txBody>
          <a:bodyPr/>
          <a:p/>
        </p:txBody>
      </p:sp>
      <p:pic>
        <p:nvPicPr>
          <p:cNvPr id="17" name="Image 0" descr="assets/icons/arrowright_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0" y="2798064"/>
            <a:ext cx="182880" cy="18288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3456432" y="2724912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Сдвиг открытия финансирования ≈ </a:t>
            </a:r>
            <a:r>
              <a:rPr lang="ru-RU" sz="950" b="1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r>
              <a:rPr lang="en-US" sz="950" b="1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50" b="1" dirty="0" err="1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месяц</a:t>
            </a:r>
            <a:r>
              <a:rPr lang="ru-RU" sz="950" b="1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ев</a:t>
            </a:r>
            <a:r>
              <a:rPr lang="en-US" sz="950" b="1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 </a:t>
            </a:r>
            <a:r>
              <a:rPr lang="en-US" sz="9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авг–сен → I </a:t>
            </a:r>
            <a:r>
              <a:rPr lang="ru-RU" sz="9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квартал 2027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02920" y="3456432"/>
            <a:ext cx="2011680" cy="310896"/>
          </a:xfrm>
          <a:prstGeom prst="roundRect">
            <a:avLst>
              <a:gd name="adj" fmla="val 23529"/>
            </a:avLst>
          </a:prstGeom>
          <a:solidFill>
            <a:srgbClr val="13294B"/>
          </a:solidFill>
          <a:ln/>
        </p:spPr>
        <p:txBody>
          <a:bodyPr/>
          <a:p/>
        </p:txBody>
      </p:sp>
      <p:sp>
        <p:nvSpPr>
          <p:cNvPr id="20" name="Text 17"/>
          <p:cNvSpPr/>
          <p:nvPr/>
        </p:nvSpPr>
        <p:spPr>
          <a:xfrm>
            <a:off x="502920" y="3456432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ПЕРЕСМОТРЕННЫЙ ПЛАН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2697480" y="3611880"/>
            <a:ext cx="5212080" cy="0"/>
          </a:xfrm>
          <a:prstGeom prst="line">
            <a:avLst/>
          </a:prstGeom>
          <a:noFill/>
          <a:ln w="190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22" name="Shape 19"/>
          <p:cNvSpPr/>
          <p:nvPr/>
        </p:nvSpPr>
        <p:spPr>
          <a:xfrm>
            <a:off x="2898648" y="3493008"/>
            <a:ext cx="237744" cy="237744"/>
          </a:xfrm>
          <a:prstGeom prst="ellipse">
            <a:avLst/>
          </a:prstGeom>
          <a:solidFill>
            <a:srgbClr val="2F6690"/>
          </a:solidFill>
          <a:ln w="25400">
            <a:solidFill>
              <a:srgbClr val="FFFFFF"/>
            </a:solidFill>
            <a:prstDash val="solid"/>
          </a:ln>
          <a:effectLst>
            <a:outerShdw blurRad="63500" dist="25400" dir="5400000" algn="bl" rotWithShape="0">
              <a:srgbClr val="000000">
                <a:alpha val="14000"/>
              </a:srgbClr>
            </a:outerShdw>
          </a:effectLst>
        </p:spPr>
        <p:txBody>
          <a:bodyPr/>
          <a:p/>
        </p:txBody>
      </p:sp>
      <p:sp>
        <p:nvSpPr>
          <p:cNvPr id="23" name="Text 20"/>
          <p:cNvSpPr/>
          <p:nvPr/>
        </p:nvSpPr>
        <p:spPr>
          <a:xfrm>
            <a:off x="2194560" y="3758184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8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Адаптация ПСД (расшир.)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2194560" y="331927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II–III кв.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4514088" y="3493008"/>
            <a:ext cx="237744" cy="237744"/>
          </a:xfrm>
          <a:prstGeom prst="ellipse">
            <a:avLst/>
          </a:prstGeom>
          <a:solidFill>
            <a:srgbClr val="2F6690"/>
          </a:solidFill>
          <a:ln w="25400">
            <a:solidFill>
              <a:srgbClr val="FFFFFF"/>
            </a:solidFill>
            <a:prstDash val="solid"/>
          </a:ln>
          <a:effectLst>
            <a:outerShdw blurRad="63500" dist="25400" dir="5400000" algn="bl" rotWithShape="0">
              <a:srgbClr val="000000">
                <a:alpha val="14000"/>
              </a:srgbClr>
            </a:outerShdw>
          </a:effectLst>
        </p:spPr>
        <p:txBody>
          <a:bodyPr/>
          <a:p/>
        </p:txBody>
      </p:sp>
      <p:sp>
        <p:nvSpPr>
          <p:cNvPr id="26" name="Text 23"/>
          <p:cNvSpPr/>
          <p:nvPr/>
        </p:nvSpPr>
        <p:spPr>
          <a:xfrm>
            <a:off x="3810000" y="3758184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8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ПСД → госэкспертиза</a:t>
            </a:r>
            <a:endParaRPr lang="en-US" sz="850" dirty="0"/>
          </a:p>
        </p:txBody>
      </p:sp>
      <p:sp>
        <p:nvSpPr>
          <p:cNvPr id="27" name="Text 24"/>
          <p:cNvSpPr/>
          <p:nvPr/>
        </p:nvSpPr>
        <p:spPr>
          <a:xfrm>
            <a:off x="3810000" y="331927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Сентябрь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6129528" y="3493008"/>
            <a:ext cx="237744" cy="237744"/>
          </a:xfrm>
          <a:prstGeom prst="ellipse">
            <a:avLst/>
          </a:prstGeom>
          <a:solidFill>
            <a:srgbClr val="2F6690"/>
          </a:solidFill>
          <a:ln w="25400">
            <a:solidFill>
              <a:srgbClr val="FFFFFF"/>
            </a:solidFill>
            <a:prstDash val="solid"/>
          </a:ln>
          <a:effectLst>
            <a:outerShdw blurRad="63500" dist="25400" dir="5400000" algn="bl" rotWithShape="0">
              <a:srgbClr val="000000">
                <a:alpha val="14000"/>
              </a:srgbClr>
            </a:outerShdw>
          </a:effectLst>
        </p:spPr>
        <p:txBody>
          <a:bodyPr/>
          <a:p/>
        </p:txBody>
      </p:sp>
      <p:sp>
        <p:nvSpPr>
          <p:cNvPr id="29" name="Text 26"/>
          <p:cNvSpPr/>
          <p:nvPr/>
        </p:nvSpPr>
        <p:spPr>
          <a:xfrm>
            <a:off x="5425440" y="3758184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8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Госэкспертиза + ОВОС</a:t>
            </a:r>
            <a:endParaRPr lang="en-US" sz="850" dirty="0"/>
          </a:p>
        </p:txBody>
      </p:sp>
      <p:sp>
        <p:nvSpPr>
          <p:cNvPr id="30" name="Text 27"/>
          <p:cNvSpPr/>
          <p:nvPr/>
        </p:nvSpPr>
        <p:spPr>
          <a:xfrm>
            <a:off x="5425440" y="331927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Сен.–нояб.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7744968" y="3493008"/>
            <a:ext cx="237744" cy="237744"/>
          </a:xfrm>
          <a:prstGeom prst="ellipse">
            <a:avLst/>
          </a:prstGeom>
          <a:solidFill>
            <a:srgbClr val="C4772F"/>
          </a:solidFill>
          <a:ln w="25400">
            <a:solidFill>
              <a:srgbClr val="FFFFFF"/>
            </a:solidFill>
            <a:prstDash val="solid"/>
          </a:ln>
          <a:effectLst>
            <a:outerShdw blurRad="63500" dist="25400" dir="5400000" algn="bl" rotWithShape="0">
              <a:srgbClr val="000000">
                <a:alpha val="14000"/>
              </a:srgbClr>
            </a:outerShdw>
          </a:effectLst>
        </p:spPr>
        <p:txBody>
          <a:bodyPr/>
          <a:p/>
        </p:txBody>
      </p:sp>
      <p:sp>
        <p:nvSpPr>
          <p:cNvPr id="32" name="Text 29"/>
          <p:cNvSpPr/>
          <p:nvPr/>
        </p:nvSpPr>
        <p:spPr>
          <a:xfrm>
            <a:off x="7040880" y="3758184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8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Финансирование + СМР</a:t>
            </a:r>
            <a:endParaRPr lang="en-US" sz="850" dirty="0"/>
          </a:p>
        </p:txBody>
      </p:sp>
      <p:sp>
        <p:nvSpPr>
          <p:cNvPr id="33" name="Text 30"/>
          <p:cNvSpPr/>
          <p:nvPr/>
        </p:nvSpPr>
        <p:spPr>
          <a:xfrm>
            <a:off x="7040880" y="331927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</a:t>
            </a:r>
            <a:r>
              <a:rPr lang="ru-RU" sz="850" b="1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квартал 2027 г.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>
            <a:off x="502920" y="4315968"/>
            <a:ext cx="8138160" cy="457200"/>
          </a:xfrm>
          <a:prstGeom prst="roundRect">
            <a:avLst>
              <a:gd name="adj" fmla="val 16000"/>
            </a:avLst>
          </a:prstGeom>
          <a:solidFill>
            <a:srgbClr val="EAF1F7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35" name="Image 1" descr="assets/icons/sync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4416552"/>
            <a:ext cx="237744" cy="237744"/>
          </a:xfrm>
          <a:prstGeom prst="rect">
            <a:avLst/>
          </a:prstGeom>
        </p:spPr>
      </p:pic>
      <p:sp>
        <p:nvSpPr>
          <p:cNvPr id="36" name="Text 32"/>
          <p:cNvSpPr/>
          <p:nvPr/>
        </p:nvSpPr>
        <p:spPr>
          <a:xfrm>
            <a:off x="1060704" y="4315968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930" b="1" dirty="0">
                <a:solidFill>
                  <a:srgbClr val="244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Причина сдвига:  </a:t>
            </a:r>
            <a:r>
              <a:rPr lang="ru-RU" sz="930" dirty="0">
                <a:solidFill>
                  <a:srgbClr val="244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Задержка ПСД от </a:t>
            </a:r>
            <a:r>
              <a:rPr lang="en-US" sz="930" dirty="0">
                <a:solidFill>
                  <a:srgbClr val="244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ALTACA </a:t>
            </a:r>
            <a:r>
              <a:rPr lang="ru-RU" sz="930" dirty="0">
                <a:solidFill>
                  <a:srgbClr val="244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3 мес.; </a:t>
            </a:r>
            <a:r>
              <a:rPr lang="ru-RU" sz="9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расширение</a:t>
            </a:r>
            <a:r>
              <a:rPr lang="en-US" sz="9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30" dirty="0" err="1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адаптационн</a:t>
            </a:r>
            <a:r>
              <a:rPr lang="ru-RU" sz="930" dirty="0" err="1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ых</a:t>
            </a:r>
            <a:r>
              <a:rPr lang="en-US" sz="9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30" dirty="0" err="1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работ</a:t>
            </a:r>
            <a:r>
              <a:rPr lang="en-US" sz="9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ПСД под </a:t>
            </a:r>
            <a:r>
              <a:rPr lang="en-US" sz="930" dirty="0" err="1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требования</a:t>
            </a:r>
            <a:r>
              <a:rPr lang="en-US" sz="9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РК</a:t>
            </a:r>
            <a:endParaRPr lang="en-US" sz="930" dirty="0"/>
          </a:p>
        </p:txBody>
      </p:sp>
      <p:sp>
        <p:nvSpPr>
          <p:cNvPr id="37" name="Text 33"/>
          <p:cNvSpPr/>
          <p:nvPr/>
        </p:nvSpPr>
        <p:spPr>
          <a:xfrm>
            <a:off x="502920" y="4828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KazBioFert</a:t>
            </a:r>
            <a:r>
              <a:rPr lang="en-US" sz="8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BBFF  ·  Совет директоров</a:t>
            </a:r>
            <a:endParaRPr lang="en-US" sz="850" dirty="0"/>
          </a:p>
        </p:txBody>
      </p:sp>
      <p:sp>
        <p:nvSpPr>
          <p:cNvPr id="38" name="Text 34"/>
          <p:cNvSpPr/>
          <p:nvPr/>
        </p:nvSpPr>
        <p:spPr>
          <a:xfrm>
            <a:off x="4572000" y="48280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ГРАФИК</a:t>
            </a:r>
            <a:endParaRPr lang="en-US" sz="800" dirty="0"/>
          </a:p>
        </p:txBody>
      </p:sp>
      <p:sp>
        <p:nvSpPr>
          <p:cNvPr id="39" name="Text 35"/>
          <p:cNvSpPr/>
          <p:nvPr/>
        </p:nvSpPr>
        <p:spPr>
          <a:xfrm>
            <a:off x="827532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ОБЪЕКТЫ И ПЛОЩАДКА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Комплекс из 31 здания и сооружения на 69 557 м² — полный производственный цикл на одной площадке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21208" y="1362456"/>
            <a:ext cx="4032504" cy="2292286"/>
          </a:xfrm>
          <a:prstGeom prst="roundRect">
            <a:avLst>
              <a:gd name="adj" fmla="val 2393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14300" dist="38100" dir="5400000" algn="bl" rotWithShape="0">
              <a:srgbClr val="000000">
                <a:alpha val="14000"/>
              </a:srgbClr>
            </a:outerShdw>
          </a:effectLst>
        </p:spPr>
        <p:txBody>
          <a:bodyPr/>
          <a:p/>
        </p:txBody>
      </p:sp>
      <p:pic>
        <p:nvPicPr>
          <p:cNvPr id="5" name="Image 0" descr="assets/iso_complex_fla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89888"/>
            <a:ext cx="3977640" cy="223742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3673031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7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Визуализация комплекса — реакторы, цеха, склады, лагуны</a:t>
            </a:r>
            <a:endParaRPr lang="en-US" sz="870" dirty="0"/>
          </a:p>
        </p:txBody>
      </p:sp>
      <p:sp>
        <p:nvSpPr>
          <p:cNvPr id="7" name="Shape 4"/>
          <p:cNvSpPr/>
          <p:nvPr/>
        </p:nvSpPr>
        <p:spPr>
          <a:xfrm>
            <a:off x="4590288" y="1362456"/>
            <a:ext cx="4032504" cy="2292286"/>
          </a:xfrm>
          <a:prstGeom prst="roundRect">
            <a:avLst>
              <a:gd name="adj" fmla="val 2393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14300" dist="38100" dir="5400000" algn="bl" rotWithShape="0">
              <a:srgbClr val="000000">
                <a:alpha val="14000"/>
              </a:srgbClr>
            </a:outerShdw>
          </a:effectLst>
        </p:spPr>
        <p:txBody>
          <a:bodyPr/>
          <a:p/>
        </p:txBody>
      </p:sp>
      <p:pic>
        <p:nvPicPr>
          <p:cNvPr id="8" name="Image 1" descr="assets/aerial_close_fla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7720" y="1389888"/>
            <a:ext cx="3977640" cy="223742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617720" y="3673031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7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Аэроснимок площадки в границах участка 17,29 га</a:t>
            </a:r>
            <a:endParaRPr lang="en-US" sz="870" dirty="0"/>
          </a:p>
        </p:txBody>
      </p:sp>
      <p:sp>
        <p:nvSpPr>
          <p:cNvPr id="10" name="Shape 6"/>
          <p:cNvSpPr/>
          <p:nvPr/>
        </p:nvSpPr>
        <p:spPr>
          <a:xfrm>
            <a:off x="502920" y="3931920"/>
            <a:ext cx="1554480" cy="786384"/>
          </a:xfrm>
          <a:prstGeom prst="roundRect">
            <a:avLst>
              <a:gd name="adj" fmla="val 9302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1" name="Shape 7"/>
          <p:cNvSpPr/>
          <p:nvPr/>
        </p:nvSpPr>
        <p:spPr>
          <a:xfrm>
            <a:off x="1097280" y="4005072"/>
            <a:ext cx="365760" cy="36576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12" name="Image 2" descr="assets/icons/recycle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88720" y="4096512"/>
            <a:ext cx="182880" cy="18288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539496" y="4370832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8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Приём сырья</a:t>
            </a:r>
            <a:endParaRPr lang="en-US" sz="980" dirty="0"/>
          </a:p>
        </p:txBody>
      </p:sp>
      <p:sp>
        <p:nvSpPr>
          <p:cNvPr id="14" name="Text 9"/>
          <p:cNvSpPr/>
          <p:nvPr/>
        </p:nvSpPr>
        <p:spPr>
          <a:xfrm>
            <a:off x="539496" y="4544568"/>
            <a:ext cx="14813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подготовка соломы</a:t>
            </a:r>
            <a:endParaRPr lang="en-US" sz="700" dirty="0"/>
          </a:p>
        </p:txBody>
      </p:sp>
      <p:sp>
        <p:nvSpPr>
          <p:cNvPr id="15" name="Shape 10"/>
          <p:cNvSpPr/>
          <p:nvPr/>
        </p:nvSpPr>
        <p:spPr>
          <a:xfrm>
            <a:off x="2148840" y="3931920"/>
            <a:ext cx="1554480" cy="786384"/>
          </a:xfrm>
          <a:prstGeom prst="roundRect">
            <a:avLst>
              <a:gd name="adj" fmla="val 9302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2743200" y="4005072"/>
            <a:ext cx="365760" cy="36576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17" name="Image 3" descr="assets/icons/gas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34640" y="4096512"/>
            <a:ext cx="182880" cy="18288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2185416" y="4370832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8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Биогаз</a:t>
            </a:r>
            <a:endParaRPr lang="en-US" sz="980" dirty="0"/>
          </a:p>
        </p:txBody>
      </p:sp>
      <p:sp>
        <p:nvSpPr>
          <p:cNvPr id="19" name="Text 13"/>
          <p:cNvSpPr/>
          <p:nvPr/>
        </p:nvSpPr>
        <p:spPr>
          <a:xfrm>
            <a:off x="2185416" y="4544568"/>
            <a:ext cx="14813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реактора · 8 лагун</a:t>
            </a:r>
            <a:endParaRPr lang="en-US" sz="700" dirty="0"/>
          </a:p>
        </p:txBody>
      </p:sp>
      <p:sp>
        <p:nvSpPr>
          <p:cNvPr id="20" name="Shape 14"/>
          <p:cNvSpPr/>
          <p:nvPr/>
        </p:nvSpPr>
        <p:spPr>
          <a:xfrm>
            <a:off x="3794760" y="3931920"/>
            <a:ext cx="1554480" cy="786384"/>
          </a:xfrm>
          <a:prstGeom prst="roundRect">
            <a:avLst>
              <a:gd name="adj" fmla="val 9302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1" name="Shape 15"/>
          <p:cNvSpPr/>
          <p:nvPr/>
        </p:nvSpPr>
        <p:spPr>
          <a:xfrm>
            <a:off x="4389120" y="4005072"/>
            <a:ext cx="365760" cy="36576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22" name="Image 4" descr="assets/icons/bolt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80560" y="4096512"/>
            <a:ext cx="182880" cy="18288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3831336" y="4370832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8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Энергия и тепло</a:t>
            </a:r>
            <a:endParaRPr lang="en-US" sz="980" dirty="0"/>
          </a:p>
        </p:txBody>
      </p:sp>
      <p:sp>
        <p:nvSpPr>
          <p:cNvPr id="24" name="Text 17"/>
          <p:cNvSpPr/>
          <p:nvPr/>
        </p:nvSpPr>
        <p:spPr>
          <a:xfrm>
            <a:off x="3831336" y="4544568"/>
            <a:ext cx="14813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генерация · декантер</a:t>
            </a:r>
            <a:endParaRPr lang="en-US" sz="700" dirty="0"/>
          </a:p>
        </p:txBody>
      </p:sp>
      <p:sp>
        <p:nvSpPr>
          <p:cNvPr id="25" name="Shape 18"/>
          <p:cNvSpPr/>
          <p:nvPr/>
        </p:nvSpPr>
        <p:spPr>
          <a:xfrm>
            <a:off x="5440680" y="3931920"/>
            <a:ext cx="1554480" cy="786384"/>
          </a:xfrm>
          <a:prstGeom prst="roundRect">
            <a:avLst>
              <a:gd name="adj" fmla="val 9302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6" name="Shape 19"/>
          <p:cNvSpPr/>
          <p:nvPr/>
        </p:nvSpPr>
        <p:spPr>
          <a:xfrm>
            <a:off x="6035040" y="4005072"/>
            <a:ext cx="365760" cy="36576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27" name="Image 5" descr="assets/icons/seedling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26480" y="4096512"/>
            <a:ext cx="182880" cy="182880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5477256" y="4370832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8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Удобрения</a:t>
            </a:r>
            <a:endParaRPr lang="en-US" sz="980" dirty="0"/>
          </a:p>
        </p:txBody>
      </p:sp>
      <p:sp>
        <p:nvSpPr>
          <p:cNvPr id="29" name="Text 21"/>
          <p:cNvSpPr/>
          <p:nvPr/>
        </p:nvSpPr>
        <p:spPr>
          <a:xfrm>
            <a:off x="5477256" y="4544568"/>
            <a:ext cx="14813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компост · ОМУ · склады</a:t>
            </a:r>
            <a:endParaRPr lang="en-US" sz="700" dirty="0"/>
          </a:p>
        </p:txBody>
      </p:sp>
      <p:sp>
        <p:nvSpPr>
          <p:cNvPr id="30" name="Shape 22"/>
          <p:cNvSpPr/>
          <p:nvPr/>
        </p:nvSpPr>
        <p:spPr>
          <a:xfrm>
            <a:off x="7086600" y="3931920"/>
            <a:ext cx="1554480" cy="786384"/>
          </a:xfrm>
          <a:prstGeom prst="roundRect">
            <a:avLst>
              <a:gd name="adj" fmla="val 9302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31" name="Shape 23"/>
          <p:cNvSpPr/>
          <p:nvPr/>
        </p:nvSpPr>
        <p:spPr>
          <a:xfrm>
            <a:off x="7680960" y="4005072"/>
            <a:ext cx="365760" cy="365760"/>
          </a:xfrm>
          <a:prstGeom prst="ellipse">
            <a:avLst/>
          </a:prstGeom>
          <a:solidFill>
            <a:srgbClr val="C4772F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32" name="Image 6" descr="assets/icons/building_whit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72400" y="4096512"/>
            <a:ext cx="182880" cy="182880"/>
          </a:xfrm>
          <a:prstGeom prst="rect">
            <a:avLst/>
          </a:prstGeom>
        </p:spPr>
      </p:pic>
      <p:sp>
        <p:nvSpPr>
          <p:cNvPr id="33" name="Text 24"/>
          <p:cNvSpPr/>
          <p:nvPr/>
        </p:nvSpPr>
        <p:spPr>
          <a:xfrm>
            <a:off x="7123176" y="4370832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8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Инфраструктура</a:t>
            </a:r>
            <a:endParaRPr lang="en-US" sz="980" dirty="0"/>
          </a:p>
        </p:txBody>
      </p:sp>
      <p:sp>
        <p:nvSpPr>
          <p:cNvPr id="34" name="Text 25"/>
          <p:cNvSpPr/>
          <p:nvPr/>
        </p:nvSpPr>
        <p:spPr>
          <a:xfrm>
            <a:off x="7123176" y="4544568"/>
            <a:ext cx="14813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админ · КПП · сети</a:t>
            </a:r>
            <a:endParaRPr lang="en-US" sz="700" dirty="0"/>
          </a:p>
        </p:txBody>
      </p:sp>
      <p:sp>
        <p:nvSpPr>
          <p:cNvPr id="35" name="Text 26"/>
          <p:cNvSpPr/>
          <p:nvPr/>
        </p:nvSpPr>
        <p:spPr>
          <a:xfrm>
            <a:off x="502920" y="4828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KazBioFert</a:t>
            </a:r>
            <a:r>
              <a:rPr lang="en-US" sz="8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BBFF  ·  Совет директоров</a:t>
            </a:r>
            <a:endParaRPr lang="en-US" sz="850" dirty="0"/>
          </a:p>
        </p:txBody>
      </p:sp>
      <p:sp>
        <p:nvSpPr>
          <p:cNvPr id="36" name="Text 27"/>
          <p:cNvSpPr/>
          <p:nvPr/>
        </p:nvSpPr>
        <p:spPr>
          <a:xfrm>
            <a:off x="4572000" y="48280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ОБЪЕКТЫ</a:t>
            </a:r>
            <a:endParaRPr lang="en-US" sz="800" dirty="0"/>
          </a:p>
        </p:txBody>
      </p:sp>
      <p:sp>
        <p:nvSpPr>
          <p:cNvPr id="37" name="Text 28"/>
          <p:cNvSpPr/>
          <p:nvPr/>
        </p:nvSpPr>
        <p:spPr>
          <a:xfrm>
            <a:off x="827532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ТЕКУЩАЯ СТРУКТУРА ФИНАНСИРОВАНИЯ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Действующая схема: лизинг ФРП и гарантия БРК; собственное участие ~4,8 млрд ₸ (≈20% проекта)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02920" y="1508760"/>
            <a:ext cx="3913632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727448" y="1508760"/>
            <a:ext cx="3913632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722376" y="1728216"/>
            <a:ext cx="548640" cy="54864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7" name="Image 0" descr="assets/icons/university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1865376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35608" y="1728216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ФРП — оборудование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740664" y="2423160"/>
            <a:ext cx="3456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F6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15,0 </a:t>
            </a:r>
            <a:r>
              <a:rPr lang="en-US" sz="1200" dirty="0">
                <a:solidFill>
                  <a:srgbClr val="6B7A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млрд ₸</a:t>
            </a:r>
            <a:endParaRPr lang="en-US" sz="3000" dirty="0"/>
          </a:p>
        </p:txBody>
      </p:sp>
      <p:sp>
        <p:nvSpPr>
          <p:cNvPr id="10" name="Shape 7"/>
          <p:cNvSpPr/>
          <p:nvPr/>
        </p:nvSpPr>
        <p:spPr>
          <a:xfrm>
            <a:off x="740664" y="2990088"/>
            <a:ext cx="3438144" cy="0"/>
          </a:xfrm>
          <a:prstGeom prst="line">
            <a:avLst/>
          </a:prstGeom>
          <a:noFill/>
          <a:ln w="1270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740664" y="3026664"/>
            <a:ext cx="3456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Ставка / гарантия:  </a:t>
            </a:r>
            <a:r>
              <a:rPr lang="en-US" sz="10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12,56%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740664" y="3282696"/>
            <a:ext cx="3456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Лизинг; предмет залога — само оборудование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2999232" y="2331720"/>
            <a:ext cx="1188720" cy="292608"/>
          </a:xfrm>
          <a:prstGeom prst="roundRect">
            <a:avLst>
              <a:gd name="adj" fmla="val 18750"/>
            </a:avLst>
          </a:prstGeom>
          <a:solidFill>
            <a:srgbClr val="F7ECE0"/>
          </a:solidFill>
          <a:ln/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2999232" y="233172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Собств.: </a:t>
            </a:r>
            <a:r>
              <a:rPr lang="en-US" sz="850" b="1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3,0 млрд ₸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946904" y="1728216"/>
            <a:ext cx="548640" cy="54864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16" name="Image 1" descr="assets/icons/building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4064" y="1865376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5660136" y="1728216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Халык Банк — СМР и ПСД</a:t>
            </a:r>
            <a:endParaRPr lang="en-US" sz="1350" dirty="0"/>
          </a:p>
        </p:txBody>
      </p:sp>
      <p:sp>
        <p:nvSpPr>
          <p:cNvPr id="18" name="Text 14"/>
          <p:cNvSpPr/>
          <p:nvPr/>
        </p:nvSpPr>
        <p:spPr>
          <a:xfrm>
            <a:off x="4965192" y="2423160"/>
            <a:ext cx="3456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F6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6,5 </a:t>
            </a:r>
            <a:r>
              <a:rPr lang="en-US" sz="1200" dirty="0">
                <a:solidFill>
                  <a:srgbClr val="6B7A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млрд ₸</a:t>
            </a:r>
            <a:endParaRPr lang="en-US" sz="3000" dirty="0"/>
          </a:p>
        </p:txBody>
      </p:sp>
      <p:sp>
        <p:nvSpPr>
          <p:cNvPr id="19" name="Shape 15"/>
          <p:cNvSpPr/>
          <p:nvPr/>
        </p:nvSpPr>
        <p:spPr>
          <a:xfrm>
            <a:off x="4965192" y="2990088"/>
            <a:ext cx="3438144" cy="0"/>
          </a:xfrm>
          <a:prstGeom prst="line">
            <a:avLst/>
          </a:prstGeom>
          <a:noFill/>
          <a:ln w="1270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20" name="Text 16"/>
          <p:cNvSpPr/>
          <p:nvPr/>
        </p:nvSpPr>
        <p:spPr>
          <a:xfrm>
            <a:off x="4965192" y="3026664"/>
            <a:ext cx="3456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Ставка / гарантия:  </a:t>
            </a:r>
            <a:r>
              <a:rPr lang="en-US" sz="10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 90%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4965192" y="3282696"/>
            <a:ext cx="3456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Гарантия БРК до 90% (~4,7 млрд ₸ покрытия)</a:t>
            </a:r>
            <a:endParaRPr lang="en-US" sz="900" dirty="0"/>
          </a:p>
        </p:txBody>
      </p:sp>
      <p:sp>
        <p:nvSpPr>
          <p:cNvPr id="22" name="Shape 18"/>
          <p:cNvSpPr/>
          <p:nvPr/>
        </p:nvSpPr>
        <p:spPr>
          <a:xfrm>
            <a:off x="7223760" y="2331719"/>
            <a:ext cx="1188720" cy="475487"/>
          </a:xfrm>
          <a:prstGeom prst="roundRect">
            <a:avLst>
              <a:gd name="adj" fmla="val 18750"/>
            </a:avLst>
          </a:prstGeom>
          <a:solidFill>
            <a:srgbClr val="F7ECE0"/>
          </a:solidFill>
          <a:ln/>
        </p:spPr>
        <p:txBody>
          <a:bodyPr/>
          <a:p/>
        </p:txBody>
      </p:sp>
      <p:sp>
        <p:nvSpPr>
          <p:cNvPr id="23" name="Text 19"/>
          <p:cNvSpPr/>
          <p:nvPr/>
        </p:nvSpPr>
        <p:spPr>
          <a:xfrm>
            <a:off x="7223760" y="2331720"/>
            <a:ext cx="11978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Собств.: </a:t>
            </a:r>
            <a:r>
              <a:rPr lang="en-US" sz="850" b="1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1,2 </a:t>
            </a:r>
            <a:r>
              <a:rPr lang="en-US" sz="850" b="1" dirty="0" err="1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млрд</a:t>
            </a:r>
            <a:r>
              <a:rPr lang="en-US" sz="850" b="1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₸</a:t>
            </a:r>
            <a:br>
              <a:rPr lang="ru-RU" sz="850" b="1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ru-RU" sz="850" b="1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Расходы на </a:t>
            </a:r>
            <a:r>
              <a:rPr lang="ru-RU" sz="850" b="1" dirty="0" err="1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ПСД+адаптация</a:t>
            </a:r>
            <a:endParaRPr lang="en-US" sz="850" dirty="0"/>
          </a:p>
        </p:txBody>
      </p:sp>
      <p:sp>
        <p:nvSpPr>
          <p:cNvPr id="24" name="Shape 20"/>
          <p:cNvSpPr/>
          <p:nvPr/>
        </p:nvSpPr>
        <p:spPr>
          <a:xfrm>
            <a:off x="502920" y="3840480"/>
            <a:ext cx="8138160" cy="896112"/>
          </a:xfrm>
          <a:prstGeom prst="roundRect">
            <a:avLst>
              <a:gd name="adj" fmla="val 8163"/>
            </a:avLst>
          </a:prstGeom>
          <a:solidFill>
            <a:srgbClr val="13294B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5" name="Text 21"/>
          <p:cNvSpPr/>
          <p:nvPr/>
        </p:nvSpPr>
        <p:spPr>
          <a:xfrm>
            <a:off x="777240" y="3950208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</a:t>
            </a:r>
            <a:r>
              <a:rPr lang="ru-RU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3,1</a:t>
            </a: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млрд ₸</a:t>
            </a:r>
            <a:endParaRPr lang="en-US" sz="1900" dirty="0"/>
          </a:p>
        </p:txBody>
      </p:sp>
      <p:sp>
        <p:nvSpPr>
          <p:cNvPr id="26" name="Text 22"/>
          <p:cNvSpPr/>
          <p:nvPr/>
        </p:nvSpPr>
        <p:spPr>
          <a:xfrm>
            <a:off x="777240" y="4334256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900" dirty="0" err="1">
                <a:solidFill>
                  <a:srgbClr val="CF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собственное</a:t>
            </a:r>
            <a:r>
              <a:rPr lang="en-US" sz="900" dirty="0">
                <a:solidFill>
                  <a:srgbClr val="CF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dirty="0" err="1">
                <a:solidFill>
                  <a:srgbClr val="CF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участие</a:t>
            </a:r>
            <a:r>
              <a:rPr lang="ru-RU" sz="900" dirty="0">
                <a:solidFill>
                  <a:srgbClr val="CF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для покупки оборудования</a:t>
            </a:r>
            <a:endParaRPr lang="en-US" sz="900" dirty="0"/>
          </a:p>
        </p:txBody>
      </p:sp>
      <p:sp>
        <p:nvSpPr>
          <p:cNvPr id="27" name="Text 23"/>
          <p:cNvSpPr/>
          <p:nvPr/>
        </p:nvSpPr>
        <p:spPr>
          <a:xfrm>
            <a:off x="3108960" y="396849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5B8CB0"/>
                </a:solidFill>
              </a:rPr>
              <a:t>+</a:t>
            </a:r>
            <a:endParaRPr lang="en-US" sz="2000" dirty="0"/>
          </a:p>
        </p:txBody>
      </p:sp>
      <p:sp>
        <p:nvSpPr>
          <p:cNvPr id="28" name="Text 24"/>
          <p:cNvSpPr/>
          <p:nvPr/>
        </p:nvSpPr>
        <p:spPr>
          <a:xfrm>
            <a:off x="3474720" y="3950208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r>
              <a:rPr lang="ru-RU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млрд ₸</a:t>
            </a:r>
            <a:endParaRPr lang="en-US" sz="1900" dirty="0"/>
          </a:p>
        </p:txBody>
      </p:sp>
      <p:sp>
        <p:nvSpPr>
          <p:cNvPr id="29" name="Text 25"/>
          <p:cNvSpPr/>
          <p:nvPr/>
        </p:nvSpPr>
        <p:spPr>
          <a:xfrm>
            <a:off x="3474720" y="4334256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900" dirty="0">
                <a:solidFill>
                  <a:srgbClr val="CF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депозитный заклад </a:t>
            </a:r>
            <a:r>
              <a:rPr lang="en-US" sz="900" dirty="0" err="1">
                <a:solidFill>
                  <a:srgbClr val="CF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</a:t>
            </a:r>
            <a:r>
              <a:rPr lang="en-US" sz="900" dirty="0">
                <a:solidFill>
                  <a:srgbClr val="CF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ХБ</a:t>
            </a:r>
            <a:r>
              <a:rPr lang="ru-RU" sz="900" dirty="0">
                <a:solidFill>
                  <a:srgbClr val="CF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0,5 + 1,5 млрд ЧОК</a:t>
            </a:r>
            <a:endParaRPr lang="en-US" sz="900" dirty="0"/>
          </a:p>
        </p:txBody>
      </p:sp>
      <p:sp>
        <p:nvSpPr>
          <p:cNvPr id="30" name="Text 26"/>
          <p:cNvSpPr/>
          <p:nvPr/>
        </p:nvSpPr>
        <p:spPr>
          <a:xfrm>
            <a:off x="5806440" y="396849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5B8CB0"/>
                </a:solidFill>
              </a:rPr>
              <a:t>+</a:t>
            </a:r>
            <a:endParaRPr lang="en-US" sz="2000" dirty="0"/>
          </a:p>
        </p:txBody>
      </p:sp>
      <p:sp>
        <p:nvSpPr>
          <p:cNvPr id="31" name="Text 27"/>
          <p:cNvSpPr/>
          <p:nvPr/>
        </p:nvSpPr>
        <p:spPr>
          <a:xfrm>
            <a:off x="6172200" y="3950208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E0A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</a:t>
            </a:r>
            <a:r>
              <a:rPr lang="ru-RU" sz="1900" b="1" dirty="0">
                <a:solidFill>
                  <a:srgbClr val="E0A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5,1</a:t>
            </a:r>
            <a:r>
              <a:rPr lang="en-US" sz="1900" b="1" dirty="0">
                <a:solidFill>
                  <a:srgbClr val="E0A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млрд ₸</a:t>
            </a:r>
            <a:endParaRPr lang="en-US" sz="1900" dirty="0"/>
          </a:p>
        </p:txBody>
      </p:sp>
      <p:sp>
        <p:nvSpPr>
          <p:cNvPr id="32" name="Text 28"/>
          <p:cNvSpPr/>
          <p:nvPr/>
        </p:nvSpPr>
        <p:spPr>
          <a:xfrm>
            <a:off x="6301154" y="4323705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900" dirty="0" err="1">
                <a:solidFill>
                  <a:srgbClr val="CF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итоговая</a:t>
            </a:r>
            <a:r>
              <a:rPr lang="en-US" sz="900" dirty="0">
                <a:solidFill>
                  <a:srgbClr val="CF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dirty="0" err="1">
                <a:solidFill>
                  <a:srgbClr val="CF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потребность</a:t>
            </a:r>
            <a:endParaRPr lang="en-US" sz="900" dirty="0"/>
          </a:p>
        </p:txBody>
      </p:sp>
      <p:sp>
        <p:nvSpPr>
          <p:cNvPr id="33" name="Text 29"/>
          <p:cNvSpPr/>
          <p:nvPr/>
        </p:nvSpPr>
        <p:spPr>
          <a:xfrm>
            <a:off x="502920" y="4828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KazBioFert</a:t>
            </a:r>
            <a:r>
              <a:rPr lang="en-US" sz="8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BBFF  ·  Совет директоров</a:t>
            </a:r>
            <a:endParaRPr lang="en-US" sz="850" dirty="0"/>
          </a:p>
        </p:txBody>
      </p:sp>
      <p:sp>
        <p:nvSpPr>
          <p:cNvPr id="34" name="Text 30"/>
          <p:cNvSpPr/>
          <p:nvPr/>
        </p:nvSpPr>
        <p:spPr>
          <a:xfrm>
            <a:off x="4572000" y="48280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ФИНАНСИРОВАНИЕ</a:t>
            </a:r>
            <a:endParaRPr lang="en-US" sz="800" dirty="0"/>
          </a:p>
        </p:txBody>
      </p:sp>
      <p:sp>
        <p:nvSpPr>
          <p:cNvPr id="35" name="Text 31"/>
          <p:cNvSpPr/>
          <p:nvPr/>
        </p:nvSpPr>
        <p:spPr>
          <a:xfrm>
            <a:off x="827532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ИНВЕСТИЦИОННЫЕ ПОКАЗАТЕЛИ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Проект инвестиционно привлекателен: доходность 31%, окупаемость около 5 лет</a:t>
            </a:r>
            <a:endParaRPr lang="en-US" sz="21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483324"/>
              </p:ext>
            </p:extLst>
          </p:nvPr>
        </p:nvGraphicFramePr>
        <p:xfrm>
          <a:off x="502920" y="1572768"/>
          <a:ext cx="5440680" cy="2743200"/>
        </p:xfrm>
        <a:graphic>
          <a:graphicData uri="http://schemas.openxmlformats.org/drawingml/2006/table">
            <a:tbl>
              <a:tblPr/>
              <a:tblGrid>
                <a:gridCol w="2514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Показатель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Проект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Собств. капитал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13294B"/>
                          </a:solidFill>
                        </a:rPr>
                        <a:t>IRR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C4772F"/>
                          </a:solidFill>
                        </a:rPr>
                        <a:t>31%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C4772F"/>
                          </a:solidFill>
                        </a:rPr>
                        <a:t>30%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13294B"/>
                          </a:solidFill>
                        </a:rPr>
                        <a:t>NPV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C4772F"/>
                          </a:solidFill>
                        </a:rPr>
                        <a:t>≈ 30,8 млрд ₸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C4772F"/>
                          </a:solidFill>
                        </a:rPr>
                        <a:t>≈ 5,2 млрд ₸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13294B"/>
                          </a:solidFill>
                        </a:rPr>
                        <a:t>Ставка дисконтирования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A3746"/>
                          </a:solidFill>
                        </a:rPr>
                        <a:t>12,71%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A3746"/>
                          </a:solidFill>
                        </a:rPr>
                        <a:t>23,35%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13294B"/>
                          </a:solidFill>
                        </a:rPr>
                        <a:t>Срок окупаемости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A3746"/>
                          </a:solidFill>
                        </a:rPr>
                        <a:t>5,06 года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A3746"/>
                          </a:solidFill>
                        </a:rPr>
                        <a:t>3,54 года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13294B"/>
                          </a:solidFill>
                        </a:rPr>
                        <a:t>Диск. срок окупаемости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A3746"/>
                          </a:solidFill>
                        </a:rPr>
                        <a:t>—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A3746"/>
                          </a:solidFill>
                        </a:rPr>
                        <a:t>6,09 года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172200" y="1572768"/>
            <a:ext cx="2468880" cy="2788920"/>
          </a:xfrm>
          <a:prstGeom prst="roundRect">
            <a:avLst>
              <a:gd name="adj" fmla="val 3704"/>
            </a:avLst>
          </a:prstGeom>
          <a:solidFill>
            <a:srgbClr val="13294B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6355080" y="173736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E0A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СТРУКТУРА КАПИТАЛА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355080" y="199339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21,5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6355080" y="2505456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FD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млрд ₸ — инвестиции всего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6355080" y="2889504"/>
            <a:ext cx="1682496" cy="310896"/>
          </a:xfrm>
          <a:prstGeom prst="roundRect">
            <a:avLst>
              <a:gd name="adj" fmla="val 8824"/>
            </a:avLst>
          </a:prstGeom>
          <a:solidFill>
            <a:srgbClr val="5B8CB0"/>
          </a:solidFill>
          <a:ln/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8037576" y="2889504"/>
            <a:ext cx="420624" cy="310896"/>
          </a:xfrm>
          <a:prstGeom prst="roundRect">
            <a:avLst>
              <a:gd name="adj" fmla="val 8824"/>
            </a:avLst>
          </a:prstGeom>
          <a:solidFill>
            <a:srgbClr val="C4772F"/>
          </a:solidFill>
          <a:ln/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6355080" y="2889504"/>
            <a:ext cx="1682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1000" dirty="0"/>
          </a:p>
        </p:txBody>
      </p:sp>
      <p:sp>
        <p:nvSpPr>
          <p:cNvPr id="4" name="Text 9"/>
          <p:cNvSpPr/>
          <p:nvPr/>
        </p:nvSpPr>
        <p:spPr>
          <a:xfrm>
            <a:off x="8037576" y="2889504"/>
            <a:ext cx="420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6355080" y="3310128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FD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Заём: </a:t>
            </a: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17,2 млрд ₸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6355080" y="3566160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FD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Собств. участие: </a:t>
            </a:r>
            <a:r>
              <a:rPr lang="en-US" sz="1000" b="1" dirty="0">
                <a:solidFill>
                  <a:srgbClr val="E0A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4,3 млрд ₸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355080" y="3840480"/>
            <a:ext cx="2103120" cy="0"/>
          </a:xfrm>
          <a:prstGeom prst="line">
            <a:avLst/>
          </a:prstGeom>
          <a:noFill/>
          <a:ln w="12700">
            <a:solidFill>
              <a:srgbClr val="2A4463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6355080" y="391363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9FB4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Доля заёмных средств — 80%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502920" y="4828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KazBioFert</a:t>
            </a:r>
            <a:r>
              <a:rPr lang="en-US" sz="8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BBFF  ·  Совет директоров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4572000" y="48280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ИНВЕСТПОКАЗАТЕЛИ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827532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329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E0A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ФИНАНСИРОВАНИЕ PRINCIPLE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Финансирование на уровне проектной компании — без гарантий акционеров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" y="1133856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BFD4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Финансирование на уровне проектной компании KazBioFert / BBFF — возврат из денежных потоков проекта, а не из активов и гарантий акционеров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691640"/>
            <a:ext cx="3913632" cy="896112"/>
          </a:xfrm>
          <a:prstGeom prst="roundRect">
            <a:avLst>
              <a:gd name="adj" fmla="val 8163"/>
            </a:avLst>
          </a:prstGeom>
          <a:solidFill>
            <a:srgbClr val="0C1D38"/>
          </a:solidFill>
          <a:ln w="12700">
            <a:solidFill>
              <a:srgbClr val="1E4536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685800" y="1865376"/>
            <a:ext cx="548640" cy="54864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7" name="Image 0" descr="assets/icons/target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002536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80744" y="180136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Финансирование на уровне проектной компании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1380744" y="2148840"/>
            <a:ext cx="2962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870" dirty="0">
                <a:solidFill>
                  <a:srgbClr val="AEC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Проект — самостоятельная проектная компания с ограниченным регрессом</a:t>
            </a:r>
            <a:endParaRPr lang="en-US" sz="870" dirty="0"/>
          </a:p>
        </p:txBody>
      </p:sp>
      <p:sp>
        <p:nvSpPr>
          <p:cNvPr id="10" name="Shape 7"/>
          <p:cNvSpPr/>
          <p:nvPr/>
        </p:nvSpPr>
        <p:spPr>
          <a:xfrm>
            <a:off x="502920" y="2697480"/>
            <a:ext cx="3913632" cy="896112"/>
          </a:xfrm>
          <a:prstGeom prst="roundRect">
            <a:avLst>
              <a:gd name="adj" fmla="val 8163"/>
            </a:avLst>
          </a:prstGeom>
          <a:solidFill>
            <a:srgbClr val="0C1D38"/>
          </a:solidFill>
          <a:ln w="12700">
            <a:solidFill>
              <a:srgbClr val="1E4536"/>
            </a:solidFill>
            <a:prstDash val="solid"/>
          </a:ln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85800" y="2871216"/>
            <a:ext cx="548640" cy="54864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12" name="Image 1" descr="assets/icons/exchange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3008376"/>
            <a:ext cx="274320" cy="27432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380744" y="280720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Возврат из денежного потока проекта</a:t>
            </a:r>
            <a:endParaRPr lang="en-US" sz="1150" dirty="0"/>
          </a:p>
        </p:txBody>
      </p:sp>
      <p:sp>
        <p:nvSpPr>
          <p:cNvPr id="14" name="Text 10"/>
          <p:cNvSpPr/>
          <p:nvPr/>
        </p:nvSpPr>
        <p:spPr>
          <a:xfrm>
            <a:off x="1380744" y="3154680"/>
            <a:ext cx="2962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870" dirty="0">
                <a:solidFill>
                  <a:srgbClr val="AEC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Выручка от электроэнергии, продажи удобрений, возможные углеродные и грантовые поступления</a:t>
            </a:r>
            <a:endParaRPr lang="en-US" sz="870" dirty="0"/>
          </a:p>
        </p:txBody>
      </p:sp>
      <p:sp>
        <p:nvSpPr>
          <p:cNvPr id="15" name="Shape 11"/>
          <p:cNvSpPr/>
          <p:nvPr/>
        </p:nvSpPr>
        <p:spPr>
          <a:xfrm>
            <a:off x="502920" y="3703320"/>
            <a:ext cx="3913632" cy="896112"/>
          </a:xfrm>
          <a:prstGeom prst="roundRect">
            <a:avLst>
              <a:gd name="adj" fmla="val 8163"/>
            </a:avLst>
          </a:prstGeom>
          <a:solidFill>
            <a:srgbClr val="0C1D38"/>
          </a:solidFill>
          <a:ln w="12700">
            <a:solidFill>
              <a:srgbClr val="1E4536"/>
            </a:solidFill>
            <a:prstDash val="solid"/>
          </a:ln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685800" y="3877056"/>
            <a:ext cx="548640" cy="54864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17" name="Image 2" descr="assets/icons/scale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4014216"/>
            <a:ext cx="274320" cy="27432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80744" y="381304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Ограниченное собственное участие</a:t>
            </a:r>
            <a:endParaRPr lang="en-US" sz="1150" dirty="0"/>
          </a:p>
        </p:txBody>
      </p:sp>
      <p:sp>
        <p:nvSpPr>
          <p:cNvPr id="19" name="Text 14"/>
          <p:cNvSpPr/>
          <p:nvPr/>
        </p:nvSpPr>
        <p:spPr>
          <a:xfrm>
            <a:off x="1380744" y="4160520"/>
            <a:ext cx="2962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870" dirty="0">
                <a:solidFill>
                  <a:srgbClr val="AEC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Собственное участие — только в пределах заранее утверждённого лимита</a:t>
            </a:r>
            <a:endParaRPr lang="en-US" sz="870" dirty="0"/>
          </a:p>
        </p:txBody>
      </p:sp>
      <p:sp>
        <p:nvSpPr>
          <p:cNvPr id="20" name="Shape 15"/>
          <p:cNvSpPr/>
          <p:nvPr/>
        </p:nvSpPr>
        <p:spPr>
          <a:xfrm>
            <a:off x="4727448" y="1691640"/>
            <a:ext cx="3913632" cy="896112"/>
          </a:xfrm>
          <a:prstGeom prst="roundRect">
            <a:avLst>
              <a:gd name="adj" fmla="val 8163"/>
            </a:avLst>
          </a:prstGeom>
          <a:solidFill>
            <a:srgbClr val="0C1D38"/>
          </a:solidFill>
          <a:ln w="12700">
            <a:solidFill>
              <a:srgbClr val="1E4536"/>
            </a:solidFill>
            <a:prstDash val="solid"/>
          </a:ln>
        </p:spPr>
        <p:txBody>
          <a:bodyPr/>
          <a:p/>
        </p:txBody>
      </p:sp>
      <p:sp>
        <p:nvSpPr>
          <p:cNvPr id="21" name="Shape 16"/>
          <p:cNvSpPr/>
          <p:nvPr/>
        </p:nvSpPr>
        <p:spPr>
          <a:xfrm>
            <a:off x="4910328" y="1865376"/>
            <a:ext cx="548640" cy="54864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22" name="Image 3" descr="assets/icons/lock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47488" y="2002536"/>
            <a:ext cx="274320" cy="27432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5605272" y="180136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Обеспечение — активы и контракты</a:t>
            </a:r>
            <a:endParaRPr lang="en-US" sz="1150" dirty="0"/>
          </a:p>
        </p:txBody>
      </p:sp>
      <p:sp>
        <p:nvSpPr>
          <p:cNvPr id="24" name="Text 18"/>
          <p:cNvSpPr/>
          <p:nvPr/>
        </p:nvSpPr>
        <p:spPr>
          <a:xfrm>
            <a:off x="5605272" y="2148840"/>
            <a:ext cx="2962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870" dirty="0">
                <a:solidFill>
                  <a:srgbClr val="AEC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Оборудование, проектные активы, права требования, договоры на электроэнергию и сбыт, счета</a:t>
            </a:r>
            <a:endParaRPr lang="en-US" sz="870" dirty="0"/>
          </a:p>
        </p:txBody>
      </p:sp>
      <p:sp>
        <p:nvSpPr>
          <p:cNvPr id="25" name="Shape 19"/>
          <p:cNvSpPr/>
          <p:nvPr/>
        </p:nvSpPr>
        <p:spPr>
          <a:xfrm>
            <a:off x="4727448" y="2697480"/>
            <a:ext cx="3913632" cy="896112"/>
          </a:xfrm>
          <a:prstGeom prst="roundRect">
            <a:avLst>
              <a:gd name="adj" fmla="val 8163"/>
            </a:avLst>
          </a:prstGeom>
          <a:solidFill>
            <a:srgbClr val="0C1D38"/>
          </a:solidFill>
          <a:ln w="12700">
            <a:solidFill>
              <a:srgbClr val="1E4536"/>
            </a:solidFill>
            <a:prstDash val="solid"/>
          </a:ln>
        </p:spPr>
        <p:txBody>
          <a:bodyPr/>
          <a:p/>
        </p:txBody>
      </p:sp>
      <p:sp>
        <p:nvSpPr>
          <p:cNvPr id="26" name="Shape 20"/>
          <p:cNvSpPr/>
          <p:nvPr/>
        </p:nvSpPr>
        <p:spPr>
          <a:xfrm>
            <a:off x="4910328" y="2871216"/>
            <a:ext cx="548640" cy="54864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27" name="Image 4" descr="assets/icons/shield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47488" y="3008376"/>
            <a:ext cx="274320" cy="274320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5605272" y="280720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Гарантии институтов развития</a:t>
            </a:r>
            <a:endParaRPr lang="en-US" sz="1150" dirty="0"/>
          </a:p>
        </p:txBody>
      </p:sp>
      <p:sp>
        <p:nvSpPr>
          <p:cNvPr id="29" name="Text 22"/>
          <p:cNvSpPr/>
          <p:nvPr/>
        </p:nvSpPr>
        <p:spPr>
          <a:xfrm>
            <a:off x="5605272" y="3154680"/>
            <a:ext cx="2962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870" dirty="0">
                <a:solidFill>
                  <a:srgbClr val="AEC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БРК / Байтерек вместо личных гарантий и поручительств группы</a:t>
            </a:r>
            <a:endParaRPr lang="en-US" sz="870" dirty="0"/>
          </a:p>
        </p:txBody>
      </p:sp>
      <p:sp>
        <p:nvSpPr>
          <p:cNvPr id="30" name="Shape 23"/>
          <p:cNvSpPr/>
          <p:nvPr/>
        </p:nvSpPr>
        <p:spPr>
          <a:xfrm>
            <a:off x="4727448" y="3703320"/>
            <a:ext cx="3913632" cy="896112"/>
          </a:xfrm>
          <a:prstGeom prst="roundRect">
            <a:avLst>
              <a:gd name="adj" fmla="val 8163"/>
            </a:avLst>
          </a:prstGeom>
          <a:solidFill>
            <a:srgbClr val="0C1D38"/>
          </a:solidFill>
          <a:ln w="12700">
            <a:solidFill>
              <a:srgbClr val="1E4536"/>
            </a:solidFill>
            <a:prstDash val="solid"/>
          </a:ln>
        </p:spPr>
        <p:txBody>
          <a:bodyPr/>
          <a:p/>
        </p:txBody>
      </p:sp>
      <p:sp>
        <p:nvSpPr>
          <p:cNvPr id="31" name="Shape 24"/>
          <p:cNvSpPr/>
          <p:nvPr/>
        </p:nvSpPr>
        <p:spPr>
          <a:xfrm>
            <a:off x="4910328" y="3877056"/>
            <a:ext cx="548640" cy="54864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32" name="Image 5" descr="assets/icons/balance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47488" y="4014216"/>
            <a:ext cx="274320" cy="274320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5605272" y="381304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 менеджмента</a:t>
            </a:r>
            <a:endParaRPr lang="en-US" sz="1150" dirty="0"/>
          </a:p>
        </p:txBody>
      </p:sp>
      <p:sp>
        <p:nvSpPr>
          <p:cNvPr id="34" name="Text 26"/>
          <p:cNvSpPr/>
          <p:nvPr/>
        </p:nvSpPr>
        <p:spPr>
          <a:xfrm>
            <a:off x="5605272" y="4160520"/>
            <a:ext cx="2962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870" dirty="0" err="1">
                <a:solidFill>
                  <a:srgbClr val="AEC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Получить</a:t>
            </a:r>
            <a:r>
              <a:rPr lang="en-US" sz="870" dirty="0">
                <a:solidFill>
                  <a:srgbClr val="AEC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u-RU" sz="870" dirty="0">
                <a:solidFill>
                  <a:srgbClr val="AEC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положительное решение от</a:t>
            </a:r>
            <a:r>
              <a:rPr lang="en-US" sz="870" dirty="0">
                <a:solidFill>
                  <a:srgbClr val="AEC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ФРП, БРК и БВУ</a:t>
            </a:r>
            <a:endParaRPr lang="en-US" sz="870" dirty="0"/>
          </a:p>
        </p:txBody>
      </p:sp>
      <p:sp>
        <p:nvSpPr>
          <p:cNvPr id="35" name="Text 27"/>
          <p:cNvSpPr/>
          <p:nvPr/>
        </p:nvSpPr>
        <p:spPr>
          <a:xfrm>
            <a:off x="502920" y="4828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KazBioFert</a:t>
            </a:r>
            <a:r>
              <a:rPr lang="en-US" sz="8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BBFF  ·  Совет директоров</a:t>
            </a:r>
            <a:endParaRPr lang="en-US" sz="850" dirty="0"/>
          </a:p>
        </p:txBody>
      </p:sp>
      <p:sp>
        <p:nvSpPr>
          <p:cNvPr id="36" name="Text 28"/>
          <p:cNvSpPr/>
          <p:nvPr/>
        </p:nvSpPr>
        <p:spPr>
          <a:xfrm>
            <a:off x="4572000" y="48280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ПРИНЦИП ФИНАНСИРОВАНИЯ</a:t>
            </a:r>
            <a:endParaRPr lang="en-US" sz="800" dirty="0"/>
          </a:p>
        </p:txBody>
      </p:sp>
      <p:sp>
        <p:nvSpPr>
          <p:cNvPr id="37" name="Text 29"/>
          <p:cNvSpPr/>
          <p:nvPr/>
        </p:nvSpPr>
        <p:spPr>
          <a:xfrm>
            <a:off x="827532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МАТРИЦА ИНСТРУМЕНТОВ ФИНАНСИРОВАНИЯ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Ядро финансирования — ФРП + гарантия БРК + БВУ; гранты и углеродные доходы — как доп. возможность</a:t>
            </a:r>
            <a:endParaRPr lang="en-US" sz="21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81328"/>
          <a:ext cx="8138160" cy="2813304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Инструмент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Что финансирует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Ориентир. объём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Регресс / гарантии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Приоритет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b="1" dirty="0">
                          <a:solidFill>
                            <a:srgbClr val="13294B"/>
                          </a:solidFill>
                        </a:rPr>
                        <a:t>ФРП — лизинг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Оборудование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~15 млрд ₸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Залог оборудования; цель — без поручительств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Высокий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669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b="1" dirty="0">
                          <a:solidFill>
                            <a:srgbClr val="13294B"/>
                          </a:solidFill>
                        </a:rPr>
                        <a:t>Халык + гарантия БРК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СМР / ПСД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~6,5 млрд ₸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Гарантия БРК до 90% вместо поручительств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Высокий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669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b="1" dirty="0">
                          <a:solidFill>
                            <a:srgbClr val="13294B"/>
                          </a:solidFill>
                        </a:rPr>
                        <a:t>БРК / Байтерек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Проектн. фин. / гарантия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уточн.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Институциональная гарантия, ограниченный регресс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Высокий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669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b="1" dirty="0">
                          <a:solidFill>
                            <a:srgbClr val="13294B"/>
                          </a:solidFill>
                        </a:rPr>
                        <a:t>БВУ (Форте, Береке…)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СМР / оборотный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уточн.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Уступка прав по электроэнергии/сбыту, резервный счёт, эскроу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Средний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77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b="1" dirty="0">
                          <a:solidFill>
                            <a:srgbClr val="13294B"/>
                          </a:solidFill>
                        </a:rPr>
                        <a:t>Даму / субсидии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Субсидия ставки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В пределах лимитов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Дополнительный, не основной инструмент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Средний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77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b="1" dirty="0">
                          <a:solidFill>
                            <a:srgbClr val="13294B"/>
                          </a:solidFill>
                        </a:rPr>
                        <a:t>Kazakh Invest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Льготы / преференции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НДС, пошлины, контракт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Инвестпреференции, не долговой инструмент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Средний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77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b="1" dirty="0">
                          <a:solidFill>
                            <a:srgbClr val="13294B"/>
                          </a:solidFill>
                        </a:rPr>
                        <a:t>Японский грант (JCM)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Грант (доп.)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до ~1,3 млрд ¥ (уточн.)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Безвозвратный — дополнительный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Низкий*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7A8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b="1" dirty="0">
                          <a:solidFill>
                            <a:srgbClr val="13294B"/>
                          </a:solidFill>
                        </a:rPr>
                        <a:t>Углеродное финансирование / межд. институты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Углерод / долгосрочное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уточн.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70" dirty="0">
                          <a:solidFill>
                            <a:srgbClr val="2A3746"/>
                          </a:solidFill>
                        </a:rPr>
                        <a:t>Эко-стандарты / проектное финансирование с огранич. регрессом</a:t>
                      </a:r>
                      <a:endParaRPr lang="en-US" sz="87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Низкий*</a:t>
                      </a:r>
                      <a:endParaRPr lang="en-US" sz="850" dirty="0"/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7A8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452628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«Низкий» = не базовый источник, а дополнительная возможность. «Уточн.» — условия требуют подтверждения институтов.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502920" y="4828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KazBioFert</a:t>
            </a:r>
            <a:r>
              <a:rPr lang="en-US" sz="8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BBFF  ·  Совет директоров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4572000" y="48280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МАТРИЦА ИНСТРУМЕНТОВ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827532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ОБЕСПЕЧЕНИЕ БЕЗ ГАРАНТИЙ АКЦИОНЕРОВ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Пакет обеспечения вместо личных гарантий: активы, права требования, гарантии ИР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2615184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649224" y="1664208"/>
            <a:ext cx="502920" cy="50292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6" name="Image 0" descr="assets/icons/cogs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954" y="1789938"/>
            <a:ext cx="251460" cy="2514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71016" y="1581912"/>
            <a:ext cx="1746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Залог оборудования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1271016" y="1883664"/>
            <a:ext cx="17190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Оборудование как основной предмет залога (ФРП-лизинг)</a:t>
            </a:r>
            <a:endParaRPr lang="en-US" sz="830" dirty="0"/>
          </a:p>
        </p:txBody>
      </p:sp>
      <p:sp>
        <p:nvSpPr>
          <p:cNvPr id="9" name="Shape 6"/>
          <p:cNvSpPr/>
          <p:nvPr/>
        </p:nvSpPr>
        <p:spPr>
          <a:xfrm>
            <a:off x="3264408" y="1463040"/>
            <a:ext cx="2615184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3410712" y="1664208"/>
            <a:ext cx="502920" cy="50292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11" name="Image 1" descr="assets/icons/building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36442" y="1789938"/>
            <a:ext cx="251460" cy="2514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032504" y="1581912"/>
            <a:ext cx="1746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Залог проектных активов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4032504" y="1883664"/>
            <a:ext cx="17190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Строящиеся объекты и основные средства проекта</a:t>
            </a:r>
            <a:endParaRPr lang="en-US" sz="830" dirty="0"/>
          </a:p>
        </p:txBody>
      </p:sp>
      <p:sp>
        <p:nvSpPr>
          <p:cNvPr id="14" name="Shape 10"/>
          <p:cNvSpPr/>
          <p:nvPr/>
        </p:nvSpPr>
        <p:spPr>
          <a:xfrm>
            <a:off x="6025896" y="1463040"/>
            <a:ext cx="2615184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5" name="Shape 11"/>
          <p:cNvSpPr/>
          <p:nvPr/>
        </p:nvSpPr>
        <p:spPr>
          <a:xfrm>
            <a:off x="6172200" y="1664208"/>
            <a:ext cx="502920" cy="50292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16" name="Image 2" descr="assets/icons/sitemap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97930" y="1789938"/>
            <a:ext cx="251460" cy="25146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793992" y="1581912"/>
            <a:ext cx="1746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Залог долей проектной компании</a:t>
            </a:r>
            <a:endParaRPr lang="en-US" sz="1100" dirty="0"/>
          </a:p>
        </p:txBody>
      </p:sp>
      <p:sp>
        <p:nvSpPr>
          <p:cNvPr id="18" name="Text 13"/>
          <p:cNvSpPr/>
          <p:nvPr/>
        </p:nvSpPr>
        <p:spPr>
          <a:xfrm>
            <a:off x="6793992" y="1883664"/>
            <a:ext cx="17190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Залог долей проектной компании вместо поручительства акционеров</a:t>
            </a:r>
            <a:endParaRPr lang="en-US" sz="830" dirty="0"/>
          </a:p>
        </p:txBody>
      </p:sp>
      <p:sp>
        <p:nvSpPr>
          <p:cNvPr id="19" name="Shape 14"/>
          <p:cNvSpPr/>
          <p:nvPr/>
        </p:nvSpPr>
        <p:spPr>
          <a:xfrm>
            <a:off x="502920" y="2542032"/>
            <a:ext cx="2615184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0" name="Shape 15"/>
          <p:cNvSpPr/>
          <p:nvPr/>
        </p:nvSpPr>
        <p:spPr>
          <a:xfrm>
            <a:off x="649224" y="2743200"/>
            <a:ext cx="502920" cy="50292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21" name="Image 3" descr="assets/icons/bolt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4954" y="2868930"/>
            <a:ext cx="251460" cy="25146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271016" y="2660904"/>
            <a:ext cx="1746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Уступка прав по электроэнергии</a:t>
            </a:r>
            <a:endParaRPr lang="en-US" sz="1100" dirty="0"/>
          </a:p>
        </p:txBody>
      </p:sp>
      <p:sp>
        <p:nvSpPr>
          <p:cNvPr id="23" name="Text 17"/>
          <p:cNvSpPr/>
          <p:nvPr/>
        </p:nvSpPr>
        <p:spPr>
          <a:xfrm>
            <a:off x="1271016" y="2962656"/>
            <a:ext cx="17190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Уступка прав требования по выручке за электроэнергию</a:t>
            </a:r>
            <a:endParaRPr lang="en-US" sz="830" dirty="0"/>
          </a:p>
        </p:txBody>
      </p:sp>
      <p:sp>
        <p:nvSpPr>
          <p:cNvPr id="24" name="Shape 18"/>
          <p:cNvSpPr/>
          <p:nvPr/>
        </p:nvSpPr>
        <p:spPr>
          <a:xfrm>
            <a:off x="3264408" y="2542032"/>
            <a:ext cx="2615184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5" name="Shape 19"/>
          <p:cNvSpPr/>
          <p:nvPr/>
        </p:nvSpPr>
        <p:spPr>
          <a:xfrm>
            <a:off x="3410712" y="2743200"/>
            <a:ext cx="502920" cy="50292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26" name="Image 4" descr="assets/icons/handshake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36442" y="2868930"/>
            <a:ext cx="251460" cy="25146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4032504" y="2660904"/>
            <a:ext cx="1746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Уступка прав по сбыту</a:t>
            </a:r>
            <a:endParaRPr lang="en-US" sz="1100" dirty="0"/>
          </a:p>
        </p:txBody>
      </p:sp>
      <p:sp>
        <p:nvSpPr>
          <p:cNvPr id="28" name="Text 21"/>
          <p:cNvSpPr/>
          <p:nvPr/>
        </p:nvSpPr>
        <p:spPr>
          <a:xfrm>
            <a:off x="4032504" y="2962656"/>
            <a:ext cx="17190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Уступка прав по контрактам на удобрения</a:t>
            </a:r>
            <a:endParaRPr lang="en-US" sz="830" dirty="0"/>
          </a:p>
        </p:txBody>
      </p:sp>
      <p:sp>
        <p:nvSpPr>
          <p:cNvPr id="29" name="Shape 22"/>
          <p:cNvSpPr/>
          <p:nvPr/>
        </p:nvSpPr>
        <p:spPr>
          <a:xfrm>
            <a:off x="6025896" y="2542032"/>
            <a:ext cx="2615184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30" name="Shape 23"/>
          <p:cNvSpPr/>
          <p:nvPr/>
        </p:nvSpPr>
        <p:spPr>
          <a:xfrm>
            <a:off x="6172200" y="2743200"/>
            <a:ext cx="502920" cy="50292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31" name="Image 5" descr="assets/icons/piggy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97930" y="2868930"/>
            <a:ext cx="251460" cy="251460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6793992" y="2660904"/>
            <a:ext cx="1746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Резервный счёт + эскроу</a:t>
            </a:r>
            <a:endParaRPr lang="en-US" sz="1100" dirty="0"/>
          </a:p>
        </p:txBody>
      </p:sp>
      <p:sp>
        <p:nvSpPr>
          <p:cNvPr id="33" name="Text 25"/>
          <p:cNvSpPr/>
          <p:nvPr/>
        </p:nvSpPr>
        <p:spPr>
          <a:xfrm>
            <a:off x="6793992" y="2962656"/>
            <a:ext cx="17190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Резервный счёт обслуживания долга и эскроу-счета</a:t>
            </a:r>
            <a:endParaRPr lang="en-US" sz="830" dirty="0"/>
          </a:p>
        </p:txBody>
      </p:sp>
      <p:sp>
        <p:nvSpPr>
          <p:cNvPr id="34" name="Shape 26"/>
          <p:cNvSpPr/>
          <p:nvPr/>
        </p:nvSpPr>
        <p:spPr>
          <a:xfrm>
            <a:off x="502920" y="3621024"/>
            <a:ext cx="2615184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35" name="Shape 27"/>
          <p:cNvSpPr/>
          <p:nvPr/>
        </p:nvSpPr>
        <p:spPr>
          <a:xfrm>
            <a:off x="649224" y="3822192"/>
            <a:ext cx="502920" cy="50292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36" name="Image 6" descr="assets/icons/contract_whit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4954" y="3947922"/>
            <a:ext cx="251460" cy="251460"/>
          </a:xfrm>
          <a:prstGeom prst="rect">
            <a:avLst/>
          </a:prstGeom>
        </p:spPr>
      </p:pic>
      <p:sp>
        <p:nvSpPr>
          <p:cNvPr id="37" name="Text 28"/>
          <p:cNvSpPr/>
          <p:nvPr/>
        </p:nvSpPr>
        <p:spPr>
          <a:xfrm>
            <a:off x="1271016" y="3739896"/>
            <a:ext cx="1746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Гарантия исполнения подрядчика</a:t>
            </a:r>
            <a:endParaRPr lang="en-US" sz="1100" dirty="0"/>
          </a:p>
        </p:txBody>
      </p:sp>
      <p:sp>
        <p:nvSpPr>
          <p:cNvPr id="38" name="Text 29"/>
          <p:cNvSpPr/>
          <p:nvPr/>
        </p:nvSpPr>
        <p:spPr>
          <a:xfrm>
            <a:off x="1271016" y="4041648"/>
            <a:ext cx="17190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Гарантия исполнения от подрядчика + гарантии поставщика</a:t>
            </a:r>
            <a:endParaRPr lang="en-US" sz="830" dirty="0"/>
          </a:p>
        </p:txBody>
      </p:sp>
      <p:sp>
        <p:nvSpPr>
          <p:cNvPr id="39" name="Shape 30"/>
          <p:cNvSpPr/>
          <p:nvPr/>
        </p:nvSpPr>
        <p:spPr>
          <a:xfrm>
            <a:off x="3264408" y="3621024"/>
            <a:ext cx="2615184" cy="960120"/>
          </a:xfrm>
          <a:prstGeom prst="roundRect">
            <a:avLst>
              <a:gd name="adj" fmla="val 9524"/>
            </a:avLst>
          </a:prstGeom>
          <a:solidFill>
            <a:srgbClr val="EAF1F7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40" name="Shape 31"/>
          <p:cNvSpPr/>
          <p:nvPr/>
        </p:nvSpPr>
        <p:spPr>
          <a:xfrm>
            <a:off x="3410712" y="3822192"/>
            <a:ext cx="502920" cy="502920"/>
          </a:xfrm>
          <a:prstGeom prst="ellipse">
            <a:avLst/>
          </a:prstGeom>
          <a:solidFill>
            <a:srgbClr val="C4772F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41" name="Image 7" descr="assets/icons/shield_whit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536442" y="3947922"/>
            <a:ext cx="251460" cy="251460"/>
          </a:xfrm>
          <a:prstGeom prst="rect">
            <a:avLst/>
          </a:prstGeom>
        </p:spPr>
      </p:pic>
      <p:sp>
        <p:nvSpPr>
          <p:cNvPr id="42" name="Text 32"/>
          <p:cNvSpPr/>
          <p:nvPr/>
        </p:nvSpPr>
        <p:spPr>
          <a:xfrm>
            <a:off x="4032504" y="3739896"/>
            <a:ext cx="1746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Гарантия БРК / Байтерек</a:t>
            </a:r>
            <a:endParaRPr lang="en-US" sz="1100" dirty="0"/>
          </a:p>
        </p:txBody>
      </p:sp>
      <p:sp>
        <p:nvSpPr>
          <p:cNvPr id="43" name="Text 33"/>
          <p:cNvSpPr/>
          <p:nvPr/>
        </p:nvSpPr>
        <p:spPr>
          <a:xfrm>
            <a:off x="4032504" y="4041648"/>
            <a:ext cx="17190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Институциональная / кредитная гарантия банку</a:t>
            </a:r>
            <a:endParaRPr lang="en-US" sz="830" dirty="0"/>
          </a:p>
        </p:txBody>
      </p:sp>
      <p:sp>
        <p:nvSpPr>
          <p:cNvPr id="44" name="Shape 34"/>
          <p:cNvSpPr/>
          <p:nvPr/>
        </p:nvSpPr>
        <p:spPr>
          <a:xfrm>
            <a:off x="6025896" y="3621024"/>
            <a:ext cx="2615184" cy="960120"/>
          </a:xfrm>
          <a:prstGeom prst="roundRect">
            <a:avLst>
              <a:gd name="adj" fmla="val 9524"/>
            </a:avLst>
          </a:prstGeom>
          <a:solidFill>
            <a:srgbClr val="EAF1F7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45" name="Shape 35"/>
          <p:cNvSpPr/>
          <p:nvPr/>
        </p:nvSpPr>
        <p:spPr>
          <a:xfrm>
            <a:off x="6172200" y="3822192"/>
            <a:ext cx="502920" cy="502920"/>
          </a:xfrm>
          <a:prstGeom prst="ellipse">
            <a:avLst/>
          </a:prstGeom>
          <a:solidFill>
            <a:srgbClr val="C4772F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46" name="Image 8" descr="assets/icons/leaf_whit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297930" y="3947922"/>
            <a:ext cx="251460" cy="251460"/>
          </a:xfrm>
          <a:prstGeom prst="rect">
            <a:avLst/>
          </a:prstGeom>
        </p:spPr>
      </p:pic>
      <p:sp>
        <p:nvSpPr>
          <p:cNvPr id="47" name="Text 36"/>
          <p:cNvSpPr/>
          <p:nvPr/>
        </p:nvSpPr>
        <p:spPr>
          <a:xfrm>
            <a:off x="6793992" y="3739896"/>
            <a:ext cx="1746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Уступка углеродных доходов</a:t>
            </a:r>
            <a:endParaRPr lang="en-US" sz="1100" dirty="0"/>
          </a:p>
        </p:txBody>
      </p:sp>
      <p:sp>
        <p:nvSpPr>
          <p:cNvPr id="48" name="Text 37"/>
          <p:cNvSpPr/>
          <p:nvPr/>
        </p:nvSpPr>
        <p:spPr>
          <a:xfrm>
            <a:off x="6793992" y="4041648"/>
            <a:ext cx="17190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8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Уступка возможных углеродных поступлений + страховое покрытие</a:t>
            </a:r>
            <a:endParaRPr lang="en-US" sz="830" dirty="0"/>
          </a:p>
        </p:txBody>
      </p:sp>
      <p:sp>
        <p:nvSpPr>
          <p:cNvPr id="49" name="Text 38"/>
          <p:cNvSpPr/>
          <p:nvPr/>
        </p:nvSpPr>
        <p:spPr>
          <a:xfrm>
            <a:off x="502920" y="4828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KazBioFert</a:t>
            </a:r>
            <a:r>
              <a:rPr lang="en-US" sz="8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BBFF  ·  Совет директоров</a:t>
            </a:r>
            <a:endParaRPr lang="en-US" sz="850" dirty="0"/>
          </a:p>
        </p:txBody>
      </p:sp>
      <p:sp>
        <p:nvSpPr>
          <p:cNvPr id="50" name="Text 39"/>
          <p:cNvSpPr/>
          <p:nvPr/>
        </p:nvSpPr>
        <p:spPr>
          <a:xfrm>
            <a:off x="4572000" y="48280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ОБЕСПЕЧЕНИЕ</a:t>
            </a:r>
            <a:endParaRPr lang="en-US" sz="800" dirty="0"/>
          </a:p>
        </p:txBody>
      </p:sp>
      <p:sp>
        <p:nvSpPr>
          <p:cNvPr id="51" name="Text 40"/>
          <p:cNvSpPr/>
          <p:nvPr/>
        </p:nvSpPr>
        <p:spPr>
          <a:xfrm>
            <a:off x="827532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329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E0A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АГРОРЕЗУЛЬТАТЫ  ·  ПОЛЕВЫЕ ИСПЫТАНИЯ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ОМУ дают прирост урожайности 19–25% против аналогов на трёх культурах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2615184" cy="2084832"/>
          </a:xfrm>
          <a:prstGeom prst="roundRect">
            <a:avLst>
              <a:gd name="adj" fmla="val 3947"/>
            </a:avLst>
          </a:prstGeom>
          <a:solidFill>
            <a:srgbClr val="0C1D38"/>
          </a:solidFill>
          <a:ln w="12700">
            <a:solidFill>
              <a:srgbClr val="1E4536"/>
            </a:solidFill>
            <a:prstDash val="solid"/>
          </a:ln>
          <a:effectLst>
            <a:outerShdw blurRad="114300" dist="38100" dir="5400000" algn="bl" rotWithShape="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04088" y="1664208"/>
            <a:ext cx="493776" cy="493776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6" name="Image 0" descr="assets/icons/seedling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532" y="1787652"/>
            <a:ext cx="246888" cy="24688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89304" y="1609344"/>
            <a:ext cx="1737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E0A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+19%</a:t>
            </a:r>
            <a:endParaRPr lang="en-US" sz="3300" dirty="0"/>
          </a:p>
        </p:txBody>
      </p:sp>
      <p:sp>
        <p:nvSpPr>
          <p:cNvPr id="8" name="Text 5"/>
          <p:cNvSpPr/>
          <p:nvPr/>
        </p:nvSpPr>
        <p:spPr>
          <a:xfrm>
            <a:off x="722376" y="2304288"/>
            <a:ext cx="221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Кормовая кукуруза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22376" y="2615184"/>
            <a:ext cx="2212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EC8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13,8 т/га против ЖКУ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22376" y="2944368"/>
            <a:ext cx="2176272" cy="0"/>
          </a:xfrm>
          <a:prstGeom prst="line">
            <a:avLst/>
          </a:prstGeom>
          <a:noFill/>
          <a:ln w="12700">
            <a:solidFill>
              <a:srgbClr val="27543F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722376" y="2999232"/>
            <a:ext cx="2194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860" dirty="0">
                <a:solidFill>
                  <a:srgbClr val="AEC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Акмолинская обл. · NPK 12-12-12 · 80 кг/га, однократно с семенами</a:t>
            </a:r>
            <a:endParaRPr lang="en-US" sz="860" dirty="0"/>
          </a:p>
        </p:txBody>
      </p:sp>
      <p:sp>
        <p:nvSpPr>
          <p:cNvPr id="12" name="Shape 9"/>
          <p:cNvSpPr/>
          <p:nvPr/>
        </p:nvSpPr>
        <p:spPr>
          <a:xfrm>
            <a:off x="3264408" y="1463040"/>
            <a:ext cx="2615184" cy="2084832"/>
          </a:xfrm>
          <a:prstGeom prst="roundRect">
            <a:avLst>
              <a:gd name="adj" fmla="val 3947"/>
            </a:avLst>
          </a:prstGeom>
          <a:solidFill>
            <a:srgbClr val="0C1D38"/>
          </a:solidFill>
          <a:ln w="12700">
            <a:solidFill>
              <a:srgbClr val="1E4536"/>
            </a:solidFill>
            <a:prstDash val="solid"/>
          </a:ln>
          <a:effectLst>
            <a:outerShdw blurRad="114300" dist="38100" dir="5400000" algn="bl" rotWithShape="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3" name="Shape 10"/>
          <p:cNvSpPr/>
          <p:nvPr/>
        </p:nvSpPr>
        <p:spPr>
          <a:xfrm>
            <a:off x="3465576" y="1664208"/>
            <a:ext cx="493776" cy="493776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14" name="Image 1" descr="assets/icons/seedling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9020" y="1787652"/>
            <a:ext cx="246888" cy="246888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050792" y="1609344"/>
            <a:ext cx="1737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E0A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+25%</a:t>
            </a:r>
            <a:endParaRPr lang="en-US" sz="3300" dirty="0"/>
          </a:p>
        </p:txBody>
      </p:sp>
      <p:sp>
        <p:nvSpPr>
          <p:cNvPr id="16" name="Text 12"/>
          <p:cNvSpPr/>
          <p:nvPr/>
        </p:nvSpPr>
        <p:spPr>
          <a:xfrm>
            <a:off x="3483864" y="2304288"/>
            <a:ext cx="221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Яровой ячмень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3483864" y="2615184"/>
            <a:ext cx="2212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EC8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2,82 против 2,26 т/га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3483864" y="2944368"/>
            <a:ext cx="2176272" cy="0"/>
          </a:xfrm>
          <a:prstGeom prst="line">
            <a:avLst/>
          </a:prstGeom>
          <a:noFill/>
          <a:ln w="12700">
            <a:solidFill>
              <a:srgbClr val="27543F"/>
            </a:solidFill>
            <a:prstDash val="solid"/>
          </a:ln>
        </p:spPr>
        <p:txBody>
          <a:bodyPr/>
          <a:p/>
        </p:txBody>
      </p:sp>
      <p:sp>
        <p:nvSpPr>
          <p:cNvPr id="19" name="Text 15"/>
          <p:cNvSpPr/>
          <p:nvPr/>
        </p:nvSpPr>
        <p:spPr>
          <a:xfrm>
            <a:off x="3483864" y="2999232"/>
            <a:ext cx="2194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860" dirty="0">
                <a:solidFill>
                  <a:srgbClr val="AEC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СКО · аналоги (аммофос 10-46, Яра Милла) — лишь +2%</a:t>
            </a:r>
            <a:endParaRPr lang="en-US" sz="860" dirty="0"/>
          </a:p>
        </p:txBody>
      </p:sp>
      <p:sp>
        <p:nvSpPr>
          <p:cNvPr id="20" name="Shape 16"/>
          <p:cNvSpPr/>
          <p:nvPr/>
        </p:nvSpPr>
        <p:spPr>
          <a:xfrm>
            <a:off x="6025896" y="1463040"/>
            <a:ext cx="2615184" cy="2084832"/>
          </a:xfrm>
          <a:prstGeom prst="roundRect">
            <a:avLst>
              <a:gd name="adj" fmla="val 3947"/>
            </a:avLst>
          </a:prstGeom>
          <a:solidFill>
            <a:srgbClr val="0C1D38"/>
          </a:solidFill>
          <a:ln w="12700">
            <a:solidFill>
              <a:srgbClr val="1E4536"/>
            </a:solidFill>
            <a:prstDash val="solid"/>
          </a:ln>
          <a:effectLst>
            <a:outerShdw blurRad="114300" dist="38100" dir="5400000" algn="bl" rotWithShape="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21" name="Shape 17"/>
          <p:cNvSpPr/>
          <p:nvPr/>
        </p:nvSpPr>
        <p:spPr>
          <a:xfrm>
            <a:off x="6227064" y="1664208"/>
            <a:ext cx="493776" cy="493776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22" name="Image 2" descr="assets/icons/leaf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0508" y="1787652"/>
            <a:ext cx="246888" cy="246888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6812280" y="1609344"/>
            <a:ext cx="1737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E0A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+21%</a:t>
            </a:r>
            <a:endParaRPr lang="en-US" sz="3300" dirty="0"/>
          </a:p>
        </p:txBody>
      </p:sp>
      <p:sp>
        <p:nvSpPr>
          <p:cNvPr id="24" name="Text 19"/>
          <p:cNvSpPr/>
          <p:nvPr/>
        </p:nvSpPr>
        <p:spPr>
          <a:xfrm>
            <a:off x="6245352" y="2304288"/>
            <a:ext cx="2212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Яровая пшеница</a:t>
            </a:r>
            <a:endParaRPr lang="en-US" sz="1400" dirty="0"/>
          </a:p>
        </p:txBody>
      </p:sp>
      <p:sp>
        <p:nvSpPr>
          <p:cNvPr id="25" name="Text 20"/>
          <p:cNvSpPr/>
          <p:nvPr/>
        </p:nvSpPr>
        <p:spPr>
          <a:xfrm>
            <a:off x="6245352" y="2615184"/>
            <a:ext cx="2212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EC8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 200 кг/га (+11% при 100 кг/га)</a:t>
            </a:r>
            <a:endParaRPr lang="en-US" sz="1100" dirty="0"/>
          </a:p>
        </p:txBody>
      </p:sp>
      <p:sp>
        <p:nvSpPr>
          <p:cNvPr id="26" name="Shape 21"/>
          <p:cNvSpPr/>
          <p:nvPr/>
        </p:nvSpPr>
        <p:spPr>
          <a:xfrm>
            <a:off x="6245352" y="2944368"/>
            <a:ext cx="2176272" cy="0"/>
          </a:xfrm>
          <a:prstGeom prst="line">
            <a:avLst/>
          </a:prstGeom>
          <a:noFill/>
          <a:ln w="12700">
            <a:solidFill>
              <a:srgbClr val="27543F"/>
            </a:solidFill>
            <a:prstDash val="solid"/>
          </a:ln>
        </p:spPr>
        <p:txBody>
          <a:bodyPr/>
          <a:p/>
        </p:txBody>
      </p:sp>
      <p:sp>
        <p:nvSpPr>
          <p:cNvPr id="27" name="Text 22"/>
          <p:cNvSpPr/>
          <p:nvPr/>
        </p:nvSpPr>
        <p:spPr>
          <a:xfrm>
            <a:off x="6245352" y="2999232"/>
            <a:ext cx="2194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860" dirty="0">
                <a:solidFill>
                  <a:srgbClr val="AEC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НПЦЗХ им. Бараева · NP 8-21-15SO₃ → +22% к контролю</a:t>
            </a:r>
            <a:endParaRPr lang="en-US" sz="860" dirty="0"/>
          </a:p>
        </p:txBody>
      </p:sp>
      <p:sp>
        <p:nvSpPr>
          <p:cNvPr id="28" name="Shape 23"/>
          <p:cNvSpPr/>
          <p:nvPr/>
        </p:nvSpPr>
        <p:spPr>
          <a:xfrm>
            <a:off x="502920" y="3712464"/>
            <a:ext cx="8138160" cy="603504"/>
          </a:xfrm>
          <a:prstGeom prst="roundRect">
            <a:avLst>
              <a:gd name="adj" fmla="val 12121"/>
            </a:avLst>
          </a:prstGeom>
          <a:solidFill>
            <a:srgbClr val="0C1D38"/>
          </a:solidFill>
          <a:ln w="12700">
            <a:solidFill>
              <a:srgbClr val="1E4536"/>
            </a:solidFill>
            <a:prstDash val="solid"/>
          </a:ln>
        </p:spPr>
        <p:txBody>
          <a:bodyPr/>
          <a:p/>
        </p:txBody>
      </p:sp>
      <p:pic>
        <p:nvPicPr>
          <p:cNvPr id="29" name="Image 3" descr="assets/icons/star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232" y="3877056"/>
            <a:ext cx="237744" cy="237744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1042416" y="3712464"/>
            <a:ext cx="3611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900" dirty="0">
                <a:solidFill>
                  <a:srgbClr val="E6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Качество зерна повышено до 1 класса (контроль — 2); клейковина 28,7–30,4%</a:t>
            </a:r>
            <a:endParaRPr lang="en-US" sz="900" dirty="0"/>
          </a:p>
        </p:txBody>
      </p:sp>
      <p:pic>
        <p:nvPicPr>
          <p:cNvPr id="31" name="Image 4" descr="assets/icons/seedling_gol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36592" y="3877056"/>
            <a:ext cx="237744" cy="237744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5065776" y="3712464"/>
            <a:ext cx="3611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900" dirty="0">
                <a:solidFill>
                  <a:srgbClr val="E6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Внесение одномоментно с семенами — без дополнительной техники и проходов</a:t>
            </a:r>
            <a:endParaRPr lang="en-US" sz="900" dirty="0"/>
          </a:p>
        </p:txBody>
      </p:sp>
      <p:sp>
        <p:nvSpPr>
          <p:cNvPr id="33" name="Text 26"/>
          <p:cNvSpPr/>
          <p:nvPr/>
        </p:nvSpPr>
        <p:spPr>
          <a:xfrm>
            <a:off x="502920" y="4389120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8FB3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Результаты отдельных полевых опытов 2023 г.; часть экономических расчётов зависит от методики анализа — перед инвест-решением рекомендуется независимая агрономическая проверка.</a:t>
            </a:r>
            <a:endParaRPr lang="en-US" sz="800" dirty="0"/>
          </a:p>
        </p:txBody>
      </p:sp>
      <p:sp>
        <p:nvSpPr>
          <p:cNvPr id="34" name="Text 27"/>
          <p:cNvSpPr/>
          <p:nvPr/>
        </p:nvSpPr>
        <p:spPr>
          <a:xfrm>
            <a:off x="502920" y="4828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KazBioFert</a:t>
            </a:r>
            <a:r>
              <a:rPr lang="en-US" sz="8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BBFF  ·  Совет директоров</a:t>
            </a:r>
            <a:endParaRPr lang="en-US" sz="850" dirty="0"/>
          </a:p>
        </p:txBody>
      </p:sp>
      <p:sp>
        <p:nvSpPr>
          <p:cNvPr id="35" name="Text 28"/>
          <p:cNvSpPr/>
          <p:nvPr/>
        </p:nvSpPr>
        <p:spPr>
          <a:xfrm>
            <a:off x="4572000" y="48280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АГРОРЕЗУЛЬТАТЫ</a:t>
            </a:r>
            <a:endParaRPr lang="en-US" sz="800" dirty="0"/>
          </a:p>
        </p:txBody>
      </p:sp>
      <p:sp>
        <p:nvSpPr>
          <p:cNvPr id="36" name="Text 29"/>
          <p:cNvSpPr/>
          <p:nvPr/>
        </p:nvSpPr>
        <p:spPr>
          <a:xfrm>
            <a:off x="827532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ПРОДУКТ И ПОДТВЕРЖДЕНИЕ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Независимое заключение НПЦЗХ и эффективность 1:3 подтверждают позицию ОМУ на рынке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3931920" cy="1371600"/>
          </a:xfrm>
          <a:prstGeom prst="roundRect">
            <a:avLst>
              <a:gd name="adj" fmla="val 6000"/>
            </a:avLst>
          </a:prstGeom>
          <a:solidFill>
            <a:srgbClr val="13294B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04088" y="1645920"/>
            <a:ext cx="512064" cy="512064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6" name="Image 0" descr="assets/icons/university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" y="1773936"/>
            <a:ext cx="256032" cy="2560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44168" y="1664208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Независимое подтверждение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22376" y="2212848"/>
            <a:ext cx="35295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920" dirty="0">
                <a:solidFill>
                  <a:srgbClr val="CF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НПЦЗХ им. А.И. Бараева рекомендует ОМУ NPK 12-12-12 и NP 8-21-15SO₃ для яровой пшеницы: урожайность сопоставима с аммофосом, зерно — 1 класс.</a:t>
            </a:r>
            <a:endParaRPr lang="en-US" sz="920" dirty="0"/>
          </a:p>
        </p:txBody>
      </p:sp>
      <p:sp>
        <p:nvSpPr>
          <p:cNvPr id="9" name="Shape 6"/>
          <p:cNvSpPr/>
          <p:nvPr/>
        </p:nvSpPr>
        <p:spPr>
          <a:xfrm>
            <a:off x="502920" y="2962656"/>
            <a:ext cx="3931920" cy="1417320"/>
          </a:xfrm>
          <a:prstGeom prst="roundRect">
            <a:avLst>
              <a:gd name="adj" fmla="val 5806"/>
            </a:avLst>
          </a:prstGeom>
          <a:solidFill>
            <a:srgbClr val="EAF1F7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685800" y="31089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244F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: 3</a:t>
            </a:r>
            <a:endParaRPr lang="en-US" sz="3800" dirty="0"/>
          </a:p>
        </p:txBody>
      </p:sp>
      <p:sp>
        <p:nvSpPr>
          <p:cNvPr id="11" name="Text 8"/>
          <p:cNvSpPr/>
          <p:nvPr/>
        </p:nvSpPr>
        <p:spPr>
          <a:xfrm>
            <a:off x="2057400" y="31089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эффективность питательных веществ ОМУ к минеральным (по данным ФАО)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722376" y="3840480"/>
            <a:ext cx="3529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900" dirty="0">
                <a:solidFill>
                  <a:srgbClr val="244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NPK 12-12-12 ОМУ ≈ NPK 36-36-36 мин. · NP 8-21 ОМУ ≈ NP 12-52 аммофос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709160" y="1463040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ПРОДУКТ · ≥ 80 000 Т/ГОД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709160" y="1737360"/>
            <a:ext cx="1901952" cy="749808"/>
          </a:xfrm>
          <a:prstGeom prst="roundRect">
            <a:avLst>
              <a:gd name="adj" fmla="val 8537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4837176" y="1810512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ОМУ NPK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4837176" y="2029968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F6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12-12-12</a:t>
            </a:r>
            <a:endParaRPr lang="en-US" sz="1900" dirty="0"/>
          </a:p>
        </p:txBody>
      </p:sp>
      <p:sp>
        <p:nvSpPr>
          <p:cNvPr id="17" name="Shape 14"/>
          <p:cNvSpPr/>
          <p:nvPr/>
        </p:nvSpPr>
        <p:spPr>
          <a:xfrm>
            <a:off x="6739128" y="1737360"/>
            <a:ext cx="1901952" cy="749808"/>
          </a:xfrm>
          <a:prstGeom prst="roundRect">
            <a:avLst>
              <a:gd name="adj" fmla="val 8537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6867144" y="1810512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ОМУ NP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6867144" y="2029968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F6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8-21</a:t>
            </a:r>
            <a:endParaRPr lang="en-US" sz="1900" dirty="0"/>
          </a:p>
        </p:txBody>
      </p:sp>
      <p:sp>
        <p:nvSpPr>
          <p:cNvPr id="20" name="Text 17"/>
          <p:cNvSpPr/>
          <p:nvPr/>
        </p:nvSpPr>
        <p:spPr>
          <a:xfrm>
            <a:off x="4709160" y="2596896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88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Состав: 40% органического вещества · 15% гуминовой + фульвовой кислоты · pH 5–7 · без патогенов и семян сорняков</a:t>
            </a:r>
            <a:endParaRPr lang="en-US" sz="880" dirty="0"/>
          </a:p>
        </p:txBody>
      </p:sp>
      <p:pic>
        <p:nvPicPr>
          <p:cNvPr id="21" name="Image 1" descr="assets/icons/seedling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7448" y="3145536"/>
            <a:ext cx="201168" cy="201168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5020056" y="3108960"/>
            <a:ext cx="36027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Внесение при посеве — без дополнительной техники</a:t>
            </a:r>
            <a:endParaRPr lang="en-US" sz="950" dirty="0"/>
          </a:p>
        </p:txBody>
      </p:sp>
      <p:pic>
        <p:nvPicPr>
          <p:cNvPr id="23" name="Image 2" descr="assets/icons/recycle_gree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7448" y="3474720"/>
            <a:ext cx="201168" cy="201168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5020056" y="3438144"/>
            <a:ext cx="36027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Восстановление почвы: +2% плодородного слоя в год</a:t>
            </a:r>
            <a:endParaRPr lang="en-US" sz="950" dirty="0"/>
          </a:p>
        </p:txBody>
      </p:sp>
      <p:pic>
        <p:nvPicPr>
          <p:cNvPr id="25" name="Image 3" descr="assets/icons/coins_gree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27448" y="3803904"/>
            <a:ext cx="201168" cy="201168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5020056" y="3767328"/>
            <a:ext cx="36027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Дешевле минеральных: 40–60% состава — органика</a:t>
            </a:r>
            <a:endParaRPr lang="en-US" sz="950" dirty="0"/>
          </a:p>
        </p:txBody>
      </p:sp>
      <p:pic>
        <p:nvPicPr>
          <p:cNvPr id="27" name="Image 4" descr="assets/icons/shield_gree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27448" y="4133088"/>
            <a:ext cx="201168" cy="201168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5020056" y="4096512"/>
            <a:ext cx="36027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Стабильный гарантированный состав NPK под запрос</a:t>
            </a:r>
            <a:endParaRPr lang="en-US" sz="950" dirty="0"/>
          </a:p>
        </p:txBody>
      </p:sp>
      <p:sp>
        <p:nvSpPr>
          <p:cNvPr id="29" name="Text 22"/>
          <p:cNvSpPr/>
          <p:nvPr/>
        </p:nvSpPr>
        <p:spPr>
          <a:xfrm>
            <a:off x="502920" y="4828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KazBioFert</a:t>
            </a:r>
            <a:r>
              <a:rPr lang="en-US" sz="8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BBFF  ·  Совет директоров</a:t>
            </a:r>
            <a:endParaRPr lang="en-US" sz="850" dirty="0"/>
          </a:p>
        </p:txBody>
      </p:sp>
      <p:sp>
        <p:nvSpPr>
          <p:cNvPr id="30" name="Text 23"/>
          <p:cNvSpPr/>
          <p:nvPr/>
        </p:nvSpPr>
        <p:spPr>
          <a:xfrm>
            <a:off x="4572000" y="48280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ПРОДУКТ</a:t>
            </a:r>
            <a:endParaRPr lang="en-US" sz="800" dirty="0"/>
          </a:p>
        </p:txBody>
      </p:sp>
      <p:sp>
        <p:nvSpPr>
          <p:cNvPr id="31" name="Text 24"/>
          <p:cNvSpPr/>
          <p:nvPr/>
        </p:nvSpPr>
        <p:spPr>
          <a:xfrm>
            <a:off x="827532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КОММЕРЧЕСКАЯ ПРОРАБОТКА · СБЫТ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Каналы сбыта на 4 рынках; задача — перевести переговоры в предварительные соглашения и условия сделок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02920" y="1481328"/>
            <a:ext cx="1975104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216152" y="1700784"/>
            <a:ext cx="548640" cy="54864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6" name="Image 0" descr="assets/icons/handshak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3312" y="1837944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4360" y="2340864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Alem Agro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94360" y="2615184"/>
            <a:ext cx="17922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Казахстан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630936" y="2852928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88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Реализация на внутреннем рынке РК</a:t>
            </a:r>
            <a:endParaRPr lang="en-US" sz="880" dirty="0"/>
          </a:p>
        </p:txBody>
      </p:sp>
      <p:sp>
        <p:nvSpPr>
          <p:cNvPr id="10" name="Shape 7"/>
          <p:cNvSpPr/>
          <p:nvPr/>
        </p:nvSpPr>
        <p:spPr>
          <a:xfrm>
            <a:off x="2660904" y="1481328"/>
            <a:ext cx="1975104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3374136" y="1700784"/>
            <a:ext cx="548640" cy="54864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12" name="Image 1" descr="assets/icons/handshak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11296" y="1837944"/>
            <a:ext cx="274320" cy="27432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2752344" y="2340864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Фос-Агро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2752344" y="2615184"/>
            <a:ext cx="17922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Россия</a:t>
            </a:r>
            <a:endParaRPr lang="en-US" sz="950" dirty="0"/>
          </a:p>
        </p:txBody>
      </p:sp>
      <p:sp>
        <p:nvSpPr>
          <p:cNvPr id="15" name="Text 11"/>
          <p:cNvSpPr/>
          <p:nvPr/>
        </p:nvSpPr>
        <p:spPr>
          <a:xfrm>
            <a:off x="2788920" y="2852928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88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Гибридная схема реализации</a:t>
            </a:r>
            <a:endParaRPr lang="en-US" sz="880" dirty="0"/>
          </a:p>
        </p:txBody>
      </p:sp>
      <p:sp>
        <p:nvSpPr>
          <p:cNvPr id="16" name="Shape 12"/>
          <p:cNvSpPr/>
          <p:nvPr/>
        </p:nvSpPr>
        <p:spPr>
          <a:xfrm>
            <a:off x="4818888" y="1481328"/>
            <a:ext cx="1975104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7" name="Shape 13"/>
          <p:cNvSpPr/>
          <p:nvPr/>
        </p:nvSpPr>
        <p:spPr>
          <a:xfrm>
            <a:off x="5532120" y="1700784"/>
            <a:ext cx="548640" cy="54864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18" name="Image 2" descr="assets/icons/handshak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0" y="1837944"/>
            <a:ext cx="274320" cy="27432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4910328" y="2340864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MakFert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4910328" y="2615184"/>
            <a:ext cx="17922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Турция</a:t>
            </a:r>
            <a:endParaRPr lang="en-US" sz="950" dirty="0"/>
          </a:p>
        </p:txBody>
      </p:sp>
      <p:sp>
        <p:nvSpPr>
          <p:cNvPr id="21" name="Text 16"/>
          <p:cNvSpPr/>
          <p:nvPr/>
        </p:nvSpPr>
        <p:spPr>
          <a:xfrm>
            <a:off x="4946904" y="2852928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88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Потенциально 10 тыс. тонн в год</a:t>
            </a:r>
            <a:endParaRPr lang="en-US" sz="880" dirty="0"/>
          </a:p>
        </p:txBody>
      </p:sp>
      <p:sp>
        <p:nvSpPr>
          <p:cNvPr id="22" name="Shape 17"/>
          <p:cNvSpPr/>
          <p:nvPr/>
        </p:nvSpPr>
        <p:spPr>
          <a:xfrm>
            <a:off x="6976872" y="1481328"/>
            <a:ext cx="1975104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3" name="Shape 18"/>
          <p:cNvSpPr/>
          <p:nvPr/>
        </p:nvSpPr>
        <p:spPr>
          <a:xfrm>
            <a:off x="7690104" y="1700784"/>
            <a:ext cx="548640" cy="54864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24" name="Image 3" descr="assets/icons/handshak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27264" y="1837944"/>
            <a:ext cx="274320" cy="27432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7068312" y="2340864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UzKimyo Impex</a:t>
            </a:r>
            <a:endParaRPr lang="en-US" sz="1400" dirty="0"/>
          </a:p>
        </p:txBody>
      </p:sp>
      <p:sp>
        <p:nvSpPr>
          <p:cNvPr id="26" name="Text 20"/>
          <p:cNvSpPr/>
          <p:nvPr/>
        </p:nvSpPr>
        <p:spPr>
          <a:xfrm>
            <a:off x="7068312" y="2615184"/>
            <a:ext cx="17922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Узбекистан</a:t>
            </a:r>
            <a:endParaRPr lang="en-US" sz="950" dirty="0"/>
          </a:p>
        </p:txBody>
      </p:sp>
      <p:sp>
        <p:nvSpPr>
          <p:cNvPr id="27" name="Text 21"/>
          <p:cNvSpPr/>
          <p:nvPr/>
        </p:nvSpPr>
        <p:spPr>
          <a:xfrm>
            <a:off x="7104888" y="2852928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88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Региональный экспортный канал</a:t>
            </a:r>
            <a:endParaRPr lang="en-US" sz="880" dirty="0"/>
          </a:p>
        </p:txBody>
      </p:sp>
      <p:sp>
        <p:nvSpPr>
          <p:cNvPr id="28" name="Shape 22"/>
          <p:cNvSpPr/>
          <p:nvPr/>
        </p:nvSpPr>
        <p:spPr>
          <a:xfrm>
            <a:off x="502920" y="3611880"/>
            <a:ext cx="8138160" cy="1097280"/>
          </a:xfrm>
          <a:prstGeom prst="roundRect">
            <a:avLst>
              <a:gd name="adj" fmla="val 6667"/>
            </a:avLst>
          </a:prstGeom>
          <a:solidFill>
            <a:srgbClr val="EAF1F7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29" name="Image 4" descr="assets/icons/target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82219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1170432" y="3767328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44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Управленческий вывод</a:t>
            </a:r>
            <a:endParaRPr lang="en-US" sz="1200" dirty="0"/>
          </a:p>
        </p:txBody>
      </p:sp>
      <p:sp>
        <p:nvSpPr>
          <p:cNvPr id="31" name="Text 24"/>
          <p:cNvSpPr/>
          <p:nvPr/>
        </p:nvSpPr>
        <p:spPr>
          <a:xfrm>
            <a:off x="1170432" y="4059936"/>
            <a:ext cx="7223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03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Рынок активно прорабатывается, но для привлечения финансирования переговоры необходимо перевести в предварительные соглашения, условия сделок, рамочные или предварительные договоры сбыта. Твёрдые договоры планируются после открытия финансирования и начала СМР.</a:t>
            </a:r>
            <a:endParaRPr lang="en-US" sz="1030" dirty="0"/>
          </a:p>
        </p:txBody>
      </p:sp>
      <p:sp>
        <p:nvSpPr>
          <p:cNvPr id="32" name="Text 25"/>
          <p:cNvSpPr/>
          <p:nvPr/>
        </p:nvSpPr>
        <p:spPr>
          <a:xfrm>
            <a:off x="502920" y="4828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KazBioFert</a:t>
            </a:r>
            <a:r>
              <a:rPr lang="en-US" sz="8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BBFF  ·  Совет директоров</a:t>
            </a:r>
            <a:endParaRPr lang="en-US" sz="850" dirty="0"/>
          </a:p>
        </p:txBody>
      </p:sp>
      <p:sp>
        <p:nvSpPr>
          <p:cNvPr id="33" name="Text 26"/>
          <p:cNvSpPr/>
          <p:nvPr/>
        </p:nvSpPr>
        <p:spPr>
          <a:xfrm>
            <a:off x="4572000" y="48280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СБЫТ</a:t>
            </a:r>
            <a:endParaRPr lang="en-US" sz="800" dirty="0"/>
          </a:p>
        </p:txBody>
      </p:sp>
      <p:sp>
        <p:nvSpPr>
          <p:cNvPr id="34" name="Text 27"/>
          <p:cNvSpPr/>
          <p:nvPr/>
        </p:nvSpPr>
        <p:spPr>
          <a:xfrm>
            <a:off x="827532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ИСПОЛНЕНИЕ БЮДЖЕТА ЗА 5 МЕСЯЦЕВ 2026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Расходы ниже бюджета из-за сдвига графика; финансирование учредителей — тоже ниже плана</a:t>
            </a:r>
            <a:endParaRPr lang="en-US" sz="21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457200" y="1481328"/>
          <a:ext cx="5074920" cy="2788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279392"/>
            <a:ext cx="5029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млн ₸ · план-факт за 5 месяцев 2026</a:t>
            </a:r>
            <a:endParaRPr lang="en-US" sz="850" dirty="0"/>
          </a:p>
        </p:txBody>
      </p:sp>
      <p:sp>
        <p:nvSpPr>
          <p:cNvPr id="6" name="Shape 3"/>
          <p:cNvSpPr/>
          <p:nvPr/>
        </p:nvSpPr>
        <p:spPr>
          <a:xfrm>
            <a:off x="5760720" y="1481328"/>
            <a:ext cx="2880360" cy="713232"/>
          </a:xfrm>
          <a:prstGeom prst="roundRect">
            <a:avLst>
              <a:gd name="adj" fmla="val 8974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5907024" y="1572768"/>
            <a:ext cx="1691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930" b="1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Операционная деятельность</a:t>
            </a:r>
            <a:endParaRPr lang="en-US" sz="930" dirty="0"/>
          </a:p>
        </p:txBody>
      </p:sp>
      <p:sp>
        <p:nvSpPr>
          <p:cNvPr id="8" name="Text 5"/>
          <p:cNvSpPr/>
          <p:nvPr/>
        </p:nvSpPr>
        <p:spPr>
          <a:xfrm>
            <a:off x="7498080" y="155448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2F6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+46,9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7315200" y="1911096"/>
            <a:ext cx="1252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95000"/>
              </a:lnSpc>
              <a:buNone/>
            </a:pPr>
            <a:r>
              <a:rPr lang="en-US" sz="7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млн ₸ экономия к плану</a:t>
            </a:r>
            <a:endParaRPr lang="en-US" sz="700" dirty="0"/>
          </a:p>
        </p:txBody>
      </p:sp>
      <p:sp>
        <p:nvSpPr>
          <p:cNvPr id="10" name="Shape 7"/>
          <p:cNvSpPr/>
          <p:nvPr/>
        </p:nvSpPr>
        <p:spPr>
          <a:xfrm>
            <a:off x="5760720" y="2267712"/>
            <a:ext cx="2880360" cy="713232"/>
          </a:xfrm>
          <a:prstGeom prst="roundRect">
            <a:avLst>
              <a:gd name="adj" fmla="val 8974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5907024" y="2359152"/>
            <a:ext cx="1691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930" b="1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Инвестиционная деятельность</a:t>
            </a:r>
            <a:endParaRPr lang="en-US" sz="930" dirty="0"/>
          </a:p>
        </p:txBody>
      </p:sp>
      <p:sp>
        <p:nvSpPr>
          <p:cNvPr id="12" name="Text 9"/>
          <p:cNvSpPr/>
          <p:nvPr/>
        </p:nvSpPr>
        <p:spPr>
          <a:xfrm>
            <a:off x="7498080" y="2340864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2F6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+244,9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7315200" y="2697480"/>
            <a:ext cx="1252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95000"/>
              </a:lnSpc>
              <a:buNone/>
            </a:pPr>
            <a:r>
              <a:rPr lang="en-US" sz="7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млн ₸ ниже плана (сдвиг работ)</a:t>
            </a:r>
            <a:endParaRPr lang="en-US" sz="700" dirty="0"/>
          </a:p>
        </p:txBody>
      </p:sp>
      <p:sp>
        <p:nvSpPr>
          <p:cNvPr id="14" name="Shape 11"/>
          <p:cNvSpPr/>
          <p:nvPr/>
        </p:nvSpPr>
        <p:spPr>
          <a:xfrm>
            <a:off x="5760720" y="3054096"/>
            <a:ext cx="2880360" cy="713232"/>
          </a:xfrm>
          <a:prstGeom prst="roundRect">
            <a:avLst>
              <a:gd name="adj" fmla="val 8974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5907024" y="3145536"/>
            <a:ext cx="1691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930" b="1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Финансовая деятельность</a:t>
            </a:r>
            <a:endParaRPr lang="en-US" sz="930" dirty="0"/>
          </a:p>
        </p:txBody>
      </p:sp>
      <p:sp>
        <p:nvSpPr>
          <p:cNvPr id="16" name="Text 13"/>
          <p:cNvSpPr/>
          <p:nvPr/>
        </p:nvSpPr>
        <p:spPr>
          <a:xfrm>
            <a:off x="7498080" y="312724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B44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−323,1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7315200" y="3483864"/>
            <a:ext cx="1252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95000"/>
              </a:lnSpc>
              <a:buNone/>
            </a:pPr>
            <a:r>
              <a:rPr lang="en-US" sz="7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млн ₸ недобор поступлений</a:t>
            </a:r>
            <a:endParaRPr lang="en-US" sz="700" dirty="0"/>
          </a:p>
        </p:txBody>
      </p:sp>
      <p:sp>
        <p:nvSpPr>
          <p:cNvPr id="18" name="Shape 15"/>
          <p:cNvSpPr/>
          <p:nvPr/>
        </p:nvSpPr>
        <p:spPr>
          <a:xfrm>
            <a:off x="5760720" y="3840480"/>
            <a:ext cx="2880360" cy="713232"/>
          </a:xfrm>
          <a:prstGeom prst="roundRect">
            <a:avLst>
              <a:gd name="adj" fmla="val 8974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907024" y="3931920"/>
            <a:ext cx="1691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930" b="1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Денежные средства на конец</a:t>
            </a:r>
            <a:endParaRPr lang="en-US" sz="930" dirty="0"/>
          </a:p>
        </p:txBody>
      </p:sp>
      <p:sp>
        <p:nvSpPr>
          <p:cNvPr id="20" name="Text 17"/>
          <p:cNvSpPr/>
          <p:nvPr/>
        </p:nvSpPr>
        <p:spPr>
          <a:xfrm>
            <a:off x="7498080" y="391363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B443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5,5</a:t>
            </a:r>
            <a:endParaRPr lang="en-US" sz="1700" dirty="0"/>
          </a:p>
        </p:txBody>
      </p:sp>
      <p:sp>
        <p:nvSpPr>
          <p:cNvPr id="21" name="Text 18"/>
          <p:cNvSpPr/>
          <p:nvPr/>
        </p:nvSpPr>
        <p:spPr>
          <a:xfrm>
            <a:off x="7315200" y="4270248"/>
            <a:ext cx="1252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95000"/>
              </a:lnSpc>
              <a:buNone/>
            </a:pPr>
            <a:r>
              <a:rPr lang="en-US" sz="7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млн ₸ факт (план 90,5)</a:t>
            </a:r>
            <a:endParaRPr lang="en-US" sz="700" dirty="0"/>
          </a:p>
        </p:txBody>
      </p:sp>
      <p:sp>
        <p:nvSpPr>
          <p:cNvPr id="22" name="Text 19"/>
          <p:cNvSpPr/>
          <p:nvPr/>
        </p:nvSpPr>
        <p:spPr>
          <a:xfrm>
            <a:off x="502920" y="4828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KazBioFert</a:t>
            </a:r>
            <a:r>
              <a:rPr lang="en-US" sz="8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BBFF  ·  Совет директоров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4572000" y="48280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БЮДЖЕТ 5 МЕС.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827532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БЮДЖЕТА НА 2026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Годовой бюджет ~728 млн ₸; 241,5 млн ₸ исполнено за 5 мес., 487 млн ₸ — на II полугодие</a:t>
            </a:r>
            <a:endParaRPr lang="en-US" sz="21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457200" y="1517904"/>
          <a:ext cx="5212080" cy="2788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315968"/>
            <a:ext cx="5212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млн ₸</a:t>
            </a:r>
            <a:endParaRPr lang="en-US" sz="850" dirty="0"/>
          </a:p>
        </p:txBody>
      </p:sp>
      <p:sp>
        <p:nvSpPr>
          <p:cNvPr id="6" name="Shape 3"/>
          <p:cNvSpPr/>
          <p:nvPr/>
        </p:nvSpPr>
        <p:spPr>
          <a:xfrm>
            <a:off x="5897880" y="1517904"/>
            <a:ext cx="2743200" cy="658368"/>
          </a:xfrm>
          <a:prstGeom prst="roundRect">
            <a:avLst>
              <a:gd name="adj" fmla="val 9722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6044184" y="1572768"/>
            <a:ext cx="1051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2F6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729</a:t>
            </a:r>
            <a:endParaRPr lang="en-US" sz="2100" dirty="0"/>
          </a:p>
        </p:txBody>
      </p:sp>
      <p:sp>
        <p:nvSpPr>
          <p:cNvPr id="8" name="Text 5"/>
          <p:cNvSpPr/>
          <p:nvPr/>
        </p:nvSpPr>
        <p:spPr>
          <a:xfrm>
            <a:off x="7104888" y="1572768"/>
            <a:ext cx="1444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87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Первоначальный годовой бюджет, млн ₸</a:t>
            </a:r>
            <a:endParaRPr lang="en-US" sz="870" dirty="0"/>
          </a:p>
        </p:txBody>
      </p:sp>
      <p:sp>
        <p:nvSpPr>
          <p:cNvPr id="9" name="Shape 6"/>
          <p:cNvSpPr/>
          <p:nvPr/>
        </p:nvSpPr>
        <p:spPr>
          <a:xfrm>
            <a:off x="5897880" y="2249424"/>
            <a:ext cx="2743200" cy="658368"/>
          </a:xfrm>
          <a:prstGeom prst="roundRect">
            <a:avLst>
              <a:gd name="adj" fmla="val 9722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6044184" y="2304288"/>
            <a:ext cx="1051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2F6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241,5</a:t>
            </a:r>
            <a:endParaRPr lang="en-US" sz="2100" dirty="0"/>
          </a:p>
        </p:txBody>
      </p:sp>
      <p:sp>
        <p:nvSpPr>
          <p:cNvPr id="11" name="Text 8"/>
          <p:cNvSpPr/>
          <p:nvPr/>
        </p:nvSpPr>
        <p:spPr>
          <a:xfrm>
            <a:off x="7104888" y="2304288"/>
            <a:ext cx="1444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87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Факт за 5 месяцев (43% бюджета 5М)</a:t>
            </a:r>
            <a:endParaRPr lang="en-US" sz="870" dirty="0"/>
          </a:p>
        </p:txBody>
      </p:sp>
      <p:sp>
        <p:nvSpPr>
          <p:cNvPr id="12" name="Shape 9"/>
          <p:cNvSpPr/>
          <p:nvPr/>
        </p:nvSpPr>
        <p:spPr>
          <a:xfrm>
            <a:off x="5897880" y="2980944"/>
            <a:ext cx="2743200" cy="658368"/>
          </a:xfrm>
          <a:prstGeom prst="roundRect">
            <a:avLst>
              <a:gd name="adj" fmla="val 9722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6044184" y="3035808"/>
            <a:ext cx="1051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2F6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487</a:t>
            </a:r>
            <a:endParaRPr lang="en-US" sz="2100" dirty="0"/>
          </a:p>
        </p:txBody>
      </p:sp>
      <p:sp>
        <p:nvSpPr>
          <p:cNvPr id="14" name="Text 11"/>
          <p:cNvSpPr/>
          <p:nvPr/>
        </p:nvSpPr>
        <p:spPr>
          <a:xfrm>
            <a:off x="7104888" y="3035808"/>
            <a:ext cx="1444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87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Плановые расходы на оставшиеся 7 месяцев</a:t>
            </a:r>
            <a:endParaRPr lang="en-US" sz="870" dirty="0"/>
          </a:p>
        </p:txBody>
      </p:sp>
      <p:sp>
        <p:nvSpPr>
          <p:cNvPr id="15" name="Shape 12"/>
          <p:cNvSpPr/>
          <p:nvPr/>
        </p:nvSpPr>
        <p:spPr>
          <a:xfrm>
            <a:off x="5897880" y="3712464"/>
            <a:ext cx="2743200" cy="658368"/>
          </a:xfrm>
          <a:prstGeom prst="roundRect">
            <a:avLst>
              <a:gd name="adj" fmla="val 9722"/>
            </a:avLst>
          </a:prstGeom>
          <a:solidFill>
            <a:srgbClr val="13294B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6044184" y="3767328"/>
            <a:ext cx="1051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E0A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~728</a:t>
            </a:r>
            <a:endParaRPr lang="en-US" sz="2100" dirty="0"/>
          </a:p>
        </p:txBody>
      </p:sp>
      <p:sp>
        <p:nvSpPr>
          <p:cNvPr id="17" name="Text 14"/>
          <p:cNvSpPr/>
          <p:nvPr/>
        </p:nvSpPr>
        <p:spPr>
          <a:xfrm>
            <a:off x="7104888" y="3767328"/>
            <a:ext cx="1444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87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Итоговый годовой план, млн ₸</a:t>
            </a:r>
            <a:endParaRPr lang="en-US" sz="870" dirty="0"/>
          </a:p>
        </p:txBody>
      </p:sp>
      <p:sp>
        <p:nvSpPr>
          <p:cNvPr id="18" name="Text 15"/>
          <p:cNvSpPr/>
          <p:nvPr/>
        </p:nvSpPr>
        <p:spPr>
          <a:xfrm>
            <a:off x="502920" y="4828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KazBioFert</a:t>
            </a:r>
            <a:r>
              <a:rPr lang="en-US" sz="8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BBFF  ·  Совет директоров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4572000" y="48280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БЮДЖЕТА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827532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47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КЛЮЧЕВЫЕ РИСКИ И МЕРЫ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138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Пять управляемых рисков; критические точки — тариф на электроэнергию и график собственного участия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02920" y="1444752"/>
            <a:ext cx="8138160" cy="566928"/>
          </a:xfrm>
          <a:prstGeom prst="roundRect">
            <a:avLst>
              <a:gd name="adj" fmla="val 9677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621792" y="1536192"/>
            <a:ext cx="384048" cy="384048"/>
          </a:xfrm>
          <a:prstGeom prst="ellipse">
            <a:avLst/>
          </a:prstGeom>
          <a:solidFill>
            <a:srgbClr val="C4772F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6" name="Image 0" descr="assets/icons/file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804" y="1632204"/>
            <a:ext cx="192024" cy="19202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33856" y="1444752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ПСД / госэкспертиза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2761488" y="1600200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C4772F"/>
          </a:solidFill>
          <a:ln/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2761488" y="160020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Средний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3703320" y="1444752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88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Сдвиг сроков экспертизы</a:t>
            </a:r>
            <a:endParaRPr lang="en-US" sz="880" dirty="0"/>
          </a:p>
        </p:txBody>
      </p:sp>
      <p:sp>
        <p:nvSpPr>
          <p:cNvPr id="11" name="Text 8"/>
          <p:cNvSpPr/>
          <p:nvPr/>
        </p:nvSpPr>
        <p:spPr>
          <a:xfrm>
            <a:off x="5669280" y="1444752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Митигация:  </a:t>
            </a:r>
            <a:r>
              <a:rPr lang="en-US" sz="85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Приоритизация адаптации, ранняя подача, буфер в графике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502920" y="2057400"/>
            <a:ext cx="813816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3" name="Shape 10"/>
          <p:cNvSpPr/>
          <p:nvPr/>
        </p:nvSpPr>
        <p:spPr>
          <a:xfrm>
            <a:off x="621792" y="2148840"/>
            <a:ext cx="384048" cy="384048"/>
          </a:xfrm>
          <a:prstGeom prst="ellipse">
            <a:avLst/>
          </a:prstGeom>
          <a:solidFill>
            <a:srgbClr val="B4432E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14" name="Image 1" descr="assets/icons/bolt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804" y="2244852"/>
            <a:ext cx="192024" cy="192024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133856" y="2057400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Тариф на электроэнергию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2761488" y="2212848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C4772F"/>
          </a:solidFill>
          <a:ln/>
        </p:spPr>
        <p:txBody>
          <a:bodyPr/>
          <a:p/>
        </p:txBody>
      </p:sp>
      <p:sp>
        <p:nvSpPr>
          <p:cNvPr id="17" name="Text 13"/>
          <p:cNvSpPr/>
          <p:nvPr/>
        </p:nvSpPr>
        <p:spPr>
          <a:xfrm>
            <a:off x="2761488" y="221284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Средний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3703320" y="205740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88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Банк. гарантия раскрыта, тариф не закреплён</a:t>
            </a:r>
            <a:endParaRPr lang="en-US" sz="880" dirty="0"/>
          </a:p>
        </p:txBody>
      </p:sp>
      <p:sp>
        <p:nvSpPr>
          <p:cNvPr id="19" name="Text 15"/>
          <p:cNvSpPr/>
          <p:nvPr/>
        </p:nvSpPr>
        <p:spPr>
          <a:xfrm>
            <a:off x="5669280" y="2057400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Митигация:  </a:t>
            </a:r>
            <a:r>
              <a:rPr lang="en-US" sz="85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Определить маршрут: восстановление / повторный аукцион / альт. модель</a:t>
            </a:r>
            <a:endParaRPr lang="en-US" sz="850" dirty="0"/>
          </a:p>
        </p:txBody>
      </p:sp>
      <p:sp>
        <p:nvSpPr>
          <p:cNvPr id="20" name="Shape 16"/>
          <p:cNvSpPr/>
          <p:nvPr/>
        </p:nvSpPr>
        <p:spPr>
          <a:xfrm>
            <a:off x="502920" y="2670048"/>
            <a:ext cx="8138160" cy="566928"/>
          </a:xfrm>
          <a:prstGeom prst="roundRect">
            <a:avLst>
              <a:gd name="adj" fmla="val 9677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1" name="Shape 17"/>
          <p:cNvSpPr/>
          <p:nvPr/>
        </p:nvSpPr>
        <p:spPr>
          <a:xfrm>
            <a:off x="621792" y="2761488"/>
            <a:ext cx="384048" cy="384048"/>
          </a:xfrm>
          <a:prstGeom prst="ellipse">
            <a:avLst/>
          </a:prstGeom>
          <a:solidFill>
            <a:srgbClr val="B4432E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22" name="Image 2" descr="assets/icons/money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804" y="2857500"/>
            <a:ext cx="192024" cy="192024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1133856" y="2670048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Финансирование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2761488" y="2825496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C4772F"/>
          </a:solidFill>
          <a:ln/>
        </p:spPr>
        <p:txBody>
          <a:bodyPr/>
          <a:lstStyle/>
          <a:p>
            <a:endParaRPr lang="ru-KZ" dirty="0"/>
          </a:p>
        </p:txBody>
      </p:sp>
      <p:sp>
        <p:nvSpPr>
          <p:cNvPr id="25" name="Text 20"/>
          <p:cNvSpPr/>
          <p:nvPr/>
        </p:nvSpPr>
        <p:spPr>
          <a:xfrm>
            <a:off x="2761488" y="282549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Средний</a:t>
            </a:r>
            <a:endParaRPr lang="en-US" sz="800" dirty="0"/>
          </a:p>
        </p:txBody>
      </p:sp>
      <p:sp>
        <p:nvSpPr>
          <p:cNvPr id="26" name="Text 21"/>
          <p:cNvSpPr/>
          <p:nvPr/>
        </p:nvSpPr>
        <p:spPr>
          <a:xfrm>
            <a:off x="3703320" y="2670048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88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Недобор собственного участия, условия банков</a:t>
            </a:r>
            <a:endParaRPr lang="en-US" sz="880" dirty="0"/>
          </a:p>
        </p:txBody>
      </p:sp>
      <p:sp>
        <p:nvSpPr>
          <p:cNvPr id="27" name="Text 22"/>
          <p:cNvSpPr/>
          <p:nvPr/>
        </p:nvSpPr>
        <p:spPr>
          <a:xfrm>
            <a:off x="5669280" y="2670048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Митигация:  </a:t>
            </a:r>
            <a:r>
              <a:rPr lang="en-US" sz="85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Структура проектной компании, гарантия БРК, синхронизация графика взносов</a:t>
            </a:r>
            <a:endParaRPr lang="en-US" sz="850" dirty="0"/>
          </a:p>
        </p:txBody>
      </p:sp>
      <p:sp>
        <p:nvSpPr>
          <p:cNvPr id="28" name="Shape 23"/>
          <p:cNvSpPr/>
          <p:nvPr/>
        </p:nvSpPr>
        <p:spPr>
          <a:xfrm>
            <a:off x="502920" y="3282696"/>
            <a:ext cx="813816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9" name="Shape 24"/>
          <p:cNvSpPr/>
          <p:nvPr/>
        </p:nvSpPr>
        <p:spPr>
          <a:xfrm>
            <a:off x="621792" y="3374136"/>
            <a:ext cx="384048" cy="384048"/>
          </a:xfrm>
          <a:prstGeom prst="ellipse">
            <a:avLst/>
          </a:prstGeom>
          <a:solidFill>
            <a:srgbClr val="C4772F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30" name="Image 3" descr="assets/icons/handshake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7804" y="3470148"/>
            <a:ext cx="192024" cy="192024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1133856" y="3282696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Сбыт</a:t>
            </a:r>
            <a:endParaRPr lang="en-US" sz="1100" dirty="0"/>
          </a:p>
        </p:txBody>
      </p:sp>
      <p:sp>
        <p:nvSpPr>
          <p:cNvPr id="32" name="Shape 26"/>
          <p:cNvSpPr/>
          <p:nvPr/>
        </p:nvSpPr>
        <p:spPr>
          <a:xfrm>
            <a:off x="2761488" y="3438144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C4772F"/>
          </a:solidFill>
          <a:ln/>
        </p:spPr>
        <p:txBody>
          <a:bodyPr/>
          <a:p/>
        </p:txBody>
      </p:sp>
      <p:sp>
        <p:nvSpPr>
          <p:cNvPr id="33" name="Text 27"/>
          <p:cNvSpPr/>
          <p:nvPr/>
        </p:nvSpPr>
        <p:spPr>
          <a:xfrm>
            <a:off x="2761488" y="343814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Средний</a:t>
            </a:r>
            <a:endParaRPr lang="en-US" sz="800" dirty="0"/>
          </a:p>
        </p:txBody>
      </p:sp>
      <p:sp>
        <p:nvSpPr>
          <p:cNvPr id="34" name="Text 28"/>
          <p:cNvSpPr/>
          <p:nvPr/>
        </p:nvSpPr>
        <p:spPr>
          <a:xfrm>
            <a:off x="3703320" y="3282696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88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Отсутствие твёрдых договоров</a:t>
            </a:r>
            <a:endParaRPr lang="en-US" sz="880" dirty="0"/>
          </a:p>
        </p:txBody>
      </p:sp>
      <p:sp>
        <p:nvSpPr>
          <p:cNvPr id="35" name="Text 29"/>
          <p:cNvSpPr/>
          <p:nvPr/>
        </p:nvSpPr>
        <p:spPr>
          <a:xfrm>
            <a:off x="5669280" y="3282696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Митигация:  </a:t>
            </a:r>
            <a:r>
              <a:rPr lang="en-US" sz="85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Перевод в предварительные соглашения до финансового закрытия</a:t>
            </a:r>
            <a:endParaRPr lang="en-US" sz="850" dirty="0"/>
          </a:p>
        </p:txBody>
      </p:sp>
      <p:sp>
        <p:nvSpPr>
          <p:cNvPr id="36" name="Shape 30"/>
          <p:cNvSpPr/>
          <p:nvPr/>
        </p:nvSpPr>
        <p:spPr>
          <a:xfrm>
            <a:off x="502920" y="3895344"/>
            <a:ext cx="8138160" cy="566928"/>
          </a:xfrm>
          <a:prstGeom prst="roundRect">
            <a:avLst>
              <a:gd name="adj" fmla="val 9677"/>
            </a:avLst>
          </a:prstGeom>
          <a:solidFill>
            <a:srgbClr val="F2F5F8"/>
          </a:solidFill>
          <a:ln w="12700">
            <a:solidFill>
              <a:srgbClr val="DCE3E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37" name="Shape 31"/>
          <p:cNvSpPr/>
          <p:nvPr/>
        </p:nvSpPr>
        <p:spPr>
          <a:xfrm>
            <a:off x="621792" y="3986784"/>
            <a:ext cx="384048" cy="384048"/>
          </a:xfrm>
          <a:prstGeom prst="ellipse">
            <a:avLst/>
          </a:prstGeom>
          <a:solidFill>
            <a:srgbClr val="C4772F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38" name="Image 4" descr="assets/icons/scale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7804" y="4082796"/>
            <a:ext cx="192024" cy="192024"/>
          </a:xfrm>
          <a:prstGeom prst="rect">
            <a:avLst/>
          </a:prstGeom>
        </p:spPr>
      </p:pic>
      <p:sp>
        <p:nvSpPr>
          <p:cNvPr id="39" name="Text 32"/>
          <p:cNvSpPr/>
          <p:nvPr/>
        </p:nvSpPr>
        <p:spPr>
          <a:xfrm>
            <a:off x="1133856" y="3895344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Собственное участие</a:t>
            </a:r>
            <a:endParaRPr lang="en-US" sz="1100" dirty="0"/>
          </a:p>
        </p:txBody>
      </p:sp>
      <p:sp>
        <p:nvSpPr>
          <p:cNvPr id="40" name="Shape 33"/>
          <p:cNvSpPr/>
          <p:nvPr/>
        </p:nvSpPr>
        <p:spPr>
          <a:xfrm>
            <a:off x="2761488" y="4050792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C4772F"/>
          </a:solidFill>
          <a:ln/>
        </p:spPr>
        <p:txBody>
          <a:bodyPr/>
          <a:p/>
        </p:txBody>
      </p:sp>
      <p:sp>
        <p:nvSpPr>
          <p:cNvPr id="41" name="Text 34"/>
          <p:cNvSpPr/>
          <p:nvPr/>
        </p:nvSpPr>
        <p:spPr>
          <a:xfrm>
            <a:off x="2761488" y="405079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Средний</a:t>
            </a:r>
            <a:endParaRPr lang="en-US" sz="800" dirty="0"/>
          </a:p>
        </p:txBody>
      </p:sp>
      <p:sp>
        <p:nvSpPr>
          <p:cNvPr id="42" name="Text 35"/>
          <p:cNvSpPr/>
          <p:nvPr/>
        </p:nvSpPr>
        <p:spPr>
          <a:xfrm>
            <a:off x="3703320" y="3895344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88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Ограниченность собственного участия</a:t>
            </a:r>
            <a:endParaRPr lang="en-US" sz="880" dirty="0"/>
          </a:p>
        </p:txBody>
      </p:sp>
      <p:sp>
        <p:nvSpPr>
          <p:cNvPr id="43" name="Text 36"/>
          <p:cNvSpPr/>
          <p:nvPr/>
        </p:nvSpPr>
        <p:spPr>
          <a:xfrm>
            <a:off x="5669280" y="3895344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Митигация:  </a:t>
            </a:r>
            <a:r>
              <a:rPr lang="en-US" sz="850" dirty="0">
                <a:solidFill>
                  <a:srgbClr val="2A37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Утверждённый лимит собственного участия, структурированный заём акционеров</a:t>
            </a:r>
            <a:endParaRPr lang="en-US" sz="850" dirty="0"/>
          </a:p>
        </p:txBody>
      </p:sp>
      <p:sp>
        <p:nvSpPr>
          <p:cNvPr id="44" name="Text 37"/>
          <p:cNvSpPr/>
          <p:nvPr/>
        </p:nvSpPr>
        <p:spPr>
          <a:xfrm>
            <a:off x="502920" y="4828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KazBioFert</a:t>
            </a:r>
            <a:r>
              <a:rPr lang="en-US" sz="8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BBFF  ·  Совет директоров</a:t>
            </a:r>
            <a:endParaRPr lang="en-US" sz="850" dirty="0"/>
          </a:p>
        </p:txBody>
      </p:sp>
      <p:sp>
        <p:nvSpPr>
          <p:cNvPr id="45" name="Text 38"/>
          <p:cNvSpPr/>
          <p:nvPr/>
        </p:nvSpPr>
        <p:spPr>
          <a:xfrm>
            <a:off x="4572000" y="48280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РИСКИ</a:t>
            </a:r>
            <a:endParaRPr lang="en-US" sz="800" dirty="0"/>
          </a:p>
        </p:txBody>
      </p:sp>
      <p:sp>
        <p:nvSpPr>
          <p:cNvPr id="46" name="Text 39"/>
          <p:cNvSpPr/>
          <p:nvPr/>
        </p:nvSpPr>
        <p:spPr>
          <a:xfrm>
            <a:off x="827532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329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E0A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UPSIDE OPPORTUNITY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Японский углеродный грант (механизм JCM) — дополнительный, а не базовый источник финансирования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02920" y="1554480"/>
            <a:ext cx="3200400" cy="2331720"/>
          </a:xfrm>
          <a:prstGeom prst="roundRect">
            <a:avLst>
              <a:gd name="adj" fmla="val 3922"/>
            </a:avLst>
          </a:prstGeom>
          <a:solidFill>
            <a:srgbClr val="0C1D38"/>
          </a:solidFill>
          <a:ln w="12700">
            <a:solidFill>
              <a:srgbClr val="1E4536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31520" y="1783080"/>
            <a:ext cx="640080" cy="640080"/>
          </a:xfrm>
          <a:prstGeom prst="ellipse">
            <a:avLst/>
          </a:prstGeom>
          <a:solidFill>
            <a:srgbClr val="C4772F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6" name="Image 0" descr="assets/icons/glob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540" y="1943100"/>
            <a:ext cx="320040" cy="3200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25146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0A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 ~1,3 млрд ¥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658368" y="303580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до ~8 млн долл. США потенциального гранта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58368" y="3456432"/>
            <a:ext cx="1600200" cy="292608"/>
          </a:xfrm>
          <a:prstGeom prst="roundRect">
            <a:avLst>
              <a:gd name="adj" fmla="val 43750"/>
            </a:avLst>
          </a:prstGeom>
          <a:solidFill>
            <a:srgbClr val="C4772F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658368" y="3456432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ТРЕБУЕТ ПОДТВЕРЖДЕНИЯ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4023360" y="1572768"/>
            <a:ext cx="457200" cy="45720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12" name="Image 1" descr="assets/icons/leaf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37660" y="1687068"/>
            <a:ext cx="228600" cy="2286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608576" y="153619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Механизм JCM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4608576" y="1810512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900" dirty="0">
                <a:solidFill>
                  <a:srgbClr val="AEC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Совместный механизм кредитования — японский инструмент углеродных единиц</a:t>
            </a:r>
            <a:endParaRPr lang="en-US" sz="900" dirty="0"/>
          </a:p>
        </p:txBody>
      </p:sp>
      <p:sp>
        <p:nvSpPr>
          <p:cNvPr id="15" name="Shape 11"/>
          <p:cNvSpPr/>
          <p:nvPr/>
        </p:nvSpPr>
        <p:spPr>
          <a:xfrm>
            <a:off x="4023360" y="2194560"/>
            <a:ext cx="457200" cy="45720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16" name="Image 2" descr="assets/icons/recycle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37660" y="2308860"/>
            <a:ext cx="228600" cy="22860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4608576" y="215798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Снижение метана</a:t>
            </a:r>
            <a:endParaRPr lang="en-US" sz="1200" dirty="0"/>
          </a:p>
        </p:txBody>
      </p:sp>
      <p:sp>
        <p:nvSpPr>
          <p:cNvPr id="18" name="Text 13"/>
          <p:cNvSpPr/>
          <p:nvPr/>
        </p:nvSpPr>
        <p:spPr>
          <a:xfrm>
            <a:off x="4608576" y="2432304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900" dirty="0">
                <a:solidFill>
                  <a:srgbClr val="AEC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Сокращение выбросов метана как основа для углеродных единиц</a:t>
            </a:r>
            <a:endParaRPr lang="en-US" sz="900" dirty="0"/>
          </a:p>
        </p:txBody>
      </p:sp>
      <p:sp>
        <p:nvSpPr>
          <p:cNvPr id="19" name="Shape 14"/>
          <p:cNvSpPr/>
          <p:nvPr/>
        </p:nvSpPr>
        <p:spPr>
          <a:xfrm>
            <a:off x="4023360" y="2816352"/>
            <a:ext cx="457200" cy="45720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20" name="Image 3" descr="assets/icons/coins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37660" y="2930652"/>
            <a:ext cx="228600" cy="22860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4608576" y="2779776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Углеродная выручка</a:t>
            </a:r>
            <a:endParaRPr lang="en-US" sz="1200" dirty="0"/>
          </a:p>
        </p:txBody>
      </p:sp>
      <p:sp>
        <p:nvSpPr>
          <p:cNvPr id="22" name="Text 16"/>
          <p:cNvSpPr/>
          <p:nvPr/>
        </p:nvSpPr>
        <p:spPr>
          <a:xfrm>
            <a:off x="4608576" y="3054096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900" dirty="0">
                <a:solidFill>
                  <a:srgbClr val="AEC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Возможная уступка углеродных поступлений в пользу проекта</a:t>
            </a:r>
            <a:endParaRPr lang="en-US" sz="900" dirty="0"/>
          </a:p>
        </p:txBody>
      </p:sp>
      <p:sp>
        <p:nvSpPr>
          <p:cNvPr id="23" name="Shape 17"/>
          <p:cNvSpPr/>
          <p:nvPr/>
        </p:nvSpPr>
        <p:spPr>
          <a:xfrm>
            <a:off x="4023360" y="3438144"/>
            <a:ext cx="457200" cy="457200"/>
          </a:xfrm>
          <a:prstGeom prst="ellipse">
            <a:avLst/>
          </a:prstGeom>
          <a:solidFill>
            <a:srgbClr val="2F6690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pic>
        <p:nvPicPr>
          <p:cNvPr id="24" name="Image 4" descr="assets/icons/shield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37660" y="3552444"/>
            <a:ext cx="228600" cy="228600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4608576" y="340156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Позиционирование</a:t>
            </a:r>
            <a:endParaRPr lang="en-US" sz="1200" dirty="0"/>
          </a:p>
        </p:txBody>
      </p:sp>
      <p:sp>
        <p:nvSpPr>
          <p:cNvPr id="26" name="Text 19"/>
          <p:cNvSpPr/>
          <p:nvPr/>
        </p:nvSpPr>
        <p:spPr>
          <a:xfrm>
            <a:off x="4608576" y="3675888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900" dirty="0">
                <a:solidFill>
                  <a:srgbClr val="AEC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Показывать как доп. возможность к базовой структуре, не закладывать в расчёт долга</a:t>
            </a:r>
            <a:endParaRPr lang="en-US" sz="900" dirty="0"/>
          </a:p>
        </p:txBody>
      </p:sp>
      <p:sp>
        <p:nvSpPr>
          <p:cNvPr id="27" name="Text 20"/>
          <p:cNvSpPr/>
          <p:nvPr/>
        </p:nvSpPr>
        <p:spPr>
          <a:xfrm>
            <a:off x="502920" y="416052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8FB3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Цифры гранта требуют подтверждения материалами и японской стороной (предварительно).</a:t>
            </a:r>
            <a:endParaRPr lang="en-US" sz="900" dirty="0"/>
          </a:p>
        </p:txBody>
      </p:sp>
      <p:sp>
        <p:nvSpPr>
          <p:cNvPr id="28" name="Text 21"/>
          <p:cNvSpPr/>
          <p:nvPr/>
        </p:nvSpPr>
        <p:spPr>
          <a:xfrm>
            <a:off x="502920" y="48280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2F6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KazBioFert</a:t>
            </a:r>
            <a:r>
              <a:rPr lang="en-US" sz="8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BBFF  ·  Совет директоров</a:t>
            </a:r>
            <a:endParaRPr lang="en-US" sz="850" dirty="0"/>
          </a:p>
        </p:txBody>
      </p:sp>
      <p:sp>
        <p:nvSpPr>
          <p:cNvPr id="29" name="Text 22"/>
          <p:cNvSpPr/>
          <p:nvPr/>
        </p:nvSpPr>
        <p:spPr>
          <a:xfrm>
            <a:off x="4572000" y="48280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ГРАНТ JCM</a:t>
            </a:r>
            <a:endParaRPr lang="en-US" sz="800" dirty="0"/>
          </a:p>
        </p:txBody>
      </p:sp>
      <p:sp>
        <p:nvSpPr>
          <p:cNvPr id="30" name="Text 23"/>
          <p:cNvSpPr/>
          <p:nvPr/>
        </p:nvSpPr>
        <p:spPr>
          <a:xfrm>
            <a:off x="827532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2344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KazBioFert / BBFF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192024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AEC8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Благодарим за внимание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3931920" y="2514600"/>
            <a:ext cx="1280160" cy="0"/>
          </a:xfrm>
          <a:prstGeom prst="line">
            <a:avLst/>
          </a:prstGeom>
          <a:noFill/>
          <a:ln w="19050">
            <a:solidFill>
              <a:srgbClr val="C4772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48640" y="26974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CF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Совет директоров Kusto Group  ·  9 июля 2026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3035808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9FB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г. Житикара, Костанайская область, Казахстан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9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69000" y="0"/>
            <a:ext cx="3175000" cy="5143500"/>
          </a:xfrm>
          <a:prstGeom prst="rect">
            <a:avLst/>
          </a:prstGeom>
          <a:solidFill>
            <a:srgbClr val="0C1D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5969000" y="0"/>
            <a:ext cx="0" cy="5143500"/>
          </a:xfrm>
          <a:prstGeom prst="line">
            <a:avLst/>
          </a:prstGeom>
          <a:ln w="12700">
            <a:solidFill>
              <a:srgbClr val="243A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711200" y="1168400"/>
            <a:ext cx="381000" cy="38100"/>
          </a:xfrm>
          <a:prstGeom prst="rect">
            <a:avLst/>
          </a:prstGeom>
          <a:solidFill>
            <a:srgbClr val="E0A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1200" y="1270000"/>
            <a:ext cx="635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 spc="240">
                <a:solidFill>
                  <a:srgbClr val="E0A46A"/>
                </a:solidFill>
                <a:latin typeface="Calibri"/>
              </a:rPr>
              <a:t>MARKET INTELLIGENCE  ·  РАЗДЕЛ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600200"/>
            <a:ext cx="6604000" cy="584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4000" b="1">
                <a:solidFill>
                  <a:srgbClr val="FFFFFF"/>
                </a:solidFill>
                <a:latin typeface="Arial"/>
              </a:rPr>
              <a:t>АНАЛИЗ РЫНКА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59000"/>
            <a:ext cx="6604000" cy="584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4000" b="1">
                <a:solidFill>
                  <a:srgbClr val="FFFFFF"/>
                </a:solidFill>
                <a:latin typeface="Arial"/>
              </a:rPr>
              <a:t>УДОБРЕНИЙ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1200" y="2870200"/>
            <a:ext cx="5080000" cy="25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</a:pPr>
            <a:r>
              <a:rPr sz="1150" b="0">
                <a:solidFill>
                  <a:srgbClr val="AEC8DE"/>
                </a:solidFill>
                <a:latin typeface="Calibri"/>
              </a:rPr>
              <a:t>Мировой рынок · Казахстан · Ценовое позиционирование ОМУ · Инвестиционный тезис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1200" y="3327400"/>
            <a:ext cx="2997200" cy="279400"/>
          </a:xfrm>
          <a:prstGeom prst="roundRect">
            <a:avLst>
              <a:gd name="adj" fmla="val 50000"/>
            </a:avLst>
          </a:prstGeom>
          <a:solidFill>
            <a:srgbClr val="0C1D38"/>
          </a:solidFill>
          <a:ln w="12700">
            <a:solidFill>
              <a:srgbClr val="3552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1200" y="3340100"/>
            <a:ext cx="29972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900" b="1">
                <a:solidFill>
                  <a:srgbClr val="E0A46A"/>
                </a:solidFill>
                <a:latin typeface="Calibri"/>
              </a:rPr>
              <a:t>Данные актуализированы на 30.06.2026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1200" y="3835400"/>
            <a:ext cx="2489200" cy="711200"/>
          </a:xfrm>
          <a:prstGeom prst="roundRect">
            <a:avLst>
              <a:gd name="adj" fmla="val 10000"/>
            </a:avLst>
          </a:prstGeom>
          <a:solidFill>
            <a:srgbClr val="0C1D38"/>
          </a:solidFill>
          <a:ln w="12700">
            <a:solidFill>
              <a:srgbClr val="243A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6600" y="3898900"/>
            <a:ext cx="38100" cy="584200"/>
          </a:xfrm>
          <a:prstGeom prst="rect">
            <a:avLst/>
          </a:prstGeom>
          <a:solidFill>
            <a:srgbClr val="E0A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9000" y="3911600"/>
            <a:ext cx="2209800" cy="3048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400" b="1">
                <a:solidFill>
                  <a:srgbClr val="E0A46A"/>
                </a:solidFill>
                <a:latin typeface="Arial"/>
              </a:rPr>
              <a:t>208</a:t>
            </a:r>
            <a:r>
              <a:rPr sz="1050" b="1">
                <a:solidFill>
                  <a:srgbClr val="AEC8DE"/>
                </a:solidFill>
                <a:latin typeface="Calibri"/>
              </a:rPr>
              <a:t> млн 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9000" y="4216400"/>
            <a:ext cx="21844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60" b="0">
                <a:solidFill>
                  <a:srgbClr val="AEC8DE"/>
                </a:solidFill>
                <a:latin typeface="Calibri"/>
              </a:rPr>
              <a:t>мировой спрос на NPK (пит. в-ва), 2025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27400" y="3835400"/>
            <a:ext cx="2489200" cy="711200"/>
          </a:xfrm>
          <a:prstGeom prst="roundRect">
            <a:avLst>
              <a:gd name="adj" fmla="val 10000"/>
            </a:avLst>
          </a:prstGeom>
          <a:solidFill>
            <a:srgbClr val="0C1D38"/>
          </a:solidFill>
          <a:ln w="12700">
            <a:solidFill>
              <a:srgbClr val="243A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52800" y="3898900"/>
            <a:ext cx="38100" cy="584200"/>
          </a:xfrm>
          <a:prstGeom prst="rect">
            <a:avLst/>
          </a:prstGeom>
          <a:solidFill>
            <a:srgbClr val="AEC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05200" y="3911600"/>
            <a:ext cx="2209800" cy="3048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400" b="1">
                <a:solidFill>
                  <a:srgbClr val="AEC8DE"/>
                </a:solidFill>
                <a:latin typeface="Arial"/>
              </a:rPr>
              <a:t>1,3</a:t>
            </a:r>
            <a:r>
              <a:rPr sz="1050" b="1">
                <a:solidFill>
                  <a:srgbClr val="AEC8DE"/>
                </a:solidFill>
                <a:latin typeface="Calibri"/>
              </a:rPr>
              <a:t> млн 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5200" y="4216400"/>
            <a:ext cx="21844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60" b="0">
                <a:solidFill>
                  <a:srgbClr val="AEC8DE"/>
                </a:solidFill>
                <a:latin typeface="Calibri"/>
              </a:rPr>
              <a:t>ёмкость рынка удобрений РК, 2025 (+19% г/г)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0" y="3835400"/>
            <a:ext cx="2692400" cy="711200"/>
          </a:xfrm>
          <a:prstGeom prst="roundRect">
            <a:avLst>
              <a:gd name="adj" fmla="val 10000"/>
            </a:avLst>
          </a:prstGeom>
          <a:solidFill>
            <a:srgbClr val="0C1D38"/>
          </a:solidFill>
          <a:ln w="12700">
            <a:solidFill>
              <a:srgbClr val="243A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969000" y="3898900"/>
            <a:ext cx="38100" cy="584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1400" y="3911600"/>
            <a:ext cx="2413000" cy="3048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400" b="1">
                <a:solidFill>
                  <a:srgbClr val="FFFFFF"/>
                </a:solidFill>
                <a:latin typeface="Arial"/>
              </a:rPr>
              <a:t>≈52%</a:t>
            </a:r>
            <a:r>
              <a:rPr sz="1050" b="1">
                <a:solidFill>
                  <a:srgbClr val="AEC8DE"/>
                </a:solidFill>
                <a:latin typeface="Calibri"/>
              </a:rPr>
              <a:t/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1400" y="4216400"/>
            <a:ext cx="23876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60" b="0">
                <a:solidFill>
                  <a:srgbClr val="AEC8DE"/>
                </a:solidFill>
                <a:latin typeface="Calibri"/>
              </a:rPr>
              <a:t>валовая маржа ОМУ · $233 себест. → $487 цена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08000" y="4749800"/>
            <a:ext cx="8140700" cy="0"/>
          </a:xfrm>
          <a:prstGeom prst="line">
            <a:avLst/>
          </a:prstGeom>
          <a:ln w="9525">
            <a:solidFill>
              <a:srgbClr val="2A3D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08000" y="48260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1">
                <a:solidFill>
                  <a:srgbClr val="AEC8DE"/>
                </a:solidFill>
                <a:latin typeface="Calibri"/>
              </a:rPr>
              <a:t>KazBioFert / BBFF</a:t>
            </a:r>
            <a:r>
              <a:rPr sz="850" b="0">
                <a:solidFill>
                  <a:srgbClr val="8A9AAD"/>
                </a:solidFill>
                <a:latin typeface="Calibri"/>
              </a:rPr>
              <a:t>  ·  Совет директоров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10000" y="4826000"/>
            <a:ext cx="4445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800" b="0" spc="80">
                <a:solidFill>
                  <a:srgbClr val="8A9AAD"/>
                </a:solidFill>
                <a:latin typeface="Calibri"/>
              </a:rPr>
              <a:t>АНАЛИЗ РЫНКА · РАЗДЕЛ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80400" y="4826000"/>
            <a:ext cx="3683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1">
                <a:solidFill>
                  <a:srgbClr val="8A9AA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8000" y="330200"/>
            <a:ext cx="81407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 spc="140">
                <a:solidFill>
                  <a:srgbClr val="C4772F"/>
                </a:solidFill>
                <a:latin typeface="Calibri"/>
              </a:rPr>
              <a:t>МИРОВОЙ РЫНОК УДОБРЕНИЙ  ·  IFA / WORLD BANK,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8000" y="584200"/>
            <a:ext cx="822960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100" b="1">
                <a:solidFill>
                  <a:srgbClr val="13294B"/>
                </a:solidFill>
                <a:latin typeface="Arial"/>
              </a:rPr>
              <a:t>Мировое предложение удобрений превышает спрос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8000" y="9271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536272"/>
                </a:solidFill>
                <a:latin typeface="Calibri"/>
              </a:rPr>
              <a:t>Спрос ≈ 208 млн т питательных веществ (N+P+K) в 2025; рост 1–2%/год до ~224 млн т к 2029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8000" y="1231900"/>
            <a:ext cx="8140700" cy="0"/>
          </a:xfrm>
          <a:prstGeom prst="line">
            <a:avLst/>
          </a:prstGeom>
          <a:ln w="9525">
            <a:solidFill>
              <a:srgbClr val="DCE3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508000" y="1346200"/>
            <a:ext cx="4978400" cy="2362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E3EB"/>
            </a:solidFill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473200"/>
            <a:ext cx="4572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50" b="1">
                <a:solidFill>
                  <a:srgbClr val="13294B"/>
                </a:solidFill>
                <a:latin typeface="Calibri"/>
              </a:rPr>
              <a:t>Мировой баланс, млн т питательных веществ (N+P₂O₅+K₂O)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584200" y="1701800"/>
          <a:ext cx="4826000" cy="1905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613400" y="1346200"/>
            <a:ext cx="3022600" cy="1092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3EB"/>
            </a:solidFill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91200" y="1460500"/>
            <a:ext cx="2667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50" b="1">
                <a:solidFill>
                  <a:srgbClr val="13294B"/>
                </a:solidFill>
                <a:latin typeface="Calibri"/>
              </a:rPr>
              <a:t>Структура мирового спроса, 2025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91200" y="1739900"/>
            <a:ext cx="1493520" cy="254000"/>
          </a:xfrm>
          <a:prstGeom prst="rect">
            <a:avLst/>
          </a:prstGeom>
          <a:solidFill>
            <a:srgbClr val="2F66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91200" y="1739900"/>
            <a:ext cx="149352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850" b="1">
                <a:solidFill>
                  <a:srgbClr val="FFFFFF"/>
                </a:solidFill>
                <a:latin typeface="Calibri"/>
              </a:rPr>
              <a:t>56%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284720" y="1739900"/>
            <a:ext cx="613410" cy="254000"/>
          </a:xfrm>
          <a:prstGeom prst="rect">
            <a:avLst/>
          </a:prstGeom>
          <a:solidFill>
            <a:srgbClr val="E0A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84720" y="1739900"/>
            <a:ext cx="61341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850" b="1">
                <a:solidFill>
                  <a:srgbClr val="FFFFFF"/>
                </a:solidFill>
                <a:latin typeface="Calibri"/>
              </a:rPr>
              <a:t>23%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98130" y="1739900"/>
            <a:ext cx="560070" cy="254000"/>
          </a:xfrm>
          <a:prstGeom prst="rect">
            <a:avLst/>
          </a:prstGeom>
          <a:solidFill>
            <a:srgbClr val="6B7A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98130" y="1739900"/>
            <a:ext cx="56007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850" b="1">
                <a:solidFill>
                  <a:srgbClr val="FFFFFF"/>
                </a:solidFill>
                <a:latin typeface="Calibri"/>
              </a:rPr>
              <a:t>21%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91200" y="2082800"/>
            <a:ext cx="2717800" cy="25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1">
                <a:solidFill>
                  <a:srgbClr val="2F6690"/>
                </a:solidFill>
                <a:latin typeface="Calibri"/>
              </a:rPr>
              <a:t>■ </a:t>
            </a:r>
            <a:r>
              <a:rPr sz="830" b="0">
                <a:solidFill>
                  <a:srgbClr val="2A3746"/>
                </a:solidFill>
                <a:latin typeface="Calibri"/>
              </a:rPr>
              <a:t>Азот 116   </a:t>
            </a:r>
            <a:r>
              <a:rPr sz="900" b="1">
                <a:solidFill>
                  <a:srgbClr val="E0A46A"/>
                </a:solidFill>
                <a:latin typeface="Calibri"/>
              </a:rPr>
              <a:t>■ </a:t>
            </a:r>
            <a:r>
              <a:rPr sz="830" b="0">
                <a:solidFill>
                  <a:srgbClr val="2A3746"/>
                </a:solidFill>
                <a:latin typeface="Calibri"/>
              </a:rPr>
              <a:t>Фосфор 48   </a:t>
            </a:r>
            <a:r>
              <a:rPr sz="900" b="1">
                <a:solidFill>
                  <a:srgbClr val="6B7A8D"/>
                </a:solidFill>
                <a:latin typeface="Calibri"/>
              </a:rPr>
              <a:t>■ </a:t>
            </a:r>
            <a:r>
              <a:rPr sz="830" b="0">
                <a:solidFill>
                  <a:srgbClr val="2A3746"/>
                </a:solidFill>
                <a:latin typeface="Calibri"/>
              </a:rPr>
              <a:t>Калий 44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13400" y="2514600"/>
            <a:ext cx="3022600" cy="558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CE3EB"/>
            </a:solidFill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38800" y="2578100"/>
            <a:ext cx="38100" cy="431800"/>
          </a:xfrm>
          <a:prstGeom prst="rect">
            <a:avLst/>
          </a:prstGeom>
          <a:solidFill>
            <a:srgbClr val="2F66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91200" y="2590800"/>
            <a:ext cx="2743200" cy="3048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000" b="1">
                <a:solidFill>
                  <a:srgbClr val="2F6690"/>
                </a:solidFill>
                <a:latin typeface="Arial"/>
              </a:rPr>
              <a:t>204→208</a:t>
            </a:r>
            <a:r>
              <a:rPr sz="1050" b="1">
                <a:solidFill>
                  <a:srgbClr val="6B7A8D"/>
                </a:solidFill>
                <a:latin typeface="Calibri"/>
              </a:rPr>
              <a:t> млн 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91200" y="2895600"/>
            <a:ext cx="27178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60" b="0">
                <a:solidFill>
                  <a:srgbClr val="2A3746"/>
                </a:solidFill>
                <a:latin typeface="Calibri"/>
              </a:rPr>
              <a:t>мировое потребление, 2024→2025 (рекорд)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13400" y="3136900"/>
            <a:ext cx="3022600" cy="558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CE3EB"/>
            </a:solidFill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38800" y="3200400"/>
            <a:ext cx="38100" cy="431800"/>
          </a:xfrm>
          <a:prstGeom prst="rect">
            <a:avLst/>
          </a:prstGeom>
          <a:solidFill>
            <a:srgbClr val="C47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91200" y="3213100"/>
            <a:ext cx="2743200" cy="3048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200" b="1">
                <a:solidFill>
                  <a:srgbClr val="C4772F"/>
                </a:solidFill>
                <a:latin typeface="Arial"/>
              </a:rPr>
              <a:t>+1–2%</a:t>
            </a:r>
            <a:r>
              <a:rPr sz="1050" b="1">
                <a:solidFill>
                  <a:srgbClr val="6B7A8D"/>
                </a:solidFill>
                <a:latin typeface="Calibri"/>
              </a:rPr>
              <a:t> /год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91200" y="3517900"/>
            <a:ext cx="27178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60" b="0">
                <a:solidFill>
                  <a:srgbClr val="2A3746"/>
                </a:solidFill>
                <a:latin typeface="Calibri"/>
              </a:rPr>
              <a:t>прогноз роста спроса до 224 млн т к 2029 (IFA)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8000" y="3860800"/>
            <a:ext cx="8128000" cy="558800"/>
          </a:xfrm>
          <a:prstGeom prst="roundRect">
            <a:avLst>
              <a:gd name="adj" fmla="val 6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1200" y="3860800"/>
            <a:ext cx="7747000" cy="55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50" b="1">
                <a:solidFill>
                  <a:srgbClr val="E0A46A"/>
                </a:solidFill>
                <a:latin typeface="Calibri"/>
              </a:rPr>
              <a:t>ЦЕНЫ 06.2026:  </a:t>
            </a:r>
            <a:r>
              <a:rPr sz="950" b="0">
                <a:solidFill>
                  <a:srgbClr val="FFFFFF"/>
                </a:solidFill>
                <a:latin typeface="Calibri"/>
              </a:rPr>
              <a:t>карбамид ≈ $700/т, DAP ≈ $720/т (+60–80% с начала года) — рост от перебоев через Ормузский пролив, а не от дефицита; локальное сырьё защищает маржу ОМУ. Ослабление ожидается в 2027 (World Bank).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8000" y="4572000"/>
            <a:ext cx="80264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700" b="0">
                <a:solidFill>
                  <a:srgbClr val="9AA6B3"/>
                </a:solidFill>
                <a:latin typeface="Calibri"/>
              </a:rPr>
              <a:t>Источники: IFA Medium-Term Fertilizer Outlook 2025–2029; World Bank Commodity Markets, 06.2026. Основа: питательные вещества (N+P₂O₅+K₂O).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08000" y="4749800"/>
            <a:ext cx="8140700" cy="0"/>
          </a:xfrm>
          <a:prstGeom prst="line">
            <a:avLst/>
          </a:prstGeom>
          <a:ln w="9525">
            <a:solidFill>
              <a:srgbClr val="DCE3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08000" y="48260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1">
                <a:solidFill>
                  <a:srgbClr val="2F6690"/>
                </a:solidFill>
                <a:latin typeface="Calibri"/>
              </a:rPr>
              <a:t>KazBioFert / BBFF</a:t>
            </a:r>
            <a:r>
              <a:rPr sz="850" b="0">
                <a:solidFill>
                  <a:srgbClr val="6B7A8D"/>
                </a:solidFill>
                <a:latin typeface="Calibri"/>
              </a:rPr>
              <a:t>  ·  Совет директоров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10000" y="4826000"/>
            <a:ext cx="4445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800" b="0" spc="80">
                <a:solidFill>
                  <a:srgbClr val="6B7A8D"/>
                </a:solidFill>
                <a:latin typeface="Calibri"/>
              </a:rPr>
              <a:t>АНАЛИЗ РЫНКА · МИРОВОЙ РЫНОК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80400" y="4826000"/>
            <a:ext cx="3683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1">
                <a:solidFill>
                  <a:srgbClr val="6B7A8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8000" y="330200"/>
            <a:ext cx="81407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 spc="140">
                <a:solidFill>
                  <a:srgbClr val="C4772F"/>
                </a:solidFill>
                <a:latin typeface="Calibri"/>
              </a:rPr>
              <a:t>РЫНОК КАЗАХСТАНА  ·  БНС РК / ENERGYPROM, 2025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8000" y="584200"/>
            <a:ext cx="822960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100" b="1">
                <a:solidFill>
                  <a:srgbClr val="13294B"/>
                </a:solidFill>
                <a:latin typeface="Arial"/>
              </a:rPr>
              <a:t>Казахстан — импортозависимый и недоудобренный рынок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8000" y="9271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536272"/>
                </a:solidFill>
                <a:latin typeface="Calibri"/>
              </a:rPr>
              <a:t>Ёмкость ≈ 1,3 млн т в 2025 (+19% г/г); внесение 4–5 кг/га против агрономической нормы 80–100 кг/га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8000" y="1231900"/>
            <a:ext cx="8140700" cy="0"/>
          </a:xfrm>
          <a:prstGeom prst="line">
            <a:avLst/>
          </a:prstGeom>
          <a:ln w="9525">
            <a:solidFill>
              <a:srgbClr val="DCE3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508000" y="1346200"/>
            <a:ext cx="4978400" cy="2362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E3EB"/>
            </a:solidFill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460500"/>
            <a:ext cx="4572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50" b="1">
                <a:solidFill>
                  <a:srgbClr val="13294B"/>
                </a:solidFill>
                <a:latin typeface="Calibri"/>
              </a:rPr>
              <a:t>Внесение удобрений, кг действ. в-ва на га пашни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75000" y="1473200"/>
            <a:ext cx="22352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800" b="1">
                <a:solidFill>
                  <a:srgbClr val="C4772F"/>
                </a:solidFill>
                <a:latin typeface="Calibri"/>
              </a:rPr>
              <a:t>агронорма 80–100 кг/га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84200" y="1752600"/>
          <a:ext cx="4826000" cy="1854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613400" y="1346200"/>
            <a:ext cx="3022600" cy="558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CE3EB"/>
            </a:solidFill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38800" y="1409700"/>
            <a:ext cx="38100" cy="431800"/>
          </a:xfrm>
          <a:prstGeom prst="rect">
            <a:avLst/>
          </a:prstGeom>
          <a:solidFill>
            <a:srgbClr val="2F66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91200" y="1422400"/>
            <a:ext cx="2743200" cy="3048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200" b="1">
                <a:solidFill>
                  <a:srgbClr val="2F6690"/>
                </a:solidFill>
                <a:latin typeface="Arial"/>
              </a:rPr>
              <a:t>1,3</a:t>
            </a:r>
            <a:r>
              <a:rPr sz="1050" b="1">
                <a:solidFill>
                  <a:srgbClr val="6B7A8D"/>
                </a:solidFill>
                <a:latin typeface="Calibri"/>
              </a:rPr>
              <a:t> млн 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91200" y="1727200"/>
            <a:ext cx="27178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60" b="0">
                <a:solidFill>
                  <a:srgbClr val="2A3746"/>
                </a:solidFill>
                <a:latin typeface="Calibri"/>
              </a:rPr>
              <a:t>ёмкость рынка РК, 2025 (+19% г/г)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13400" y="1955800"/>
            <a:ext cx="3022600" cy="558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CE3EB"/>
            </a:solidFill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38800" y="2019300"/>
            <a:ext cx="38100" cy="431800"/>
          </a:xfrm>
          <a:prstGeom prst="rect">
            <a:avLst/>
          </a:prstGeom>
          <a:solidFill>
            <a:srgbClr val="C47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91200" y="2032000"/>
            <a:ext cx="2743200" cy="3048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200" b="1">
                <a:solidFill>
                  <a:srgbClr val="C4772F"/>
                </a:solidFill>
                <a:latin typeface="Arial"/>
              </a:rPr>
              <a:t>43,6%</a:t>
            </a:r>
            <a:r>
              <a:rPr sz="1050" b="1">
                <a:solidFill>
                  <a:srgbClr val="6B7A8D"/>
                </a:solidFill>
                <a:latin typeface="Calibri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91200" y="2336800"/>
            <a:ext cx="27178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60" b="0">
                <a:solidFill>
                  <a:srgbClr val="2A3746"/>
                </a:solidFill>
                <a:latin typeface="Calibri"/>
              </a:rPr>
              <a:t>самообеспеченность по азоту (фосфор — 98,5%)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13400" y="2565400"/>
            <a:ext cx="3022600" cy="558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CE3EB"/>
            </a:solidFill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38800" y="2628900"/>
            <a:ext cx="38100" cy="431800"/>
          </a:xfrm>
          <a:prstGeom prst="rect">
            <a:avLst/>
          </a:prstGeom>
          <a:solidFill>
            <a:srgbClr val="2F66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91200" y="2641600"/>
            <a:ext cx="2743200" cy="3048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200" b="1">
                <a:solidFill>
                  <a:srgbClr val="2F6690"/>
                </a:solidFill>
                <a:latin typeface="Arial"/>
              </a:rPr>
              <a:t>≈ 6%</a:t>
            </a:r>
            <a:r>
              <a:rPr sz="1050" b="1">
                <a:solidFill>
                  <a:srgbClr val="6B7A8D"/>
                </a:solidFill>
                <a:latin typeface="Calibri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91200" y="2946400"/>
            <a:ext cx="27178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60" b="0">
                <a:solidFill>
                  <a:srgbClr val="2A3746"/>
                </a:solidFill>
                <a:latin typeface="Calibri"/>
              </a:rPr>
              <a:t>доля завода (80 тыс т ОМУ) в потреблении РК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13400" y="3175000"/>
            <a:ext cx="3022600" cy="533400"/>
          </a:xfrm>
          <a:prstGeom prst="roundRect">
            <a:avLst>
              <a:gd name="adj" fmla="val 10000"/>
            </a:avLst>
          </a:prstGeom>
          <a:solidFill>
            <a:srgbClr val="F4F6F9"/>
          </a:solidFill>
          <a:ln w="12700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65800" y="3238500"/>
            <a:ext cx="2717800" cy="139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740" b="1" spc="50">
                <a:solidFill>
                  <a:srgbClr val="6B7A8D"/>
                </a:solidFill>
                <a:latin typeface="Calibri"/>
              </a:rPr>
              <a:t>СТРУКТУРА ИМПОРТА (стоимость)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65800" y="3429000"/>
            <a:ext cx="2717800" cy="25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1">
                <a:solidFill>
                  <a:srgbClr val="13294B"/>
                </a:solidFill>
                <a:latin typeface="Calibri"/>
              </a:rPr>
              <a:t>Россия </a:t>
            </a:r>
            <a:r>
              <a:rPr sz="1000" b="1">
                <a:solidFill>
                  <a:srgbClr val="2F6690"/>
                </a:solidFill>
                <a:latin typeface="Calibri"/>
              </a:rPr>
              <a:t>73%</a:t>
            </a:r>
            <a:r>
              <a:rPr sz="1000" b="0">
                <a:solidFill>
                  <a:srgbClr val="2A3746"/>
                </a:solidFill>
                <a:latin typeface="Calibri"/>
              </a:rPr>
              <a:t>    ·    Узбекистан </a:t>
            </a:r>
            <a:r>
              <a:rPr sz="1000" b="1">
                <a:solidFill>
                  <a:srgbClr val="2F6690"/>
                </a:solidFill>
                <a:latin typeface="Calibri"/>
              </a:rPr>
              <a:t>11%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8000" y="3860800"/>
            <a:ext cx="8128000" cy="558800"/>
          </a:xfrm>
          <a:prstGeom prst="roundRect">
            <a:avLst>
              <a:gd name="adj" fmla="val 6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1200" y="3860800"/>
            <a:ext cx="7747000" cy="55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50" b="1">
                <a:solidFill>
                  <a:srgbClr val="E0A46A"/>
                </a:solidFill>
                <a:latin typeface="Calibri"/>
              </a:rPr>
              <a:t>ИМПОРТОЗАМЕЩЕНИЕ:  </a:t>
            </a:r>
            <a:r>
              <a:rPr sz="950" b="0">
                <a:solidFill>
                  <a:srgbClr val="FFFFFF"/>
                </a:solidFill>
                <a:latin typeface="Calibri"/>
              </a:rPr>
              <a:t>внесение в 15–20× ниже нормы и рост импорта (552 → 700 тыс т за 2023–2025) формируют структурный, растущий спрос на доступные ОМУ; завод (80 тыс т) закрывает ≈ 11% импорта РК.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8000" y="4572000"/>
            <a:ext cx="80264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700" b="0">
                <a:solidFill>
                  <a:srgbClr val="9AA6B3"/>
                </a:solidFill>
                <a:latin typeface="Calibri"/>
              </a:rPr>
              <a:t>Источники: Бюро нацстатистики РК; EnergyProm / ElDala, 2025; FAO, World Bank (внесение). Показатели — товарный тоннаж.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08000" y="4749800"/>
            <a:ext cx="8140700" cy="0"/>
          </a:xfrm>
          <a:prstGeom prst="line">
            <a:avLst/>
          </a:prstGeom>
          <a:ln w="9525">
            <a:solidFill>
              <a:srgbClr val="DCE3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08000" y="48260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1">
                <a:solidFill>
                  <a:srgbClr val="2F6690"/>
                </a:solidFill>
                <a:latin typeface="Calibri"/>
              </a:rPr>
              <a:t>KazBioFert / BBFF</a:t>
            </a:r>
            <a:r>
              <a:rPr sz="850" b="0">
                <a:solidFill>
                  <a:srgbClr val="6B7A8D"/>
                </a:solidFill>
                <a:latin typeface="Calibri"/>
              </a:rPr>
              <a:t>  ·  Совет директоров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10000" y="4826000"/>
            <a:ext cx="4445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800" b="0" spc="80">
                <a:solidFill>
                  <a:srgbClr val="6B7A8D"/>
                </a:solidFill>
                <a:latin typeface="Calibri"/>
              </a:rPr>
              <a:t>АНАЛИЗ РЫНКА · КАЗАХСТАН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80400" y="4826000"/>
            <a:ext cx="3683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1">
                <a:solidFill>
                  <a:srgbClr val="6B7A8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8000" y="330200"/>
            <a:ext cx="81407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 spc="140">
                <a:solidFill>
                  <a:srgbClr val="C4772F"/>
                </a:solidFill>
                <a:latin typeface="Calibri"/>
              </a:rPr>
              <a:t>ЦЕНОВОЕ ПОЗИЦИОНИРОВАНИЕ  ·  ЭКОНОМИКА ОМУ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8000" y="584200"/>
            <a:ext cx="822960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100" b="1">
                <a:solidFill>
                  <a:srgbClr val="13294B"/>
                </a:solidFill>
                <a:latin typeface="Arial"/>
              </a:rPr>
              <a:t>Цена ОМУ $487/т ниже импортного паритета $630/т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8000" y="9271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536272"/>
                </a:solidFill>
                <a:latin typeface="Calibri"/>
              </a:rPr>
              <a:t>Цена реализации по фин. модели $487/т; себестоимость $233/т (сырьё $194 + производство $39); валовая маржа ≈ 52%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8000" y="1231900"/>
            <a:ext cx="8140700" cy="0"/>
          </a:xfrm>
          <a:prstGeom prst="line">
            <a:avLst/>
          </a:prstGeom>
          <a:ln w="9525">
            <a:solidFill>
              <a:srgbClr val="DCE3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508000" y="1346200"/>
            <a:ext cx="2946400" cy="2362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E3EB"/>
            </a:solidFill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460500"/>
            <a:ext cx="2540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50" b="1">
                <a:solidFill>
                  <a:srgbClr val="13294B"/>
                </a:solidFill>
                <a:latin typeface="Calibri"/>
              </a:rPr>
              <a:t>Экономика 1 т ОМУ, $/т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7400" y="2865361"/>
            <a:ext cx="533400" cy="563638"/>
          </a:xfrm>
          <a:prstGeom prst="roundRect">
            <a:avLst>
              <a:gd name="adj" fmla="val 4000"/>
            </a:avLst>
          </a:prstGeom>
          <a:solidFill>
            <a:srgbClr val="5B8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1200" y="2662161"/>
            <a:ext cx="6858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950" b="1">
                <a:solidFill>
                  <a:srgbClr val="5B8C6E"/>
                </a:solidFill>
                <a:latin typeface="Calibri"/>
              </a:rPr>
              <a:t>$233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1200" y="3467100"/>
            <a:ext cx="6858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780" b="0">
                <a:solidFill>
                  <a:srgbClr val="6B7A8D"/>
                </a:solidFill>
                <a:latin typeface="Calibri"/>
              </a:rPr>
              <a:t>Себест.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524000" y="2250923"/>
            <a:ext cx="533400" cy="1178076"/>
          </a:xfrm>
          <a:prstGeom prst="roundRect">
            <a:avLst>
              <a:gd name="adj" fmla="val 4000"/>
            </a:avLst>
          </a:prstGeom>
          <a:solidFill>
            <a:srgbClr val="2F66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47800" y="2047723"/>
            <a:ext cx="6858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950" b="1">
                <a:solidFill>
                  <a:srgbClr val="2F6690"/>
                </a:solidFill>
                <a:latin typeface="Calibri"/>
              </a:rPr>
              <a:t>$487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7800" y="3467100"/>
            <a:ext cx="6858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780" b="0">
                <a:solidFill>
                  <a:srgbClr val="6B7A8D"/>
                </a:solidFill>
                <a:latin typeface="Calibri"/>
              </a:rPr>
              <a:t>Цена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60600" y="1905000"/>
            <a:ext cx="533400" cy="1524000"/>
          </a:xfrm>
          <a:prstGeom prst="roundRect">
            <a:avLst>
              <a:gd name="adj" fmla="val 4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84400" y="1701800"/>
            <a:ext cx="6858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950" b="1">
                <a:solidFill>
                  <a:srgbClr val="13294B"/>
                </a:solidFill>
                <a:latin typeface="Calibri"/>
              </a:rPr>
              <a:t>$630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84400" y="3467100"/>
            <a:ext cx="6858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780" b="0">
                <a:solidFill>
                  <a:srgbClr val="6B7A8D"/>
                </a:solidFill>
                <a:latin typeface="Calibri"/>
              </a:rPr>
              <a:t>Импорт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3429000"/>
            <a:ext cx="2540000" cy="0"/>
          </a:xfrm>
          <a:prstGeom prst="line">
            <a:avLst/>
          </a:prstGeom>
          <a:ln w="9525">
            <a:solidFill>
              <a:srgbClr val="DCE3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3556000" y="1346200"/>
            <a:ext cx="1905000" cy="2362200"/>
          </a:xfrm>
          <a:prstGeom prst="roundRect">
            <a:avLst>
              <a:gd name="adj" fmla="val 5000"/>
            </a:avLst>
          </a:prstGeom>
          <a:solidFill>
            <a:srgbClr val="13294B"/>
          </a:solidFill>
          <a:ln>
            <a:noFill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08400" y="1651000"/>
            <a:ext cx="1600200" cy="431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>
                <a:solidFill>
                  <a:srgbClr val="E0A46A"/>
                </a:solidFill>
                <a:latin typeface="Arial"/>
              </a:rPr>
              <a:t>≈52%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21100" y="2108200"/>
            <a:ext cx="16002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1">
                <a:solidFill>
                  <a:srgbClr val="FFFFFF"/>
                </a:solidFill>
                <a:latin typeface="Calibri"/>
              </a:rPr>
              <a:t>валовая маржа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21100" y="2311400"/>
            <a:ext cx="16002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0">
                <a:solidFill>
                  <a:srgbClr val="AEC8DE"/>
                </a:solidFill>
                <a:latin typeface="Calibri"/>
              </a:rPr>
              <a:t>$254 на тонну ОМУ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721100" y="2641600"/>
            <a:ext cx="1498600" cy="0"/>
          </a:xfrm>
          <a:prstGeom prst="line">
            <a:avLst/>
          </a:prstGeom>
          <a:ln w="9525">
            <a:solidFill>
              <a:srgbClr val="35527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3708400" y="2794000"/>
            <a:ext cx="1600200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200" b="1">
                <a:solidFill>
                  <a:srgbClr val="E0A46A"/>
                </a:solidFill>
                <a:latin typeface="Arial"/>
              </a:rPr>
              <a:t>−23%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21100" y="3175000"/>
            <a:ext cx="16002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50" b="0">
                <a:solidFill>
                  <a:srgbClr val="AEC8DE"/>
                </a:solidFill>
                <a:latin typeface="Calibri"/>
              </a:rPr>
              <a:t>к цене импортного
комплексного аналога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588000" y="1346200"/>
            <a:ext cx="3048000" cy="2362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E3EB"/>
            </a:solidFill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40400" y="1447800"/>
            <a:ext cx="2794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840" b="1" spc="50">
                <a:solidFill>
                  <a:srgbClr val="6B7A8D"/>
                </a:solidFill>
                <a:latin typeface="Calibri"/>
              </a:rPr>
              <a:t>ЦЕНЫ КОНКУРЕНТОВ, $/т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5715000" y="1676400"/>
          <a:ext cx="2794000" cy="18415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168400"/>
                <a:gridCol w="685800"/>
                <a:gridCol w="508000"/>
                <a:gridCol w="431800"/>
              </a:tblGrid>
              <a:tr h="368300">
                <a:tc>
                  <a:txBody>
                    <a:bodyPr/>
                    <a:lstStyle/>
                    <a:p>
                      <a:pPr algn="l"/>
                      <a:r>
                        <a:rPr sz="830" b="1">
                          <a:solidFill>
                            <a:srgbClr val="FFFFFF"/>
                          </a:solidFill>
                          <a:latin typeface="Calibri"/>
                        </a:rPr>
                        <a:t>Продукт</a:t>
                      </a:r>
                    </a:p>
                  </a:txBody>
                  <a:tcPr marL="50800" marR="38100" marT="0" marB="0" anchor="ctr">
                    <a:solidFill>
                      <a:srgbClr val="13294B"/>
                    </a:solidFill>
                    <a:lnB w="9525" cap="flat">
                      <a:solidFill>
                        <a:srgbClr val="355274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30" b="1">
                          <a:solidFill>
                            <a:srgbClr val="FFFFFF"/>
                          </a:solidFill>
                          <a:latin typeface="Calibri"/>
                        </a:rPr>
                        <a:t>NPK</a:t>
                      </a:r>
                    </a:p>
                  </a:txBody>
                  <a:tcPr marL="50800" marR="38100" marT="0" marB="0" anchor="ctr">
                    <a:solidFill>
                      <a:srgbClr val="13294B"/>
                    </a:solidFill>
                    <a:lnB w="9525" cap="flat">
                      <a:solidFill>
                        <a:srgbClr val="355274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30" b="1">
                          <a:solidFill>
                            <a:srgbClr val="FFFFFF"/>
                          </a:solidFill>
                          <a:latin typeface="Calibri"/>
                        </a:rPr>
                        <a:t>Kusto</a:t>
                      </a:r>
                    </a:p>
                  </a:txBody>
                  <a:tcPr marL="50800" marR="38100" marT="0" marB="0" anchor="ctr">
                    <a:solidFill>
                      <a:srgbClr val="13294B"/>
                    </a:solidFill>
                    <a:lnB w="9525" cap="flat">
                      <a:solidFill>
                        <a:srgbClr val="355274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30" b="1">
                          <a:solidFill>
                            <a:srgbClr val="FFFFFF"/>
                          </a:solidFill>
                          <a:latin typeface="Calibri"/>
                        </a:rPr>
                        <a:t>Alem</a:t>
                      </a:r>
                    </a:p>
                  </a:txBody>
                  <a:tcPr marL="50800" marR="38100" marT="0" marB="0" anchor="ctr">
                    <a:solidFill>
                      <a:srgbClr val="13294B"/>
                    </a:solidFill>
                    <a:lnB w="9525" cap="flat">
                      <a:solidFill>
                        <a:srgbClr val="355274"/>
                      </a:solidFill>
                    </a:lnB>
                  </a:tcPr>
                </a:tc>
              </a:tr>
              <a:tr h="368300">
                <a:tc>
                  <a:txBody>
                    <a:bodyPr/>
                    <a:lstStyle/>
                    <a:p>
                      <a:pPr algn="l"/>
                      <a:r>
                        <a:rPr sz="840" b="1">
                          <a:solidFill>
                            <a:srgbClr val="2A3746"/>
                          </a:solidFill>
                          <a:latin typeface="Calibri"/>
                        </a:rPr>
                        <a:t>Карбамид</a:t>
                      </a:r>
                    </a:p>
                  </a:txBody>
                  <a:tcPr marL="50800" marR="38100" marT="0" marB="0" anchor="ctr">
                    <a:solidFill>
                      <a:srgbClr val="FFFFFF"/>
                    </a:solidFill>
                    <a:lnB w="9525" cap="flat">
                      <a:solidFill>
                        <a:srgbClr val="DCE3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40" b="0">
                          <a:solidFill>
                            <a:srgbClr val="2A3746"/>
                          </a:solidFill>
                          <a:latin typeface="Calibri"/>
                        </a:rPr>
                        <a:t>N 56</a:t>
                      </a:r>
                    </a:p>
                  </a:txBody>
                  <a:tcPr marL="50800" marR="38100" marT="0" marB="0" anchor="ctr">
                    <a:solidFill>
                      <a:srgbClr val="FFFFFF"/>
                    </a:solidFill>
                    <a:lnB w="9525" cap="flat">
                      <a:solidFill>
                        <a:srgbClr val="DCE3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1">
                          <a:solidFill>
                            <a:srgbClr val="2F6690"/>
                          </a:solidFill>
                          <a:latin typeface="Calibri"/>
                        </a:rPr>
                        <a:t>441</a:t>
                      </a:r>
                    </a:p>
                  </a:txBody>
                  <a:tcPr marL="50800" marR="38100" marT="0" marB="0" anchor="ctr">
                    <a:solidFill>
                      <a:srgbClr val="FFFFFF"/>
                    </a:solidFill>
                    <a:lnB w="9525" cap="flat">
                      <a:solidFill>
                        <a:srgbClr val="DCE3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1">
                          <a:solidFill>
                            <a:srgbClr val="2F6690"/>
                          </a:solidFill>
                          <a:latin typeface="Calibri"/>
                        </a:rPr>
                        <a:t>467</a:t>
                      </a:r>
                    </a:p>
                  </a:txBody>
                  <a:tcPr marL="50800" marR="38100" marT="0" marB="0" anchor="ctr">
                    <a:solidFill>
                      <a:srgbClr val="FFFFFF"/>
                    </a:solidFill>
                    <a:lnB w="9525" cap="flat">
                      <a:solidFill>
                        <a:srgbClr val="DCE3EB"/>
                      </a:solidFill>
                    </a:lnB>
                  </a:tcPr>
                </a:tc>
              </a:tr>
              <a:tr h="368300">
                <a:tc>
                  <a:txBody>
                    <a:bodyPr/>
                    <a:lstStyle/>
                    <a:p>
                      <a:pPr algn="l"/>
                      <a:r>
                        <a:rPr sz="840" b="1">
                          <a:solidFill>
                            <a:srgbClr val="2A3746"/>
                          </a:solidFill>
                          <a:latin typeface="Calibri"/>
                        </a:rPr>
                        <a:t>Аммофос</a:t>
                      </a:r>
                    </a:p>
                  </a:txBody>
                  <a:tcPr marL="50800" marR="38100" marT="0" marB="0" anchor="ctr">
                    <a:solidFill>
                      <a:srgbClr val="F4F6F9"/>
                    </a:solidFill>
                    <a:lnB w="9525" cap="flat">
                      <a:solidFill>
                        <a:srgbClr val="DCE3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40" b="0">
                          <a:solidFill>
                            <a:srgbClr val="2A3746"/>
                          </a:solidFill>
                          <a:latin typeface="Calibri"/>
                        </a:rPr>
                        <a:t>P 52</a:t>
                      </a:r>
                    </a:p>
                  </a:txBody>
                  <a:tcPr marL="50800" marR="38100" marT="0" marB="0" anchor="ctr">
                    <a:solidFill>
                      <a:srgbClr val="F4F6F9"/>
                    </a:solidFill>
                    <a:lnB w="9525" cap="flat">
                      <a:solidFill>
                        <a:srgbClr val="DCE3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1">
                          <a:solidFill>
                            <a:srgbClr val="2F6690"/>
                          </a:solidFill>
                          <a:latin typeface="Calibri"/>
                        </a:rPr>
                        <a:t>475</a:t>
                      </a:r>
                    </a:p>
                  </a:txBody>
                  <a:tcPr marL="50800" marR="38100" marT="0" marB="0" anchor="ctr">
                    <a:solidFill>
                      <a:srgbClr val="F4F6F9"/>
                    </a:solidFill>
                    <a:lnB w="9525" cap="flat">
                      <a:solidFill>
                        <a:srgbClr val="DCE3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1">
                          <a:solidFill>
                            <a:srgbClr val="2F6690"/>
                          </a:solidFill>
                          <a:latin typeface="Calibri"/>
                        </a:rPr>
                        <a:t>823</a:t>
                      </a:r>
                    </a:p>
                  </a:txBody>
                  <a:tcPr marL="50800" marR="38100" marT="0" marB="0" anchor="ctr">
                    <a:solidFill>
                      <a:srgbClr val="F4F6F9"/>
                    </a:solidFill>
                    <a:lnB w="9525" cap="flat">
                      <a:solidFill>
                        <a:srgbClr val="DCE3EB"/>
                      </a:solidFill>
                    </a:lnB>
                  </a:tcPr>
                </a:tc>
              </a:tr>
              <a:tr h="368300">
                <a:tc>
                  <a:txBody>
                    <a:bodyPr/>
                    <a:lstStyle/>
                    <a:p>
                      <a:pPr algn="l"/>
                      <a:r>
                        <a:rPr sz="840" b="1">
                          <a:solidFill>
                            <a:srgbClr val="2A3746"/>
                          </a:solidFill>
                          <a:latin typeface="Calibri"/>
                        </a:rPr>
                        <a:t>Сульфоаммофос</a:t>
                      </a:r>
                    </a:p>
                  </a:txBody>
                  <a:tcPr marL="50800" marR="38100" marT="0" marB="0" anchor="ctr">
                    <a:solidFill>
                      <a:srgbClr val="FFFFFF"/>
                    </a:solidFill>
                    <a:lnB w="9525" cap="flat">
                      <a:solidFill>
                        <a:srgbClr val="DCE3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40" b="0">
                          <a:solidFill>
                            <a:srgbClr val="2A3746"/>
                          </a:solidFill>
                          <a:latin typeface="Calibri"/>
                        </a:rPr>
                        <a:t>20-20-14S</a:t>
                      </a:r>
                    </a:p>
                  </a:txBody>
                  <a:tcPr marL="50800" marR="38100" marT="0" marB="0" anchor="ctr">
                    <a:solidFill>
                      <a:srgbClr val="FFFFFF"/>
                    </a:solidFill>
                    <a:lnB w="9525" cap="flat">
                      <a:solidFill>
                        <a:srgbClr val="DCE3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1">
                          <a:solidFill>
                            <a:srgbClr val="2F6690"/>
                          </a:solidFill>
                          <a:latin typeface="Calibri"/>
                        </a:rPr>
                        <a:t>492</a:t>
                      </a:r>
                    </a:p>
                  </a:txBody>
                  <a:tcPr marL="50800" marR="38100" marT="0" marB="0" anchor="ctr">
                    <a:solidFill>
                      <a:srgbClr val="FFFFFF"/>
                    </a:solidFill>
                    <a:lnB w="9525" cap="flat">
                      <a:solidFill>
                        <a:srgbClr val="DCE3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1">
                          <a:solidFill>
                            <a:srgbClr val="2F6690"/>
                          </a:solidFill>
                          <a:latin typeface="Calibri"/>
                        </a:rPr>
                        <a:t>584</a:t>
                      </a:r>
                    </a:p>
                  </a:txBody>
                  <a:tcPr marL="50800" marR="38100" marT="0" marB="0" anchor="ctr">
                    <a:solidFill>
                      <a:srgbClr val="FFFFFF"/>
                    </a:solidFill>
                    <a:lnB w="9525" cap="flat">
                      <a:solidFill>
                        <a:srgbClr val="DCE3EB"/>
                      </a:solidFill>
                    </a:lnB>
                  </a:tcPr>
                </a:tc>
              </a:tr>
              <a:tr h="368300">
                <a:tc>
                  <a:txBody>
                    <a:bodyPr/>
                    <a:lstStyle/>
                    <a:p>
                      <a:pPr algn="l"/>
                      <a:r>
                        <a:rPr sz="840" b="1">
                          <a:solidFill>
                            <a:srgbClr val="2A3746"/>
                          </a:solidFill>
                          <a:latin typeface="Calibri"/>
                        </a:rPr>
                        <a:t>Аммиачная селитра</a:t>
                      </a:r>
                    </a:p>
                  </a:txBody>
                  <a:tcPr marL="50800" marR="38100" marT="0" marB="0" anchor="ctr">
                    <a:solidFill>
                      <a:srgbClr val="F4F6F9"/>
                    </a:solidFill>
                    <a:lnB w="9525" cap="flat">
                      <a:solidFill>
                        <a:srgbClr val="DCE3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40" b="0">
                          <a:solidFill>
                            <a:srgbClr val="2A3746"/>
                          </a:solidFill>
                          <a:latin typeface="Calibri"/>
                        </a:rPr>
                        <a:t>N 34</a:t>
                      </a:r>
                    </a:p>
                  </a:txBody>
                  <a:tcPr marL="50800" marR="38100" marT="0" marB="0" anchor="ctr">
                    <a:solidFill>
                      <a:srgbClr val="F4F6F9"/>
                    </a:solidFill>
                    <a:lnB w="9525" cap="flat">
                      <a:solidFill>
                        <a:srgbClr val="DCE3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1">
                          <a:solidFill>
                            <a:srgbClr val="2F6690"/>
                          </a:solidFill>
                          <a:latin typeface="Calibri"/>
                        </a:rPr>
                        <a:t>303</a:t>
                      </a:r>
                    </a:p>
                  </a:txBody>
                  <a:tcPr marL="50800" marR="38100" marT="0" marB="0" anchor="ctr">
                    <a:solidFill>
                      <a:srgbClr val="F4F6F9"/>
                    </a:solidFill>
                    <a:lnB w="9525" cap="flat">
                      <a:solidFill>
                        <a:srgbClr val="DCE3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40" b="1">
                          <a:solidFill>
                            <a:srgbClr val="2F6690"/>
                          </a:solidFill>
                          <a:latin typeface="Calibri"/>
                        </a:rPr>
                        <a:t>343</a:t>
                      </a:r>
                    </a:p>
                  </a:txBody>
                  <a:tcPr marL="50800" marR="38100" marT="0" marB="0" anchor="ctr">
                    <a:solidFill>
                      <a:srgbClr val="F4F6F9"/>
                    </a:solidFill>
                    <a:lnB w="9525" cap="flat">
                      <a:solidFill>
                        <a:srgbClr val="DCE3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8" name="Rounded Rectangle 27"/>
          <p:cNvSpPr/>
          <p:nvPr/>
        </p:nvSpPr>
        <p:spPr>
          <a:xfrm>
            <a:off x="508000" y="3860800"/>
            <a:ext cx="8128000" cy="558800"/>
          </a:xfrm>
          <a:prstGeom prst="roundRect">
            <a:avLst>
              <a:gd name="adj" fmla="val 6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1200" y="3860800"/>
            <a:ext cx="7747000" cy="55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50" b="1">
                <a:solidFill>
                  <a:srgbClr val="E0A46A"/>
                </a:solidFill>
                <a:latin typeface="Calibri"/>
              </a:rPr>
              <a:t>ПРЕИМУЩЕСТВО:  </a:t>
            </a:r>
            <a:r>
              <a:rPr sz="950" b="0">
                <a:solidFill>
                  <a:srgbClr val="FFFFFF"/>
                </a:solidFill>
                <a:latin typeface="Calibri"/>
              </a:rPr>
              <a:t>ОМУ на ≈ 23% дешевле импортных комплексных удобрений (~$630/т) при эффективности питательных веществ 1:3 (ФАО) и локальном сырье — устойчивая юнит-экономика независимо от глобальных цен.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8000" y="4572000"/>
            <a:ext cx="80264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700" b="0">
                <a:solidFill>
                  <a:srgbClr val="9AA6B3"/>
                </a:solidFill>
                <a:latin typeface="Calibri"/>
              </a:rPr>
              <a:t>Цена реализации — по фин. модели FEM v11.5 ($487/т, к выходу ≈57% валовой маржи); рыночная средняя ≈$450/т; импорт ~$630/т (World Bank, 06.2026); эффективность 1:3 (ФАО).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08000" y="4749800"/>
            <a:ext cx="8140700" cy="0"/>
          </a:xfrm>
          <a:prstGeom prst="line">
            <a:avLst/>
          </a:prstGeom>
          <a:ln w="9525">
            <a:solidFill>
              <a:srgbClr val="DCE3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08000" y="48260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1">
                <a:solidFill>
                  <a:srgbClr val="2F6690"/>
                </a:solidFill>
                <a:latin typeface="Calibri"/>
              </a:rPr>
              <a:t>KazBioFert / BBFF</a:t>
            </a:r>
            <a:r>
              <a:rPr sz="850" b="0">
                <a:solidFill>
                  <a:srgbClr val="6B7A8D"/>
                </a:solidFill>
                <a:latin typeface="Calibri"/>
              </a:rPr>
              <a:t>  ·  Совет директоров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10000" y="4826000"/>
            <a:ext cx="4445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800" b="0" spc="80">
                <a:solidFill>
                  <a:srgbClr val="6B7A8D"/>
                </a:solidFill>
                <a:latin typeface="Calibri"/>
              </a:rPr>
              <a:t>АНАЛИЗ РЫНКА · ЦЕНЫ И ЭКОНОМИКА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80400" y="4826000"/>
            <a:ext cx="3683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1">
                <a:solidFill>
                  <a:srgbClr val="6B7A8D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9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8000" y="330200"/>
            <a:ext cx="81407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 spc="140">
                <a:solidFill>
                  <a:srgbClr val="E0A46A"/>
                </a:solidFill>
                <a:latin typeface="Calibri"/>
              </a:rPr>
              <a:t>ИНВЕСТИЦИОННЫЙ ТЕЗИС  ·  MARKET →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8000" y="584200"/>
            <a:ext cx="822960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100" b="1">
                <a:solidFill>
                  <a:srgbClr val="FFFFFF"/>
                </a:solidFill>
                <a:latin typeface="Arial"/>
              </a:rPr>
              <a:t>Рынок конвертируется в защищённую выручку проекта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8000" y="9271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AEC8DE"/>
                </a:solidFill>
                <a:latin typeface="Calibri"/>
              </a:rPr>
              <a:t>Импортозамещение + ценовое преимущество + локальное сырьё = устойчивая маржинальная выручка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8000" y="1231900"/>
            <a:ext cx="8140700" cy="0"/>
          </a:xfrm>
          <a:prstGeom prst="line">
            <a:avLst/>
          </a:prstGeom>
          <a:ln w="9525">
            <a:solidFill>
              <a:srgbClr val="2A3D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508000" y="1371600"/>
            <a:ext cx="1917700" cy="812800"/>
          </a:xfrm>
          <a:prstGeom prst="roundRect">
            <a:avLst>
              <a:gd name="adj" fmla="val 10000"/>
            </a:avLst>
          </a:prstGeom>
          <a:solidFill>
            <a:srgbClr val="0C1D38"/>
          </a:solidFill>
          <a:ln w="12700">
            <a:solidFill>
              <a:srgbClr val="243A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33400" y="1435100"/>
            <a:ext cx="38100" cy="685800"/>
          </a:xfrm>
          <a:prstGeom prst="rect">
            <a:avLst/>
          </a:prstGeom>
          <a:solidFill>
            <a:srgbClr val="E0A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447800"/>
            <a:ext cx="1638300" cy="3048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300" b="1">
                <a:solidFill>
                  <a:srgbClr val="E0A46A"/>
                </a:solidFill>
                <a:latin typeface="Arial"/>
              </a:rPr>
              <a:t>1,3</a:t>
            </a:r>
            <a:r>
              <a:rPr sz="1050" b="1">
                <a:solidFill>
                  <a:srgbClr val="AEC8DE"/>
                </a:solidFill>
                <a:latin typeface="Calibri"/>
              </a:rPr>
              <a:t> млн 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752600"/>
            <a:ext cx="1612900" cy="406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60" b="0">
                <a:solidFill>
                  <a:srgbClr val="AEC8DE"/>
                </a:solidFill>
                <a:latin typeface="Calibri"/>
              </a:rPr>
              <a:t>ёмкость рынка РК — адресный спрос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78100" y="1371600"/>
            <a:ext cx="1917700" cy="812800"/>
          </a:xfrm>
          <a:prstGeom prst="roundRect">
            <a:avLst>
              <a:gd name="adj" fmla="val 10000"/>
            </a:avLst>
          </a:prstGeom>
          <a:solidFill>
            <a:srgbClr val="0C1D38"/>
          </a:solidFill>
          <a:ln w="12700">
            <a:solidFill>
              <a:srgbClr val="243A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603500" y="1435100"/>
            <a:ext cx="38100" cy="685800"/>
          </a:xfrm>
          <a:prstGeom prst="rect">
            <a:avLst/>
          </a:prstGeom>
          <a:solidFill>
            <a:srgbClr val="AEC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55900" y="1447800"/>
            <a:ext cx="1638300" cy="3048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300" b="1">
                <a:solidFill>
                  <a:srgbClr val="AEC8DE"/>
                </a:solidFill>
                <a:latin typeface="Arial"/>
              </a:rPr>
              <a:t>≈11%</a:t>
            </a:r>
            <a:r>
              <a:rPr sz="1050" b="1">
                <a:solidFill>
                  <a:srgbClr val="AEC8DE"/>
                </a:solidFill>
                <a:latin typeface="Calibri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55900" y="1752600"/>
            <a:ext cx="1612900" cy="406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60" b="0">
                <a:solidFill>
                  <a:srgbClr val="AEC8DE"/>
                </a:solidFill>
                <a:latin typeface="Calibri"/>
              </a:rPr>
              <a:t>доля завода в импорте РК (80 тыс т)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48200" y="1371600"/>
            <a:ext cx="1917700" cy="812800"/>
          </a:xfrm>
          <a:prstGeom prst="roundRect">
            <a:avLst>
              <a:gd name="adj" fmla="val 10000"/>
            </a:avLst>
          </a:prstGeom>
          <a:solidFill>
            <a:srgbClr val="0C1D38"/>
          </a:solidFill>
          <a:ln w="12700">
            <a:solidFill>
              <a:srgbClr val="243A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673600" y="1435100"/>
            <a:ext cx="3810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26000" y="1447800"/>
            <a:ext cx="1638300" cy="3048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300" b="1">
                <a:solidFill>
                  <a:srgbClr val="FFFFFF"/>
                </a:solidFill>
                <a:latin typeface="Arial"/>
              </a:rPr>
              <a:t>≈24</a:t>
            </a:r>
            <a:r>
              <a:rPr sz="1050" b="1">
                <a:solidFill>
                  <a:srgbClr val="AEC8DE"/>
                </a:solidFill>
                <a:latin typeface="Calibri"/>
              </a:rPr>
              <a:t> млрд 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6000" y="1752600"/>
            <a:ext cx="1612900" cy="406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60" b="0">
                <a:solidFill>
                  <a:srgbClr val="AEC8DE"/>
                </a:solidFill>
                <a:latin typeface="Calibri"/>
              </a:rPr>
              <a:t>пиковая выручка (~$36 млн) — фин. модель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18300" y="1371600"/>
            <a:ext cx="1917700" cy="812800"/>
          </a:xfrm>
          <a:prstGeom prst="roundRect">
            <a:avLst>
              <a:gd name="adj" fmla="val 10000"/>
            </a:avLst>
          </a:prstGeom>
          <a:solidFill>
            <a:srgbClr val="0C1D38"/>
          </a:solidFill>
          <a:ln w="12700">
            <a:solidFill>
              <a:srgbClr val="243A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743700" y="1435100"/>
            <a:ext cx="38100" cy="685800"/>
          </a:xfrm>
          <a:prstGeom prst="rect">
            <a:avLst/>
          </a:prstGeom>
          <a:solidFill>
            <a:srgbClr val="E0A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96100" y="1447800"/>
            <a:ext cx="1638300" cy="3048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300" b="1">
                <a:solidFill>
                  <a:srgbClr val="E0A46A"/>
                </a:solidFill>
                <a:latin typeface="Arial"/>
              </a:rPr>
              <a:t>≈57%</a:t>
            </a:r>
            <a:r>
              <a:rPr sz="1050" b="1">
                <a:solidFill>
                  <a:srgbClr val="AEC8DE"/>
                </a:solidFill>
                <a:latin typeface="Calibri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96100" y="1752600"/>
            <a:ext cx="1612900" cy="406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860" b="0">
                <a:solidFill>
                  <a:srgbClr val="AEC8DE"/>
                </a:solidFill>
                <a:latin typeface="Calibri"/>
              </a:rPr>
              <a:t>валовая маржа на выходе (фин. модель)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8000" y="2362200"/>
            <a:ext cx="8128000" cy="1168400"/>
          </a:xfrm>
          <a:prstGeom prst="roundRect">
            <a:avLst>
              <a:gd name="adj" fmla="val 4000"/>
            </a:avLst>
          </a:prstGeom>
          <a:solidFill>
            <a:srgbClr val="0C1D38"/>
          </a:solidFill>
          <a:ln w="12700">
            <a:solidFill>
              <a:srgbClr val="243A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11200" y="2540000"/>
            <a:ext cx="63500" cy="63500"/>
          </a:xfrm>
          <a:prstGeom prst="rect">
            <a:avLst/>
          </a:prstGeom>
          <a:solidFill>
            <a:srgbClr val="E0A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9000" y="2489200"/>
            <a:ext cx="7569200" cy="279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</a:pPr>
            <a:r>
              <a:rPr sz="969" b="0">
                <a:solidFill>
                  <a:srgbClr val="D6E0EC"/>
                </a:solidFill>
                <a:latin typeface="Calibri"/>
              </a:rPr>
              <a:t>Импортозамещение — государственный приоритет: спрос структурный и растущий, не привязан к сырьевому суперциклу.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11200" y="2882900"/>
            <a:ext cx="63500" cy="63500"/>
          </a:xfrm>
          <a:prstGeom prst="rect">
            <a:avLst/>
          </a:prstGeom>
          <a:solidFill>
            <a:srgbClr val="E0A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89000" y="2832100"/>
            <a:ext cx="7569200" cy="279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</a:pPr>
            <a:r>
              <a:rPr sz="969" b="0">
                <a:solidFill>
                  <a:srgbClr val="D6E0EC"/>
                </a:solidFill>
                <a:latin typeface="Calibri"/>
              </a:rPr>
              <a:t>Ценовое преимущество: ОМУ на ≈ 23% дешевле импортных комплексных удобрений (~$630/т) при эффективности 1:3 (ФАО).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11200" y="3225800"/>
            <a:ext cx="63500" cy="63500"/>
          </a:xfrm>
          <a:prstGeom prst="rect">
            <a:avLst/>
          </a:prstGeom>
          <a:solidFill>
            <a:srgbClr val="E0A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9000" y="3175000"/>
            <a:ext cx="7569200" cy="279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</a:pPr>
            <a:r>
              <a:rPr sz="969" b="0">
                <a:solidFill>
                  <a:srgbClr val="D6E0EC"/>
                </a:solidFill>
                <a:latin typeface="Calibri"/>
              </a:rPr>
              <a:t>Локальная себестоимость ($233/т) и короткое логистическое плечо ($25/т) защищают маржу от волатильности мировых цен.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8000" y="3683000"/>
            <a:ext cx="8128000" cy="584200"/>
          </a:xfrm>
          <a:prstGeom prst="roundRect">
            <a:avLst>
              <a:gd name="adj" fmla="val 6000"/>
            </a:avLst>
          </a:prstGeom>
          <a:solidFill>
            <a:srgbClr val="E0A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1200" y="3683000"/>
            <a:ext cx="7747000" cy="584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1">
                <a:solidFill>
                  <a:srgbClr val="13294B"/>
                </a:solidFill>
                <a:latin typeface="Calibri"/>
              </a:rPr>
              <a:t>ПРОЕКТНАЯ ЭКОНОМИКА:  </a:t>
            </a:r>
            <a:r>
              <a:rPr sz="1000" b="1">
                <a:solidFill>
                  <a:srgbClr val="3A2A12"/>
                </a:solidFill>
                <a:latin typeface="Calibri"/>
              </a:rPr>
              <a:t>IRR 31%  ·  NPV ≈ 30,8 млрд ₸  ·  окупаемость ≈ 5 лет  —  подтверждается рыночной позицией (цена ОМУ $450/т).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8000" y="4572000"/>
            <a:ext cx="80264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700" b="0">
                <a:solidFill>
                  <a:srgbClr val="6F8298"/>
                </a:solidFill>
                <a:latin typeface="Calibri"/>
              </a:rPr>
              <a:t>Фин. модель FEM v11.5 (4,95 МВт · 80 тыс т ОМУ · цена $487/т · 80/20): IRR проекта 31,08%, NPV 30,77 млрд ₸, WACC 12,71%, окупаемость 5,1 г.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508000" y="4749800"/>
            <a:ext cx="8140700" cy="0"/>
          </a:xfrm>
          <a:prstGeom prst="line">
            <a:avLst/>
          </a:prstGeom>
          <a:ln w="9525">
            <a:solidFill>
              <a:srgbClr val="2A3D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508000" y="48260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1">
                <a:solidFill>
                  <a:srgbClr val="AEC8DE"/>
                </a:solidFill>
                <a:latin typeface="Calibri"/>
              </a:rPr>
              <a:t>KazBioFert / BBFF</a:t>
            </a:r>
            <a:r>
              <a:rPr sz="850" b="0">
                <a:solidFill>
                  <a:srgbClr val="8A9AAD"/>
                </a:solidFill>
                <a:latin typeface="Calibri"/>
              </a:rPr>
              <a:t>  ·  Совет директоров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10000" y="4826000"/>
            <a:ext cx="4445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800" b="0" spc="80">
                <a:solidFill>
                  <a:srgbClr val="8A9AAD"/>
                </a:solidFill>
                <a:latin typeface="Calibri"/>
              </a:rPr>
              <a:t>АНАЛИЗ РЫНКА · ИНВЕСТИЦИОННЫЙ ТЕЗИС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80400" y="4826000"/>
            <a:ext cx="3683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1">
                <a:solidFill>
                  <a:srgbClr val="8A9AAD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73</TotalTime>
  <Words>2345</Words>
  <Application>Microsoft Office PowerPoint</Application>
  <PresentationFormat>Экран (16:9)</PresentationFormat>
  <Paragraphs>475</Paragraphs>
  <Slides>22</Slides>
  <Notes>22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KazBioFert / BBFF — Board of Directors</dc:title>
  <dc:subject>PptxGenJS Presentation</dc:subject>
  <dc:creator>KazBioFert</dc:creator>
  <cp:lastModifiedBy>Алимбек Аубакиров</cp:lastModifiedBy>
  <cp:revision>28</cp:revision>
  <dcterms:created xsi:type="dcterms:W3CDTF">2026-07-07T10:49:46Z</dcterms:created>
  <dcterms:modified xsi:type="dcterms:W3CDTF">2026-07-07T12:11:43Z</dcterms:modified>
</cp:coreProperties>
</file>