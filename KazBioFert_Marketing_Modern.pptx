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oard-presentation/7c47e224-4261-5581-8f42-e075c6323fec/scratchpad/build/assets/r_hero_pa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975" y="525780"/>
            <a:ext cx="4160520" cy="58064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0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704088" y="6583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400" kern="0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704088" y="1874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КРАТКИЙ МАРКЕТИНГОВЫЙ ОБЗОР РЫНКА УДОБРЕНИЙ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04088" y="2240280"/>
            <a:ext cx="6583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Производство</a:t>
            </a:r>
            <a:endParaRPr lang="en-US" sz="47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органоминеральных</a:t>
            </a:r>
            <a:endParaRPr lang="en-US" sz="47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удобрений</a:t>
            </a:r>
            <a:endParaRPr lang="en-US" sz="4700" dirty="0"/>
          </a:p>
        </p:txBody>
      </p:sp>
      <p:sp>
        <p:nvSpPr>
          <p:cNvPr id="6" name="Shape 3"/>
          <p:cNvSpPr/>
          <p:nvPr/>
        </p:nvSpPr>
        <p:spPr>
          <a:xfrm>
            <a:off x="722376" y="4828032"/>
            <a:ext cx="1828800" cy="0"/>
          </a:xfrm>
          <a:prstGeom prst="line">
            <a:avLst/>
          </a:prstGeom>
          <a:noFill/>
          <a:ln w="31750">
            <a:solidFill>
              <a:srgbClr val="2D9C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49834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Биогазовый завод с интегрированным производством ОМУ  ·  75 000 тонн в год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180"/>
              </a:lnSpc>
              <a:buNone/>
            </a:pPr>
            <a:r>
              <a:rPr lang="en-US" sz="300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Виды удобрений и элементы питания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элементы питания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731520" cy="731520"/>
          </a:xfrm>
          <a:prstGeom prst="ellipse">
            <a:avLst/>
          </a:prstGeom>
          <a:solidFill>
            <a:srgbClr val="2D9C5A"/>
          </a:solidFill>
          <a:ln/>
          <a:effectLst>
            <a:outerShdw sx="100000" sy="100000" kx="0" ky="0" algn="bl" rotWithShape="0" blurRad="76200" dist="25400" dir="5400000">
              <a:srgbClr val="1A3D2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81328" y="1883664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Азот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6928" y="2761488"/>
            <a:ext cx="731520" cy="731520"/>
          </a:xfrm>
          <a:prstGeom prst="ellipse">
            <a:avLst/>
          </a:prstGeom>
          <a:solidFill>
            <a:srgbClr val="1C6E40"/>
          </a:solidFill>
          <a:ln/>
          <a:effectLst>
            <a:outerShdw sx="100000" sy="100000" kx="0" ky="0" algn="bl" rotWithShape="0" blurRad="76200" dist="25400" dir="5400000">
              <a:srgbClr val="1A3D2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27614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81328" y="281635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Фосфор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66928" y="3694176"/>
            <a:ext cx="731520" cy="731520"/>
          </a:xfrm>
          <a:prstGeom prst="ellipse">
            <a:avLst/>
          </a:prstGeom>
          <a:solidFill>
            <a:srgbClr val="E0A526"/>
          </a:solidFill>
          <a:ln/>
          <a:effectLst>
            <a:outerShdw sx="100000" sy="100000" kx="0" ky="0" algn="bl" rotWithShape="0" blurRad="76200" dist="25400" dir="5400000">
              <a:srgbClr val="1A3D2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369417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481328" y="3749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Калий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6928" y="475488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· P · K — три ключевых макроэлемента, определяющих питание и урожайность культур.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120640" y="1481328"/>
            <a:ext cx="6504127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D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40096" y="1664208"/>
            <a:ext cx="658368" cy="658368"/>
          </a:xfrm>
          <a:prstGeom prst="ellipse">
            <a:avLst/>
          </a:prstGeom>
          <a:solidFill>
            <a:srgbClr val="EDF4E9"/>
          </a:solidFill>
          <a:ln/>
        </p:spPr>
      </p:sp>
      <p:pic>
        <p:nvPicPr>
          <p:cNvPr id="17" name="Image 0" descr="/tmp/claude-0/-home-user-board-presentation/7c47e224-4261-5581-8f42-e075c6323fec/scratchpad/build/assets/icons/leaf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7606" y="1861718"/>
            <a:ext cx="263347" cy="263347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81344" y="1627632"/>
            <a:ext cx="526968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Органические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181344" y="1938528"/>
            <a:ext cx="526968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продуктов животного и растительного происхождения.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120640" y="2633472"/>
            <a:ext cx="6504127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D2A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340096" y="2816352"/>
            <a:ext cx="658368" cy="658368"/>
          </a:xfrm>
          <a:prstGeom prst="ellipse">
            <a:avLst/>
          </a:prstGeom>
          <a:solidFill>
            <a:srgbClr val="EDF4E9"/>
          </a:solidFill>
          <a:ln/>
        </p:spPr>
      </p:sp>
      <p:pic>
        <p:nvPicPr>
          <p:cNvPr id="22" name="Image 1" descr="/tmp/claude-0/-home-user-board-presentation/7c47e224-4261-5581-8f42-e075c6323fec/scratchpad/build/assets/icons/atom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606" y="3013862"/>
            <a:ext cx="263347" cy="263347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181344" y="2779776"/>
            <a:ext cx="526968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Простые</a:t>
            </a:r>
            <a:endParaRPr lang="en-US" sz="1550" dirty="0"/>
          </a:p>
        </p:txBody>
      </p:sp>
      <p:sp>
        <p:nvSpPr>
          <p:cNvPr id="24" name="Text 20"/>
          <p:cNvSpPr/>
          <p:nvPr/>
        </p:nvSpPr>
        <p:spPr>
          <a:xfrm>
            <a:off x="6181344" y="3090672"/>
            <a:ext cx="526968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Содержат только один элемент — N, P или K.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120640" y="3785616"/>
            <a:ext cx="6504127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D2A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340096" y="3968496"/>
            <a:ext cx="658368" cy="658368"/>
          </a:xfrm>
          <a:prstGeom prst="ellipse">
            <a:avLst/>
          </a:prstGeom>
          <a:solidFill>
            <a:srgbClr val="EDF4E9"/>
          </a:solidFill>
          <a:ln/>
        </p:spPr>
      </p:sp>
      <p:pic>
        <p:nvPicPr>
          <p:cNvPr id="27" name="Image 2" descr="/tmp/claude-0/-home-user-board-presentation/7c47e224-4261-5581-8f42-e075c6323fec/scratchpad/build/assets/icons/flas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606" y="4166006"/>
            <a:ext cx="263347" cy="263347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181344" y="3931920"/>
            <a:ext cx="526968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Минеральные (неорг.)</a:t>
            </a:r>
            <a:endParaRPr lang="en-US" sz="1550" dirty="0"/>
          </a:p>
        </p:txBody>
      </p:sp>
      <p:sp>
        <p:nvSpPr>
          <p:cNvPr id="29" name="Text 24"/>
          <p:cNvSpPr/>
          <p:nvPr/>
        </p:nvSpPr>
        <p:spPr>
          <a:xfrm>
            <a:off x="6181344" y="4242816"/>
            <a:ext cx="526968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химических веществ; могут содержать NPK.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5120640" y="4937760"/>
            <a:ext cx="6504127" cy="1024128"/>
          </a:xfrm>
          <a:prstGeom prst="roundRect">
            <a:avLst>
              <a:gd name="adj" fmla="val 8036"/>
            </a:avLst>
          </a:prstGeom>
          <a:solidFill>
            <a:srgbClr val="EDF4E9"/>
          </a:solidFill>
          <a:ln/>
          <a:effectLst>
            <a:outerShdw sx="100000" sy="100000" kx="0" ky="0" algn="bl" rotWithShape="0" blurRad="114300" dist="38100" dir="5400000">
              <a:srgbClr val="1A3D2A">
                <a:alpha val="16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5340096" y="5120640"/>
            <a:ext cx="658368" cy="658368"/>
          </a:xfrm>
          <a:prstGeom prst="ellipse">
            <a:avLst/>
          </a:prstGeom>
          <a:solidFill>
            <a:srgbClr val="2D9C5A"/>
          </a:solidFill>
          <a:ln/>
        </p:spPr>
      </p:sp>
      <p:pic>
        <p:nvPicPr>
          <p:cNvPr id="32" name="Image 3" descr="/tmp/claude-0/-home-user-board-presentation/7c47e224-4261-5581-8f42-e075c6323fec/scratchpad/build/assets/icons/seedlin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606" y="5318150"/>
            <a:ext cx="263347" cy="263347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181344" y="5084064"/>
            <a:ext cx="526968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Органоминеральные · ОМУ</a:t>
            </a:r>
            <a:endParaRPr lang="en-US" sz="1550" dirty="0"/>
          </a:p>
        </p:txBody>
      </p:sp>
      <p:sp>
        <p:nvSpPr>
          <p:cNvPr id="34" name="Text 28"/>
          <p:cNvSpPr/>
          <p:nvPr/>
        </p:nvSpPr>
        <p:spPr>
          <a:xfrm>
            <a:off x="6181344" y="5394960"/>
            <a:ext cx="526968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Смесь органических и минеральных в одной грануле. NPK корректируется под запрос.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10573207" y="5065776"/>
            <a:ext cx="868680" cy="292608"/>
          </a:xfrm>
          <a:prstGeom prst="rect">
            <a:avLst>
              <a:gd name="adj" fmla="val 31250"/>
            </a:avLst>
          </a:prstGeom>
          <a:solidFill>
            <a:srgbClr val="E0A5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ОМУ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5120640" y="6108192"/>
            <a:ext cx="650412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C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Виды ОМУ:  </a:t>
            </a:r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комплексные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каждая гранула содержит NPK + Fe, Mg, S;   </a:t>
            </a:r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смешанные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смесь простых гранул, каждая с одним элементом.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pPr algn="l" indent="0" marL="0">
              <a:buNone/>
            </a:pPr>
            <a:r>
              <a:rPr lang="en-US" sz="950" spc="100" kern="0" dirty="0">
                <a:solidFill>
                  <a:srgbClr val="77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Органоминеральные удобрения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11002975" y="6473952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180"/>
              </a:lnSpc>
              <a:buNone/>
            </a:pPr>
            <a:r>
              <a:rPr lang="en-US" sz="300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Биогазовый завод с производством удобрений</a:t>
            </a:r>
            <a:endParaRPr lang="en-US" sz="3000" dirty="0"/>
          </a:p>
        </p:txBody>
      </p:sp>
      <p:pic>
        <p:nvPicPr>
          <p:cNvPr id="4" name="Image 0" descr="/tmp/claude-0/-home-user-board-presentation/7c47e224-4261-5581-8f42-e075c6323fec/scratchpad/build/assets/r_plant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83080"/>
            <a:ext cx="5486400" cy="3703320"/>
          </a:xfrm>
          <a:prstGeom prst="rect">
            <a:avLst/>
          </a:prstGeom>
          <a:effectLst>
            <a:outerShdw sx="100000" sy="100000" kx="0" ky="0" algn="bl" rotWithShape="0" blurRad="152400" dist="63500" dir="5400000">
              <a:srgbClr val="1A3D2A">
                <a:alpha val="2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66928" y="55595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7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Визуализация производственного комплекса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355080" y="1783080"/>
            <a:ext cx="2525116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D2A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56248" y="1929384"/>
            <a:ext cx="21593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га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556248" y="2423160"/>
            <a:ext cx="21593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площадь объекта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099652" y="1783080"/>
            <a:ext cx="2525116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D2A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300820" y="1929384"/>
            <a:ext cx="21593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70 000 м²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300820" y="2423160"/>
            <a:ext cx="21593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производственные здания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55080" y="3026664"/>
            <a:ext cx="2525116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D2A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56248" y="3172968"/>
            <a:ext cx="21593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75 000 т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556248" y="3666744"/>
            <a:ext cx="21593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ОМУ в год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099652" y="3026664"/>
            <a:ext cx="2525116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D2A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300820" y="3172968"/>
            <a:ext cx="21593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7 560 м²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9300820" y="3666744"/>
            <a:ext cx="21593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площадь производства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355080" y="4315968"/>
            <a:ext cx="5269687" cy="1371600"/>
          </a:xfrm>
          <a:prstGeom prst="roundRect">
            <a:avLst>
              <a:gd name="adj" fmla="val 6667"/>
            </a:avLst>
          </a:prstGeom>
          <a:solidFill>
            <a:srgbClr val="EDF4E9"/>
          </a:solidFill>
          <a:ln/>
        </p:spPr>
      </p:sp>
      <p:sp>
        <p:nvSpPr>
          <p:cNvPr id="19" name="Text 16"/>
          <p:cNvSpPr/>
          <p:nvPr/>
        </p:nvSpPr>
        <p:spPr>
          <a:xfrm>
            <a:off x="6574536" y="4462272"/>
            <a:ext cx="48307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C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Сырьё — компост животного происхождения. 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Готовится ~3 мес. мезофильным способом (анаэробно) и ~3 мес. аэробно в температурных ячейках с термообработкой. Итог: до </a:t>
            </a:r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 2-2-2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без запаха и примесей, обеззаражен, без патогенов и грибов.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pPr algn="l" indent="0" marL="0">
              <a:buNone/>
            </a:pPr>
            <a:r>
              <a:rPr lang="en-US" sz="950" spc="100" kern="0" dirty="0">
                <a:solidFill>
                  <a:srgbClr val="77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Органоминеральные удобрения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002975" y="6473952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180"/>
              </a:lnSpc>
              <a:buNone/>
            </a:pPr>
            <a:r>
              <a:rPr lang="en-US" sz="300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производства органоминеральных удобрений</a:t>
            </a:r>
            <a:endParaRPr lang="en-US" sz="3000" dirty="0"/>
          </a:p>
        </p:txBody>
      </p:sp>
      <p:pic>
        <p:nvPicPr>
          <p:cNvPr id="4" name="Image 0" descr="/tmp/claude-0/-home-user-board-presentation/7c47e224-4261-5581-8f42-e075c6323fec/scratchpad/build/assets/r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37360"/>
            <a:ext cx="5212080" cy="3931920"/>
          </a:xfrm>
          <a:prstGeom prst="rect">
            <a:avLst/>
          </a:prstGeom>
          <a:effectLst>
            <a:outerShdw sx="100000" sy="100000" kx="0" ky="0" algn="bl" rotWithShape="0" blurRad="152400" dist="63500" dir="5400000">
              <a:srgbClr val="1A3D2A">
                <a:alpha val="2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126480" y="1783080"/>
            <a:ext cx="549828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C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Компост животного происхождения </a:t>
            </a:r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смешивается с минеральными компонентами (N, P, K) в зависимости от нужной формы конечного продукта.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126480" y="2606040"/>
            <a:ext cx="549828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7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ПЛАНИРУЕМЫЕ ПРОДУКТЫ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26480" y="2889504"/>
            <a:ext cx="2423160" cy="512064"/>
          </a:xfrm>
          <a:prstGeom prst="roundRect">
            <a:avLst>
              <a:gd name="adj" fmla="val 50000"/>
            </a:avLst>
          </a:prstGeom>
          <a:solidFill>
            <a:srgbClr val="2D9C5A"/>
          </a:solidFill>
          <a:ln/>
          <a:effectLst>
            <a:outerShdw sx="100000" sy="100000" kx="0" ky="0" algn="bl" rotWithShape="0" blurRad="63500" dist="25400" dir="5400000">
              <a:srgbClr val="1A3D2A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26480" y="2889504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 12-12-12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732520" y="2889504"/>
            <a:ext cx="2423160" cy="512064"/>
          </a:xfrm>
          <a:prstGeom prst="roundRect">
            <a:avLst>
              <a:gd name="adj" fmla="val 50000"/>
            </a:avLst>
          </a:prstGeom>
          <a:solidFill>
            <a:srgbClr val="1C6E40"/>
          </a:solidFill>
          <a:ln/>
          <a:effectLst>
            <a:outerShdw sx="100000" sy="100000" kx="0" ky="0" algn="bl" rotWithShape="0" blurRad="63500" dist="25400" dir="5400000">
              <a:srgbClr val="1A3D2A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732520" y="2889504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 8-21 (без калия)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26480" y="3657600"/>
            <a:ext cx="5498287" cy="2148840"/>
          </a:xfrm>
          <a:prstGeom prst="roundRect">
            <a:avLst>
              <a:gd name="adj" fmla="val 4681"/>
            </a:avLst>
          </a:prstGeom>
          <a:solidFill>
            <a:srgbClr val="0F2A1F"/>
          </a:solidFill>
          <a:ln/>
          <a:effectLst>
            <a:outerShdw sx="100000" sy="100000" kx="0" ky="0" algn="bl" rotWithShape="0" blurRad="127000" dist="50800" dir="5400000">
              <a:srgbClr val="1A3D2A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82512" y="3895344"/>
            <a:ext cx="585216" cy="585216"/>
          </a:xfrm>
          <a:prstGeom prst="ellipse">
            <a:avLst/>
          </a:prstGeom>
          <a:solidFill>
            <a:srgbClr val="2D9C5A"/>
          </a:solidFill>
          <a:ln/>
        </p:spPr>
      </p:sp>
      <p:pic>
        <p:nvPicPr>
          <p:cNvPr id="13" name="Image 1" descr="/tmp/claude-0/-home-user-board-presentation/7c47e224-4261-5581-8f42-e075c6323fec/scratchpad/build/assets/icons/bala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077" y="4070909"/>
            <a:ext cx="234086" cy="23408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95744" y="3913632"/>
            <a:ext cx="430956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Эффективность 1 : 3 по данным FAO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19088" y="4498848"/>
            <a:ext cx="494964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Питательные вещества в ОМУ приравнены 1 к 3 к минеральным удобрениям — за счёт растворимости, органических связей, усвояемости и удержания влаги «органической губкой» в почве.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437376" y="5138928"/>
            <a:ext cx="49496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FC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 36-36-36 мин.</a:t>
            </a:r>
            <a:pPr algn="l" indent="0" marL="0">
              <a:buNone/>
            </a:pPr>
            <a:r>
              <a:rPr lang="en-US" sz="12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 12-12-12 ОМУ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37376" y="5468112"/>
            <a:ext cx="49496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FC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 12-52 аммофос</a:t>
            </a:r>
            <a:pPr algn="l" indent="0" marL="0">
              <a:buNone/>
            </a:pPr>
            <a:r>
              <a:rPr lang="en-US" sz="12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 8-21 ОМУ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pPr algn="l" indent="0" marL="0">
              <a:buNone/>
            </a:pPr>
            <a:r>
              <a:rPr lang="en-US" sz="950" spc="100" kern="0" dirty="0">
                <a:solidFill>
                  <a:srgbClr val="77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Органоминеральные удобрения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1002975" y="6473952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ОПЫТОВ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180"/>
              </a:lnSpc>
              <a:buNone/>
            </a:pPr>
            <a:r>
              <a:rPr lang="en-US" sz="300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Полевые опыты: прибавка урожайности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46040" cy="4160520"/>
          </a:xfrm>
          <a:prstGeom prst="roundRect">
            <a:avLst>
              <a:gd name="adj" fmla="val 24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D2A">
                <a:alpha val="14000"/>
              </a:srgbClr>
            </a:outerShdw>
          </a:effectLst>
        </p:spPr>
      </p:sp>
      <p:pic>
        <p:nvPicPr>
          <p:cNvPr id="5" name="Image 0" descr="/tmp/claude-0/-home-user-board-presentation/7c47e224-4261-5581-8f42-e075c6323fec/scratchpad/build/assets/r_map_pukhal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39112"/>
            <a:ext cx="4833976" cy="1554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3758184"/>
            <a:ext cx="146304" cy="146304"/>
          </a:xfrm>
          <a:prstGeom prst="ellipse">
            <a:avLst/>
          </a:prstGeom>
          <a:solidFill>
            <a:srgbClr val="2D9C5A"/>
          </a:solidFill>
          <a:ln/>
        </p:spPr>
      </p:sp>
      <p:sp>
        <p:nvSpPr>
          <p:cNvPr id="7" name="Text 4"/>
          <p:cNvSpPr/>
          <p:nvPr/>
        </p:nvSpPr>
        <p:spPr>
          <a:xfrm>
            <a:off x="1042416" y="3685032"/>
            <a:ext cx="461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Акмолинская обл., с. Пухальское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86384" y="399592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+19%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822960" y="4745736"/>
            <a:ext cx="483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Кормовая кукуруза</a:t>
            </a:r>
            <a:pPr algn="l" indent="0" marL="0">
              <a:buNone/>
            </a:pPr>
            <a:r>
              <a:rPr lang="en-US" sz="150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к урожайности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1248" y="5129784"/>
            <a:ext cx="4797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ОМУ NPK 12-12-12 (80 кг/га) — 13,8 т/га против ЖКУ, при внесении один раз вместе с семенами.</a:t>
            </a:r>
            <a:endParaRPr lang="en-US" sz="1150" dirty="0"/>
          </a:p>
          <a:p>
            <a:pPr algn="l"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ЖКУ + Карбамид прибавка +7% (13,8 против 12,9 т/га) — но без дополнительной техники и расходов.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78728" y="1783080"/>
            <a:ext cx="5346040" cy="4160520"/>
          </a:xfrm>
          <a:prstGeom prst="roundRect">
            <a:avLst>
              <a:gd name="adj" fmla="val 24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D2A">
                <a:alpha val="14000"/>
              </a:srgbClr>
            </a:outerShdw>
          </a:effectLst>
        </p:spPr>
      </p:sp>
      <p:pic>
        <p:nvPicPr>
          <p:cNvPr id="12" name="Image 1" descr="/tmp/claude-0/-home-user-board-presentation/7c47e224-4261-5581-8f42-e075c6323fec/scratchpad/build/assets/r_map_arykbaly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760" y="2039112"/>
            <a:ext cx="4833976" cy="1554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34760" y="3758184"/>
            <a:ext cx="146304" cy="146304"/>
          </a:xfrm>
          <a:prstGeom prst="ellipse">
            <a:avLst/>
          </a:prstGeom>
          <a:solidFill>
            <a:srgbClr val="2D9C5A"/>
          </a:solidFill>
          <a:ln/>
        </p:spPr>
      </p:sp>
      <p:sp>
        <p:nvSpPr>
          <p:cNvPr id="14" name="Text 10"/>
          <p:cNvSpPr/>
          <p:nvPr/>
        </p:nvSpPr>
        <p:spPr>
          <a:xfrm>
            <a:off x="6754216" y="3685032"/>
            <a:ext cx="461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СКО, с. Арыкбалык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98184" y="399592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</a:t>
            </a:r>
            <a:endParaRPr lang="en-US" sz="4600" dirty="0"/>
          </a:p>
        </p:txBody>
      </p:sp>
      <p:sp>
        <p:nvSpPr>
          <p:cNvPr id="16" name="Text 12"/>
          <p:cNvSpPr/>
          <p:nvPr/>
        </p:nvSpPr>
        <p:spPr>
          <a:xfrm>
            <a:off x="6534760" y="4745736"/>
            <a:ext cx="483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Ячмень</a:t>
            </a:r>
            <a:pPr algn="l" indent="0" marL="0">
              <a:buNone/>
            </a:pPr>
            <a:r>
              <a:rPr lang="en-US" sz="150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к урожайности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553048" y="5129784"/>
            <a:ext cx="4797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ОМУ NPK 12-12-12 и NP 8-21 (80 кг/га) — 2,82 т/га против 2,26 т/га контроля.</a:t>
            </a:r>
            <a:endParaRPr lang="en-US" sz="1150" dirty="0"/>
          </a:p>
          <a:p>
            <a:pPr algn="l"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Аммофос 10-46 и Яра Милла 9-12-25 (80 кг/га) дали лишь +2% к контролю (2,3 т/га).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pPr algn="l" indent="0" marL="0">
              <a:buNone/>
            </a:pPr>
            <a:r>
              <a:rPr lang="en-US" sz="950" spc="100" kern="0" dirty="0">
                <a:solidFill>
                  <a:srgbClr val="77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Органоминеральные удобрения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1002975" y="6473952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ОПЫТОВ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968"/>
              </a:lnSpc>
              <a:buNone/>
            </a:pPr>
            <a:r>
              <a:rPr lang="en-US" sz="280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Яровой ячмень: экономика внесения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7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Посев 01.06.2023 · сорт Крешендо · густота 3,5 млн/га · анализ по ПО OneSoil / FieldView (зоны однородности поля за 6 лет)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014984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841248"/>
                <a:gridCol w="841248"/>
                <a:gridCol w="841248"/>
                <a:gridCol w="868680"/>
                <a:gridCol w="822960"/>
                <a:gridCol w="868680"/>
                <a:gridCol w="960120"/>
                <a:gridCol w="1316736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Вариант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38100" marB="381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38100" marB="381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Норма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кг/га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38100" marB="381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Доп.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$/га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38100" marB="381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Урож.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ц/га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38100" marB="381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38100" marB="381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38100" marB="381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Эконом.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$/га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38100" marB="381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ц/га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38100" marB="381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 удобрений (контроль)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6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Аммофос NP 10-43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−9,0%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6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Аммиачная селитра N 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−3,60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−11,0%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6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Яра Мила NPK 9-12-25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6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6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ОМУ NPK 12-12-12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−8,7%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6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6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ОМУ NP 8-21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−6,3%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6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План стар NP 10-46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3 478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6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047488"/>
            <a:ext cx="10149840" cy="786384"/>
          </a:xfrm>
          <a:prstGeom prst="roundRect">
            <a:avLst>
              <a:gd name="adj" fmla="val 10465"/>
            </a:avLst>
          </a:prstGeom>
          <a:solidFill>
            <a:srgbClr val="EDF4E9"/>
          </a:solidFill>
          <a:ln/>
        </p:spPr>
      </p:sp>
      <p:sp>
        <p:nvSpPr>
          <p:cNvPr id="7" name="Shape 4"/>
          <p:cNvSpPr/>
          <p:nvPr/>
        </p:nvSpPr>
        <p:spPr>
          <a:xfrm>
            <a:off x="768096" y="5221224"/>
            <a:ext cx="438912" cy="438912"/>
          </a:xfrm>
          <a:prstGeom prst="ellipse">
            <a:avLst/>
          </a:prstGeom>
          <a:solidFill>
            <a:srgbClr val="2D9C5A"/>
          </a:solidFill>
          <a:ln/>
        </p:spPr>
      </p:sp>
      <p:pic>
        <p:nvPicPr>
          <p:cNvPr id="8" name="Image 0" descr="/tmp/claude-0/-home-user-board-presentation/7c47e224-4261-5581-8f42-e075c6323fec/scratchpad/build/assets/icons/microscop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213" y="5335341"/>
            <a:ext cx="210678" cy="21067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53312" y="5138928"/>
            <a:ext cx="9144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C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методике FieldView 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органоминеральные удобрения показали максимальную урожайность — до </a:t>
            </a:r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28,2 ц/га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(против 22,6 ц/га на контроле). Результаты двух методик оказались противоречивыми — приведены обе оценки.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pPr algn="l" indent="0" marL="0">
              <a:buNone/>
            </a:pPr>
            <a:r>
              <a:rPr lang="en-US" sz="950" spc="100" kern="0" dirty="0">
                <a:solidFill>
                  <a:srgbClr val="77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Органоминеральные удобрения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1002975" y="6473952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НЕЗАВИСИМЫЕ ИССЛЕДОВАНИЯ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968"/>
              </a:lnSpc>
              <a:buNone/>
            </a:pPr>
            <a:r>
              <a:rPr lang="en-US" sz="280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НПЦ зернового хозяйства им. А.И. Бараева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508760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Яровая пшеница · заключение из отчёта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813560" cy="1097280"/>
          </a:xfrm>
          <a:prstGeom prst="roundRect">
            <a:avLst>
              <a:gd name="adj" fmla="val 8333"/>
            </a:avLst>
          </a:prstGeom>
          <a:solidFill>
            <a:srgbClr val="EDF4E9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975104"/>
            <a:ext cx="163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2487168"/>
            <a:ext cx="163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 12-12-12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доза 200 кг/га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3368" y="1874520"/>
            <a:ext cx="1813560" cy="1097280"/>
          </a:xfrm>
          <a:prstGeom prst="roundRect">
            <a:avLst>
              <a:gd name="adj" fmla="val 8333"/>
            </a:avLst>
          </a:prstGeom>
          <a:solidFill>
            <a:srgbClr val="EDF4E9"/>
          </a:solidFill>
          <a:ln/>
        </p:spPr>
      </p:sp>
      <p:sp>
        <p:nvSpPr>
          <p:cNvPr id="9" name="Text 7"/>
          <p:cNvSpPr/>
          <p:nvPr/>
        </p:nvSpPr>
        <p:spPr>
          <a:xfrm>
            <a:off x="2654808" y="1975104"/>
            <a:ext cx="163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54808" y="2487168"/>
            <a:ext cx="163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 8-21-15SO₃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N8P20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59808" y="1874520"/>
            <a:ext cx="1813560" cy="1097280"/>
          </a:xfrm>
          <a:prstGeom prst="roundRect">
            <a:avLst>
              <a:gd name="adj" fmla="val 8333"/>
            </a:avLst>
          </a:prstGeom>
          <a:solidFill>
            <a:srgbClr val="EDF4E9"/>
          </a:solidFill>
          <a:ln/>
        </p:spPr>
      </p:sp>
      <p:sp>
        <p:nvSpPr>
          <p:cNvPr id="12" name="Text 10"/>
          <p:cNvSpPr/>
          <p:nvPr/>
        </p:nvSpPr>
        <p:spPr>
          <a:xfrm>
            <a:off x="4651248" y="1975104"/>
            <a:ext cx="163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класс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51248" y="2487168"/>
            <a:ext cx="163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зерна пшеницы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3154680"/>
            <a:ext cx="5806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ts val="145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— 9,6 ц/га; аммофос (N4P20) достоверно прибавлял +1,6 ц/га.</a:t>
            </a:r>
            <a:endParaRPr lang="en-US" sz="1250" dirty="0"/>
          </a:p>
          <a:p>
            <a:pPr algn="l" marL="177800" indent="-177800">
              <a:lnSpc>
                <a:spcPts val="145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 12-12-12 при 100 кг/га — +11% к контролю; при 200 кг/га — +21%.</a:t>
            </a:r>
            <a:endParaRPr lang="en-US" sz="1250" dirty="0"/>
          </a:p>
          <a:p>
            <a:pPr algn="l" marL="177800" indent="-177800">
              <a:lnSpc>
                <a:spcPts val="145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 8-21-15SO₃ (N8P20) дал +2,1 ц/га зерна — +22% к контролю.</a:t>
            </a:r>
            <a:endParaRPr lang="en-US" sz="1250" dirty="0"/>
          </a:p>
          <a:p>
            <a:pPr algn="l" marL="177800" indent="-177800">
              <a:lnSpc>
                <a:spcPts val="145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Клейковина выросла до 28,7–30,4% и 74–75 ед. ИДК (контроль — 25,5% и 64 ед.).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5349240"/>
            <a:ext cx="5806440" cy="658368"/>
          </a:xfrm>
          <a:prstGeom prst="roundRect">
            <a:avLst>
              <a:gd name="adj" fmla="val 13889"/>
            </a:avLst>
          </a:prstGeom>
          <a:solidFill>
            <a:srgbClr val="0F2A1F"/>
          </a:solidFill>
          <a:ln/>
          <a:effectLst>
            <a:outerShdw sx="100000" sy="100000" kx="0" ky="0" algn="bl" rotWithShape="0" blurRad="101600" dist="38100" dir="5400000">
              <a:srgbClr val="1A3D2A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5477256"/>
            <a:ext cx="402336" cy="402336"/>
          </a:xfrm>
          <a:prstGeom prst="ellipse">
            <a:avLst/>
          </a:prstGeom>
          <a:solidFill>
            <a:srgbClr val="E0A526"/>
          </a:solidFill>
          <a:ln/>
        </p:spPr>
      </p:sp>
      <p:pic>
        <p:nvPicPr>
          <p:cNvPr id="17" name="Image 0" descr="/tmp/claude-0/-home-user-board-presentation/7c47e224-4261-5581-8f42-e075c6323fec/scratchpad/build/assets/icons/aw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415" y="5581863"/>
            <a:ext cx="193121" cy="19312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80160" y="5349240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НПЦЗХ им. Бараева рекомендует  </a:t>
            </a:r>
            <a:pPr algn="l" indent="0" marL="0">
              <a:buNone/>
            </a:pPr>
            <a:r>
              <a:rPr lang="en-US" sz="125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 8-21-15SO₃ и NPK 12-12-12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720840" y="1508760"/>
            <a:ext cx="4903927" cy="4498848"/>
          </a:xfrm>
          <a:prstGeom prst="roundRect">
            <a:avLst>
              <a:gd name="adj" fmla="val 2236"/>
            </a:avLst>
          </a:prstGeom>
          <a:solidFill>
            <a:srgbClr val="EDF4E9"/>
          </a:solidFill>
          <a:ln/>
        </p:spPr>
      </p:sp>
      <p:sp>
        <p:nvSpPr>
          <p:cNvPr id="20" name="Text 17"/>
          <p:cNvSpPr/>
          <p:nvPr/>
        </p:nvSpPr>
        <p:spPr>
          <a:xfrm>
            <a:off x="6995160" y="1691640"/>
            <a:ext cx="435528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комментарий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013448" y="2121408"/>
            <a:ext cx="4336999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65100" indent="-1651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ОМУ NPK 12-12-12 и NP 8-21 при дозах 100 и 200 кг/га сопоставимы по урожайности с аммофосом.</a:t>
            </a:r>
            <a:endParaRPr lang="en-US" sz="1250" dirty="0"/>
          </a:p>
          <a:p>
            <a:pPr algn="l" marL="165100" indent="-1651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долгосрочной перспективе ОМУ восстанавливают почву, препятствуют деградации и насыщают её органикой.</a:t>
            </a:r>
            <a:endParaRPr lang="en-US" sz="1250" dirty="0"/>
          </a:p>
          <a:p>
            <a:pPr algn="l" marL="165100" indent="-1651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нужно вносить дополнительные удобрения — фермер экономит на технике и персонале.</a:t>
            </a:r>
            <a:endParaRPr lang="en-US" sz="1250" dirty="0"/>
          </a:p>
          <a:p>
            <a:pPr algn="l" marL="165100" indent="-1651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ОМУ значительно ниже: 40–60% гранулы — органика, доход от которой уже получен в виде электроэнергии.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pPr algn="l" indent="0" marL="0">
              <a:buNone/>
            </a:pPr>
            <a:r>
              <a:rPr lang="en-US" sz="950" spc="100" kern="0" dirty="0">
                <a:solidFill>
                  <a:srgbClr val="77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Органоминеральные удобрения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002975" y="6473952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180"/>
              </a:lnSpc>
              <a:buNone/>
            </a:pPr>
            <a:r>
              <a:rPr lang="en-US" sz="300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Органоминеральные удобрения · от 75 000 т/год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46040" cy="4343400"/>
          </a:xfrm>
          <a:prstGeom prst="roundRect">
            <a:avLst>
              <a:gd name="adj" fmla="val 2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D2A">
                <a:alpha val="14000"/>
              </a:srgbClr>
            </a:outerShdw>
          </a:effectLst>
        </p:spPr>
      </p:sp>
      <p:pic>
        <p:nvPicPr>
          <p:cNvPr id="5" name="Image 0" descr="/tmp/claude-0/-home-user-board-presentation/7c47e224-4261-5581-8f42-e075c6323fec/scratchpad/build/assets/p_bag_np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1417320" cy="1920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95728" y="2121408"/>
            <a:ext cx="324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ОМУ NPK 12-12-12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2395728" y="2633472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D9C5A"/>
          </a:solidFill>
          <a:ln/>
        </p:spPr>
      </p:sp>
      <p:sp>
        <p:nvSpPr>
          <p:cNvPr id="8" name="Text 5"/>
          <p:cNvSpPr/>
          <p:nvPr/>
        </p:nvSpPr>
        <p:spPr>
          <a:xfrm>
            <a:off x="2395728" y="26334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Гарантированный состав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395728" y="3108960"/>
            <a:ext cx="324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7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(w/w)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133088"/>
          <a:ext cx="4833976" cy="914400"/>
        </p:xfrm>
        <a:graphic>
          <a:graphicData uri="http://schemas.openxmlformats.org/drawingml/2006/table">
            <a:tbl>
              <a:tblPr/>
              <a:tblGrid>
                <a:gridCol w="3287103"/>
                <a:gridCol w="1546872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Органическое вещество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Общий азот 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· аммонийный / мочевинный / орг.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5 /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Фосфор (P₂O₅), водораств.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/ 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Калий (K₂O), водораств.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Гуминовая + фульвовая к-та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Влажность / pH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≤20% / 5–7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278728" y="1737360"/>
            <a:ext cx="5346040" cy="4343400"/>
          </a:xfrm>
          <a:prstGeom prst="roundRect">
            <a:avLst>
              <a:gd name="adj" fmla="val 2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D2A">
                <a:alpha val="14000"/>
              </a:srgbClr>
            </a:outerShdw>
          </a:effectLst>
        </p:spPr>
      </p:sp>
      <p:pic>
        <p:nvPicPr>
          <p:cNvPr id="12" name="Image 1" descr="/tmp/claude-0/-home-user-board-presentation/7c47e224-4261-5581-8f42-e075c6323fec/scratchpad/build/assets/p_bag_n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760" y="2011680"/>
            <a:ext cx="1417320" cy="19202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07528" y="2121408"/>
            <a:ext cx="324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ОМУ NP 8-21</a:t>
            </a:r>
            <a:endParaRPr lang="en-US" sz="1900" dirty="0"/>
          </a:p>
        </p:txBody>
      </p:sp>
      <p:sp>
        <p:nvSpPr>
          <p:cNvPr id="14" name="Shape 9"/>
          <p:cNvSpPr/>
          <p:nvPr/>
        </p:nvSpPr>
        <p:spPr>
          <a:xfrm>
            <a:off x="8107528" y="2633472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1C6E40"/>
          </a:solidFill>
          <a:ln/>
        </p:spPr>
      </p:sp>
      <p:sp>
        <p:nvSpPr>
          <p:cNvPr id="15" name="Text 10"/>
          <p:cNvSpPr/>
          <p:nvPr/>
        </p:nvSpPr>
        <p:spPr>
          <a:xfrm>
            <a:off x="8107528" y="26334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Гарантированный состав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107528" y="3108960"/>
            <a:ext cx="324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7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(w/w)</a:t>
            </a:r>
            <a:endParaRPr lang="en-US" sz="10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4760" y="4133088"/>
          <a:ext cx="4833976" cy="914400"/>
        </p:xfrm>
        <a:graphic>
          <a:graphicData uri="http://schemas.openxmlformats.org/drawingml/2006/table">
            <a:tbl>
              <a:tblPr/>
              <a:tblGrid>
                <a:gridCol w="3287103"/>
                <a:gridCol w="1546872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Органическое вещество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Общий азот 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· аммонийный / мочевинный / орг.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3 /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Фосфор (P₂O₅), водораств.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/ 19%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Калий (K₂O)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Гуминовая + фульвовая к-та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E4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Влажность / pH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5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≤20% / 5–7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101600" marT="25400" marB="25400" anchor="ctr">
                    <a:lnL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9"/>
                    </a:solidFill>
                  </a:tcPr>
                </a:tc>
              </a:tr>
            </a:tbl>
          </a:graphicData>
        </a:graphic>
      </p:graphicFrame>
      <p:sp>
        <p:nvSpPr>
          <p:cNvPr id="18" name="Text 12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pPr algn="l" indent="0" marL="0">
              <a:buNone/>
            </a:pPr>
            <a:r>
              <a:rPr lang="en-US" sz="950" spc="100" kern="0" dirty="0">
                <a:solidFill>
                  <a:srgbClr val="77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Органоминеральные удобрения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11002975" y="6473952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ОМУ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180"/>
              </a:lnSpc>
              <a:buNone/>
            </a:pPr>
            <a:r>
              <a:rPr lang="en-US" sz="300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Преимущества органоминеральных удобрений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57243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D2A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84832"/>
            <a:ext cx="621792" cy="621792"/>
          </a:xfrm>
          <a:prstGeom prst="ellipse">
            <a:avLst/>
          </a:prstGeom>
          <a:solidFill>
            <a:srgbClr val="EDF4E9"/>
          </a:solidFill>
          <a:ln/>
        </p:spPr>
      </p:sp>
      <p:pic>
        <p:nvPicPr>
          <p:cNvPr id="6" name="Image 0" descr="/tmp/claude-0/-home-user-board-presentation/7c47e224-4261-5581-8f42-e075c6323fec/scratchpad/build/assets/icons/chart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271370"/>
            <a:ext cx="248717" cy="2487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761488"/>
            <a:ext cx="21152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Прирост урожайности от 20%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3145536"/>
            <a:ext cx="21152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Стабильная прибавка на всех испытанных культурах.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395396" y="1828800"/>
            <a:ext cx="257243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D2A">
                <a:alpha val="11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1428" y="2084832"/>
            <a:ext cx="621792" cy="621792"/>
          </a:xfrm>
          <a:prstGeom prst="ellipse">
            <a:avLst/>
          </a:prstGeom>
          <a:solidFill>
            <a:srgbClr val="EDF4E9"/>
          </a:solidFill>
          <a:ln/>
        </p:spPr>
      </p:sp>
      <p:pic>
        <p:nvPicPr>
          <p:cNvPr id="11" name="Image 1" descr="/tmp/claude-0/-home-user-board-presentation/7c47e224-4261-5581-8f42-e075c6323fec/scratchpad/build/assets/icons/leaf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965" y="2271370"/>
            <a:ext cx="248717" cy="2487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3140" y="2761488"/>
            <a:ext cx="21152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40% органики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33140" y="3145536"/>
            <a:ext cx="21152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Естественное содержание гуминовой и фульвовой кислот.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223864" y="1828800"/>
            <a:ext cx="257243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D2A">
                <a:alpha val="11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79896" y="2084832"/>
            <a:ext cx="621792" cy="621792"/>
          </a:xfrm>
          <a:prstGeom prst="ellipse">
            <a:avLst/>
          </a:prstGeom>
          <a:solidFill>
            <a:srgbClr val="EDF4E9"/>
          </a:solidFill>
          <a:ln/>
        </p:spPr>
      </p:sp>
      <p:pic>
        <p:nvPicPr>
          <p:cNvPr id="16" name="Image 2" descr="/tmp/claude-0/-home-user-board-presentation/7c47e224-4261-5581-8f42-e075c6323fec/scratchpad/build/assets/icons/drop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6433" y="2271370"/>
            <a:ext cx="248717" cy="2487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61608" y="2761488"/>
            <a:ext cx="21152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Удержание влаги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61608" y="3145536"/>
            <a:ext cx="21152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Губчатая структура органической части гранулы.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9052331" y="1828800"/>
            <a:ext cx="257243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D2A">
                <a:alpha val="11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08363" y="2084832"/>
            <a:ext cx="621792" cy="621792"/>
          </a:xfrm>
          <a:prstGeom prst="ellipse">
            <a:avLst/>
          </a:prstGeom>
          <a:solidFill>
            <a:srgbClr val="EDF4E9"/>
          </a:solidFill>
          <a:ln/>
        </p:spPr>
      </p:sp>
      <p:pic>
        <p:nvPicPr>
          <p:cNvPr id="21" name="Image 3" descr="/tmp/claude-0/-home-user-board-presentation/7c47e224-4261-5581-8f42-e075c6323fec/scratchpad/build/assets/icons/bolt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4901" y="2271370"/>
            <a:ext cx="248717" cy="2487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90075" y="2761488"/>
            <a:ext cx="21152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 при посеве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290075" y="3145536"/>
            <a:ext cx="21152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Быстрорастворимая гранула — все элементы одномоментно.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566928" y="3931920"/>
            <a:ext cx="257243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D2A">
                <a:alpha val="11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2960" y="4187952"/>
            <a:ext cx="621792" cy="621792"/>
          </a:xfrm>
          <a:prstGeom prst="ellipse">
            <a:avLst/>
          </a:prstGeom>
          <a:solidFill>
            <a:srgbClr val="EDF4E9"/>
          </a:solidFill>
          <a:ln/>
        </p:spPr>
      </p:sp>
      <p:pic>
        <p:nvPicPr>
          <p:cNvPr id="26" name="Image 4" descr="/tmp/claude-0/-home-user-board-presentation/7c47e224-4261-5581-8f42-e075c6323fec/scratchpad/build/assets/icons/recycle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8" y="4374490"/>
            <a:ext cx="248717" cy="24871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4672" y="4864608"/>
            <a:ext cx="21152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Восстановление почвы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804672" y="5248656"/>
            <a:ext cx="21152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+2% плодородного слоя в год при ежегодном применении.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3395396" y="3931920"/>
            <a:ext cx="257243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D2A">
                <a:alpha val="11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651428" y="4187952"/>
            <a:ext cx="621792" cy="621792"/>
          </a:xfrm>
          <a:prstGeom prst="ellipse">
            <a:avLst/>
          </a:prstGeom>
          <a:solidFill>
            <a:srgbClr val="EDF4E9"/>
          </a:solidFill>
          <a:ln/>
        </p:spPr>
      </p:sp>
      <p:pic>
        <p:nvPicPr>
          <p:cNvPr id="31" name="Image 5" descr="/tmp/claude-0/-home-user-board-presentation/7c47e224-4261-5581-8f42-e075c6323fec/scratchpad/build/assets/icons/layer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7965" y="4374490"/>
            <a:ext cx="248717" cy="24871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33140" y="4864608"/>
            <a:ext cx="21152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от севооборота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3633140" y="5248656"/>
            <a:ext cx="21152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Богатая органика поддерживает плодородие поля.</a:t>
            </a:r>
            <a:endParaRPr lang="en-US" sz="1080" dirty="0"/>
          </a:p>
        </p:txBody>
      </p:sp>
      <p:sp>
        <p:nvSpPr>
          <p:cNvPr id="34" name="Shape 26"/>
          <p:cNvSpPr/>
          <p:nvPr/>
        </p:nvSpPr>
        <p:spPr>
          <a:xfrm>
            <a:off x="6223864" y="3931920"/>
            <a:ext cx="257243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D2A">
                <a:alpha val="11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79896" y="4187952"/>
            <a:ext cx="621792" cy="621792"/>
          </a:xfrm>
          <a:prstGeom prst="ellipse">
            <a:avLst/>
          </a:prstGeom>
          <a:solidFill>
            <a:srgbClr val="EDF4E9"/>
          </a:solidFill>
          <a:ln/>
        </p:spPr>
      </p:sp>
      <p:pic>
        <p:nvPicPr>
          <p:cNvPr id="36" name="Image 6" descr="/tmp/claude-0/-home-user-board-presentation/7c47e224-4261-5581-8f42-e075c6323fec/scratchpad/build/assets/icons/flask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6433" y="4374490"/>
            <a:ext cx="248717" cy="248717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61608" y="4864608"/>
            <a:ext cx="21152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Любая формула NPK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6461608" y="5248656"/>
            <a:ext cx="21152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запрос и результаты анализа почвы.</a:t>
            </a:r>
            <a:endParaRPr lang="en-US" sz="1080" dirty="0"/>
          </a:p>
        </p:txBody>
      </p:sp>
      <p:sp>
        <p:nvSpPr>
          <p:cNvPr id="39" name="Shape 30"/>
          <p:cNvSpPr/>
          <p:nvPr/>
        </p:nvSpPr>
        <p:spPr>
          <a:xfrm>
            <a:off x="9052331" y="3931920"/>
            <a:ext cx="2572436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D2A">
                <a:alpha val="11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308363" y="4187952"/>
            <a:ext cx="621792" cy="621792"/>
          </a:xfrm>
          <a:prstGeom prst="ellipse">
            <a:avLst/>
          </a:prstGeom>
          <a:solidFill>
            <a:srgbClr val="EDF4E9"/>
          </a:solidFill>
          <a:ln/>
        </p:spPr>
      </p:sp>
      <p:pic>
        <p:nvPicPr>
          <p:cNvPr id="41" name="Image 7" descr="/tmp/claude-0/-home-user-board-presentation/7c47e224-4261-5581-8f42-e075c6323fec/scratchpad/build/assets/icons/check_gre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4901" y="4374490"/>
            <a:ext cx="248717" cy="248717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290075" y="4864608"/>
            <a:ext cx="21152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Чистая гранула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9290075" y="5248656"/>
            <a:ext cx="21152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патогенов, грибов и семян сорных трав.</a:t>
            </a:r>
            <a:endParaRPr lang="en-US" sz="1080" dirty="0"/>
          </a:p>
        </p:txBody>
      </p:sp>
      <p:sp>
        <p:nvSpPr>
          <p:cNvPr id="44" name="Text 34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pPr algn="l" indent="0" marL="0">
              <a:buNone/>
            </a:pPr>
            <a:r>
              <a:rPr lang="en-US" sz="950" spc="100" kern="0" dirty="0">
                <a:solidFill>
                  <a:srgbClr val="77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Органоминеральные удобрения</a:t>
            </a:r>
            <a:endParaRPr lang="en-US" sz="950" dirty="0"/>
          </a:p>
        </p:txBody>
      </p:sp>
      <p:sp>
        <p:nvSpPr>
          <p:cNvPr id="45" name="Text 35"/>
          <p:cNvSpPr/>
          <p:nvPr/>
        </p:nvSpPr>
        <p:spPr>
          <a:xfrm>
            <a:off x="11002975" y="6473952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 ПРОДАЖ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968"/>
              </a:lnSpc>
              <a:buNone/>
            </a:pPr>
            <a:r>
              <a:rPr lang="en-US" sz="280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работы с дистрибьюторами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допущения:  </a:t>
            </a:r>
            <a:pPr algn="l" indent="0" marL="0">
              <a:buNone/>
            </a:pPr>
            <a:r>
              <a:rPr lang="en-US" sz="120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РК + экспорт  ·  EXW — самовывоз со склада Kazbiofert  ·  цена «по рынку» (окно фиксации 3–7 дней, матрица скидок и ретро-бонусов)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73936"/>
            <a:ext cx="457200" cy="457200"/>
          </a:xfrm>
          <a:prstGeom prst="ellipse">
            <a:avLst/>
          </a:prstGeom>
          <a:solidFill>
            <a:srgbClr val="2D9C5A"/>
          </a:solidFill>
          <a:ln/>
        </p:spPr>
      </p:sp>
      <p:pic>
        <p:nvPicPr>
          <p:cNvPr id="6" name="Image 0" descr="/tmp/claude-0/-home-user-board-presentation/7c47e224-4261-5581-8f42-e075c6323fec/scratchpad/build/assets/icons/box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897380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1773936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и охват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377440"/>
            <a:ext cx="3503066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D2A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2560320"/>
            <a:ext cx="384048" cy="384048"/>
          </a:xfrm>
          <a:prstGeom prst="ellipse">
            <a:avLst/>
          </a:prstGeom>
          <a:solidFill>
            <a:srgbClr val="EDF4E9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43584" y="2523744"/>
            <a:ext cx="26801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Buy–Sell (неэксклюзив)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86384" y="2980944"/>
            <a:ext cx="308244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Дистрибьютор покупает у Kazbiofert и перепродаёт (EXW). Риск дебиторки и демпинга — на нём; управление матрицей скидок.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66928" y="3703320"/>
            <a:ext cx="3503066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D2A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9808" y="3886200"/>
            <a:ext cx="384048" cy="384048"/>
          </a:xfrm>
          <a:prstGeom prst="ellipse">
            <a:avLst/>
          </a:prstGeom>
          <a:solidFill>
            <a:srgbClr val="EDF4E9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43584" y="3849624"/>
            <a:ext cx="26801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Эксклюзив за KPI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86384" y="4306824"/>
            <a:ext cx="308244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Эксклюзив по макрорегиону только при выполнении плана, покрытия и демо-полей. Не выполнил — делится/снимается.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6928" y="5029200"/>
            <a:ext cx="3503066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D2A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49808" y="5212080"/>
            <a:ext cx="384048" cy="384048"/>
          </a:xfrm>
          <a:prstGeom prst="ellipse">
            <a:avLst/>
          </a:prstGeom>
          <a:solidFill>
            <a:srgbClr val="EDF4E9"/>
          </a:solidFill>
          <a:ln/>
        </p:spPr>
      </p:sp>
      <p:sp>
        <p:nvSpPr>
          <p:cNvPr id="20" name="Text 17"/>
          <p:cNvSpPr/>
          <p:nvPr/>
        </p:nvSpPr>
        <p:spPr>
          <a:xfrm>
            <a:off x="749808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243584" y="5175504"/>
            <a:ext cx="26801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Мастер-дистриб + дилеры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86384" y="5632704"/>
            <a:ext cx="308244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«якоря» масштабируют дилерскую сеть по РК; прямые Key Accounts остаются за Kazbiofert.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344314" y="1773936"/>
            <a:ext cx="457200" cy="457200"/>
          </a:xfrm>
          <a:prstGeom prst="ellipse">
            <a:avLst/>
          </a:prstGeom>
          <a:solidFill>
            <a:srgbClr val="2D9C5A"/>
          </a:solidFill>
          <a:ln/>
        </p:spPr>
      </p:sp>
      <p:pic>
        <p:nvPicPr>
          <p:cNvPr id="24" name="Image 1" descr="/tmp/claude-0/-home-user-board-presentation/7c47e224-4261-5581-8f42-e075c6323fec/scratchpad/build/assets/icons/warehou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758" y="1897380"/>
            <a:ext cx="210312" cy="21031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911242" y="1773936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Запас, оборот, экспорт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4344314" y="2377440"/>
            <a:ext cx="3503066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D2A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527194" y="2560320"/>
            <a:ext cx="384048" cy="384048"/>
          </a:xfrm>
          <a:prstGeom prst="ellipse">
            <a:avLst/>
          </a:prstGeom>
          <a:solidFill>
            <a:srgbClr val="EDF4E9"/>
          </a:solidFill>
          <a:ln/>
        </p:spPr>
      </p:sp>
      <p:sp>
        <p:nvSpPr>
          <p:cNvPr id="28" name="Text 24"/>
          <p:cNvSpPr/>
          <p:nvPr/>
        </p:nvSpPr>
        <p:spPr>
          <a:xfrm>
            <a:off x="4527194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5020970" y="2523744"/>
            <a:ext cx="26801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Консигнация / ответхранение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4563770" y="2980944"/>
            <a:ext cx="3082442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 на складе партнёра, право собственности у Kazbiofert до реализации. Оплата по отчёту продаж (7–14 дней).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4344314" y="4361688"/>
            <a:ext cx="3503066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D2A">
                <a:alpha val="10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527194" y="4544568"/>
            <a:ext cx="384048" cy="384048"/>
          </a:xfrm>
          <a:prstGeom prst="ellipse">
            <a:avLst/>
          </a:prstGeom>
          <a:solidFill>
            <a:srgbClr val="EDF4E9"/>
          </a:solidFill>
          <a:ln/>
        </p:spPr>
      </p:sp>
      <p:sp>
        <p:nvSpPr>
          <p:cNvPr id="33" name="Text 29"/>
          <p:cNvSpPr/>
          <p:nvPr/>
        </p:nvSpPr>
        <p:spPr>
          <a:xfrm>
            <a:off x="4527194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4" name="Text 30"/>
          <p:cNvSpPr/>
          <p:nvPr/>
        </p:nvSpPr>
        <p:spPr>
          <a:xfrm>
            <a:off x="5020970" y="4507992"/>
            <a:ext cx="26801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Экспортный трейдер</a:t>
            </a: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4563770" y="4965192"/>
            <a:ext cx="3082442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Продажа EXW трейдеру; он ведёт экспорт, логистику и страновые риски. Быстрый выход на рынки с сертификацией.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8121701" y="1773936"/>
            <a:ext cx="457200" cy="457200"/>
          </a:xfrm>
          <a:prstGeom prst="ellipse">
            <a:avLst/>
          </a:prstGeom>
          <a:solidFill>
            <a:srgbClr val="2D9C5A"/>
          </a:solidFill>
          <a:ln/>
        </p:spPr>
      </p:sp>
      <p:pic>
        <p:nvPicPr>
          <p:cNvPr id="37" name="Image 2" descr="/tmp/claude-0/-home-user-board-presentation/7c47e224-4261-5581-8f42-e075c6323fec/scratchpad/build/assets/icons/us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5145" y="1897380"/>
            <a:ext cx="210312" cy="210312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8688629" y="1773936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клиенты</a:t>
            </a:r>
            <a:endParaRPr lang="en-US" sz="1350" dirty="0"/>
          </a:p>
        </p:txBody>
      </p:sp>
      <p:sp>
        <p:nvSpPr>
          <p:cNvPr id="39" name="Shape 34"/>
          <p:cNvSpPr/>
          <p:nvPr/>
        </p:nvSpPr>
        <p:spPr>
          <a:xfrm>
            <a:off x="8121701" y="2377440"/>
            <a:ext cx="3503066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D2A">
                <a:alpha val="10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8304581" y="2560320"/>
            <a:ext cx="384048" cy="384048"/>
          </a:xfrm>
          <a:prstGeom prst="ellipse">
            <a:avLst/>
          </a:prstGeom>
          <a:solidFill>
            <a:srgbClr val="EDF4E9"/>
          </a:solidFill>
          <a:ln/>
        </p:spPr>
      </p:sp>
      <p:sp>
        <p:nvSpPr>
          <p:cNvPr id="41" name="Text 36"/>
          <p:cNvSpPr/>
          <p:nvPr/>
        </p:nvSpPr>
        <p:spPr>
          <a:xfrm>
            <a:off x="8304581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2" name="Text 37"/>
          <p:cNvSpPr/>
          <p:nvPr/>
        </p:nvSpPr>
        <p:spPr>
          <a:xfrm>
            <a:off x="8798357" y="2523744"/>
            <a:ext cx="26801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/ комиссия</a:t>
            </a:r>
            <a:endParaRPr lang="en-US" sz="1250" dirty="0"/>
          </a:p>
        </p:txBody>
      </p:sp>
      <p:sp>
        <p:nvSpPr>
          <p:cNvPr id="43" name="Text 38"/>
          <p:cNvSpPr/>
          <p:nvPr/>
        </p:nvSpPr>
        <p:spPr>
          <a:xfrm>
            <a:off x="8341157" y="2980944"/>
            <a:ext cx="3082442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 приводит клиента (контракт у Kazbiofert) и получает % от оплаты. Контроль клиентской базы сохраняется.</a:t>
            </a:r>
            <a:endParaRPr lang="en-US" sz="1050" dirty="0"/>
          </a:p>
        </p:txBody>
      </p:sp>
      <p:sp>
        <p:nvSpPr>
          <p:cNvPr id="44" name="Shape 39"/>
          <p:cNvSpPr/>
          <p:nvPr/>
        </p:nvSpPr>
        <p:spPr>
          <a:xfrm>
            <a:off x="8121701" y="4361688"/>
            <a:ext cx="3503066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3D2A">
                <a:alpha val="10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8304581" y="4544568"/>
            <a:ext cx="384048" cy="384048"/>
          </a:xfrm>
          <a:prstGeom prst="ellipse">
            <a:avLst/>
          </a:prstGeom>
          <a:solidFill>
            <a:srgbClr val="EDF4E9"/>
          </a:solidFill>
          <a:ln/>
        </p:spPr>
      </p:sp>
      <p:sp>
        <p:nvSpPr>
          <p:cNvPr id="46" name="Text 41"/>
          <p:cNvSpPr/>
          <p:nvPr/>
        </p:nvSpPr>
        <p:spPr>
          <a:xfrm>
            <a:off x="8304581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6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7" name="Text 42"/>
          <p:cNvSpPr/>
          <p:nvPr/>
        </p:nvSpPr>
        <p:spPr>
          <a:xfrm>
            <a:off x="8798357" y="4507992"/>
            <a:ext cx="26801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5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Accounts + сервис</a:t>
            </a:r>
            <a:endParaRPr lang="en-US" sz="1250" dirty="0"/>
          </a:p>
        </p:txBody>
      </p:sp>
      <p:sp>
        <p:nvSpPr>
          <p:cNvPr id="48" name="Text 43"/>
          <p:cNvSpPr/>
          <p:nvPr/>
        </p:nvSpPr>
        <p:spPr>
          <a:xfrm>
            <a:off x="8341157" y="4965192"/>
            <a:ext cx="3082442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E4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Агрохолдинги и теплицы — прямой контракт (EXW). Партнёр зарабатывает на логистике, складе и агросопровождении.</a:t>
            </a:r>
            <a:endParaRPr lang="en-US" sz="1050" dirty="0"/>
          </a:p>
        </p:txBody>
      </p:sp>
      <p:sp>
        <p:nvSpPr>
          <p:cNvPr id="49" name="Text 44"/>
          <p:cNvSpPr/>
          <p:nvPr/>
        </p:nvSpPr>
        <p:spPr>
          <a:xfrm>
            <a:off x="566928" y="64739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pPr algn="l" indent="0" marL="0">
              <a:buNone/>
            </a:pPr>
            <a:r>
              <a:rPr lang="en-US" sz="950" spc="100" kern="0" dirty="0">
                <a:solidFill>
                  <a:srgbClr val="77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Органоминеральные удобрения</a:t>
            </a:r>
            <a:endParaRPr lang="en-US" sz="950" dirty="0"/>
          </a:p>
        </p:txBody>
      </p:sp>
      <p:sp>
        <p:nvSpPr>
          <p:cNvPr id="50" name="Text 45"/>
          <p:cNvSpPr/>
          <p:nvPr/>
        </p:nvSpPr>
        <p:spPr>
          <a:xfrm>
            <a:off x="11002975" y="6473952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78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" y="1554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KAZBIOFERT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04088" y="2057400"/>
            <a:ext cx="6949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Органоминеральные удобрения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нового поколения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22376" y="3703320"/>
            <a:ext cx="1828800" cy="0"/>
          </a:xfrm>
          <a:prstGeom prst="line">
            <a:avLst/>
          </a:prstGeom>
          <a:noFill/>
          <a:ln w="31750">
            <a:solidFill>
              <a:srgbClr val="2D9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4023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75 000 т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04088" y="46451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ОМУ в год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35808" y="4023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+20%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035808" y="46451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урожайности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67528" y="4023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367528" y="46451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минеральным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" y="544068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AFC9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Биогазовый завод с интегрированным производством удобрений  ·  восстановление почвы  ·  экспортный потенциал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2026-07-28T06:30:29Z</dcterms:created>
  <dcterms:modified xsi:type="dcterms:W3CDTF">2026-07-28T06:30:29Z</dcterms:modified>
</cp:coreProperties>
</file>