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841248" cy="841248"/>
          </a:xfrm>
          <a:prstGeom prst="rect">
            <a:avLst/>
          </a:prstGeom>
        </p:spPr>
      </p:pic>
      <p:pic>
        <p:nvPicPr>
          <p:cNvPr id="3" name="Image 1" descr="/home/claude/zan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5906" y="384048"/>
            <a:ext cx="1108982" cy="7498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60120" y="384048"/>
            <a:ext cx="609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LRT</a:t>
            </a:r>
            <a:r>
              <a:rPr sz="2900" b="1">
                <a:solidFill>
                  <a:srgbClr val="0E3A54"/>
                </a:solidFill>
                <a:latin typeface="Calibri"/>
              </a:rPr>
              <a:t>: правила безопасности</a:t>
            </a:r>
            <a:endParaRPr lang="en-US" sz="2900" dirty="0"/>
          </a:p>
        </p:txBody>
      </p:sp>
      <p:sp>
        <p:nvSpPr>
          <p:cNvPr id="5" name="Text 1"/>
          <p:cNvSpPr/>
          <p:nvPr/>
        </p:nvSpPr>
        <p:spPr>
          <a:xfrm>
            <a:off x="822960" y="950976"/>
            <a:ext cx="5916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5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Простые правила для пассажиров наземного метро Астаны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960120" y="1371600"/>
            <a:ext cx="5641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Прокуратура города Астаны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457200" y="1645920"/>
            <a:ext cx="6647688" cy="232257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9ED"/>
            </a:solidFill>
          </a:ln>
          <a:effectLst>
            <a:outerShdw sx="100000" sy="100000" kx="0" ky="0" algn="bl" rotWithShape="0" blurRad="101600" dist="38100" dir="5400000">
              <a:srgbClr val="0A2C40">
                <a:alpha val="13000"/>
              </a:srgbClr>
            </a:outerShdw>
          </a:effectLst>
        </p:spPr>
      </p:sp>
      <p:sp>
        <p:nvSpPr>
          <p:cNvPr id="60" name="Rounded Rectangle 59"/>
          <p:cNvSpPr/>
          <p:nvPr/>
        </p:nvSpPr>
        <p:spPr>
          <a:xfrm>
            <a:off x="457200" y="1645920"/>
            <a:ext cx="6647688" cy="635000"/>
          </a:xfrm>
          <a:prstGeom prst="round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hape 4"/>
          <p:cNvSpPr/>
          <p:nvPr/>
        </p:nvSpPr>
        <p:spPr>
          <a:xfrm>
            <a:off x="658368" y="1801368"/>
            <a:ext cx="530352" cy="530352"/>
          </a:xfrm>
          <a:prstGeom prst="ellipse">
            <a:avLst/>
          </a:prstGeom>
          <a:solidFill>
            <a:srgbClr val="E4572E"/>
          </a:solidFill>
          <a:ln>
            <a:noFill/>
          </a:ln>
          <a:effectLst>
            <a:outerShdw sx="100000" sy="100000" kx="0" ky="0" algn="bl" rotWithShape="0" blurRad="76200" dist="25400" dir="5400000">
              <a:srgbClr val="0A2C40">
                <a:alpha val="16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652" y="1928652"/>
            <a:ext cx="275783" cy="27578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5880" y="1801368"/>
            <a:ext cx="55961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Берегитесь карманных краж</a:t>
            </a:r>
            <a:endParaRPr lang="en-US" sz="16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2404872"/>
            <a:ext cx="192024" cy="19202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42416" y="2377440"/>
            <a:ext cx="57790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Держите сумку впереди и застёгнутой.</a:t>
            </a:r>
            <a:endParaRPr lang="en-US" sz="12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2770632"/>
            <a:ext cx="192024" cy="19202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42416" y="2743200"/>
            <a:ext cx="57790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носите телефон и кошелёк в задних карманах.</a:t>
            </a:r>
            <a:endParaRPr lang="en-US" sz="12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3136392"/>
            <a:ext cx="192024" cy="19202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42416" y="3108960"/>
            <a:ext cx="57790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час пик и в толпе будьте особенно внимательны.</a:t>
            </a:r>
            <a:endParaRPr lang="en-US" sz="12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3502152"/>
            <a:ext cx="192024" cy="192024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042416" y="3474720"/>
            <a:ext cx="57790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Заметили кражу — сразу зовите охрану или 102.</a:t>
            </a:r>
            <a:endParaRPr lang="en-US" sz="1250" dirty="0"/>
          </a:p>
        </p:txBody>
      </p:sp>
      <p:sp>
        <p:nvSpPr>
          <p:cNvPr id="19" name="Shape 10"/>
          <p:cNvSpPr/>
          <p:nvPr/>
        </p:nvSpPr>
        <p:spPr>
          <a:xfrm>
            <a:off x="457200" y="4096512"/>
            <a:ext cx="6647688" cy="232257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9ED"/>
            </a:solidFill>
          </a:ln>
          <a:effectLst>
            <a:outerShdw sx="100000" sy="100000" kx="0" ky="0" algn="bl" rotWithShape="0" blurRad="101600" dist="38100" dir="5400000">
              <a:srgbClr val="0A2C40">
                <a:alpha val="13000"/>
              </a:srgbClr>
            </a:outerShdw>
          </a:effectLst>
        </p:spPr>
      </p:sp>
      <p:sp>
        <p:nvSpPr>
          <p:cNvPr id="61" name="Rounded Rectangle 60"/>
          <p:cNvSpPr/>
          <p:nvPr/>
        </p:nvSpPr>
        <p:spPr>
          <a:xfrm>
            <a:off x="457200" y="4096512"/>
            <a:ext cx="6647688" cy="635000"/>
          </a:xfrm>
          <a:prstGeom prst="roundRect">
            <a:avLst/>
          </a:prstGeom>
          <a:solidFill>
            <a:srgbClr val="C43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hape 11"/>
          <p:cNvSpPr/>
          <p:nvPr/>
        </p:nvSpPr>
        <p:spPr>
          <a:xfrm>
            <a:off x="658368" y="4251960"/>
            <a:ext cx="530352" cy="530352"/>
          </a:xfrm>
          <a:prstGeom prst="ellipse">
            <a:avLst/>
          </a:prstGeom>
          <a:solidFill>
            <a:srgbClr val="C4321B"/>
          </a:solidFill>
          <a:ln>
            <a:noFill/>
          </a:ln>
          <a:effectLst>
            <a:outerShdw sx="100000" sy="100000" kx="0" ky="0" algn="bl" rotWithShape="0" blurRad="76200" dist="25400" dir="5400000">
              <a:srgbClr val="0A2C40">
                <a:alpha val="16000"/>
              </a:srgbClr>
            </a:outerShdw>
          </a:effectLst>
        </p:spPr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5652" y="4379244"/>
            <a:ext cx="275783" cy="275783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1325880" y="4251960"/>
            <a:ext cx="55961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Опасные предметы проносить запрещено</a:t>
            </a:r>
            <a:endParaRPr lang="en-US" sz="160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" y="4855464"/>
            <a:ext cx="192024" cy="192024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1042416" y="4828032"/>
            <a:ext cx="57790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Ножи, острые, колющие и режущие предметы.</a:t>
            </a:r>
            <a:endParaRPr lang="en-US" sz="1250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808" y="5221224"/>
            <a:ext cx="192024" cy="192024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1042416" y="5193792"/>
            <a:ext cx="57790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Легковоспламеняющиеся и взрывчатые вещества.</a:t>
            </a:r>
            <a:endParaRPr lang="en-US" sz="1250" dirty="0"/>
          </a:p>
        </p:txBody>
      </p:sp>
      <p:pic>
        <p:nvPicPr>
          <p:cNvPr id="2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9808" y="5586984"/>
            <a:ext cx="192024" cy="192024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1042416" y="5559552"/>
            <a:ext cx="57790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Газовые баллончики, пиротехника, оружие.</a:t>
            </a:r>
            <a:endParaRPr lang="en-US" sz="1250" dirty="0"/>
          </a:p>
        </p:txBody>
      </p:sp>
      <p:pic>
        <p:nvPicPr>
          <p:cNvPr id="2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9808" y="5952744"/>
            <a:ext cx="192024" cy="192024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1042416" y="5925312"/>
            <a:ext cx="57790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Бесхозную вещь не трогайте — сообщите персоналу.</a:t>
            </a:r>
            <a:endParaRPr lang="en-US" sz="1250" dirty="0"/>
          </a:p>
        </p:txBody>
      </p:sp>
      <p:sp>
        <p:nvSpPr>
          <p:cNvPr id="31" name="Shape 17"/>
          <p:cNvSpPr/>
          <p:nvPr/>
        </p:nvSpPr>
        <p:spPr>
          <a:xfrm>
            <a:off x="457200" y="6547104"/>
            <a:ext cx="6647688" cy="21214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9ED"/>
            </a:solidFill>
          </a:ln>
          <a:effectLst>
            <a:outerShdw sx="100000" sy="100000" kx="0" ky="0" algn="bl" rotWithShape="0" blurRad="101600" dist="38100" dir="5400000">
              <a:srgbClr val="0A2C40">
                <a:alpha val="13000"/>
              </a:srgbClr>
            </a:outerShdw>
          </a:effectLst>
        </p:spPr>
      </p:sp>
      <p:sp>
        <p:nvSpPr>
          <p:cNvPr id="62" name="Rounded Rectangle 61"/>
          <p:cNvSpPr/>
          <p:nvPr/>
        </p:nvSpPr>
        <p:spPr>
          <a:xfrm>
            <a:off x="457200" y="6547104"/>
            <a:ext cx="6647688" cy="635000"/>
          </a:xfrm>
          <a:prstGeom prst="roundRect">
            <a:avLst/>
          </a:prstGeom>
          <a:solidFill>
            <a:srgbClr val="0B5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hape 18"/>
          <p:cNvSpPr/>
          <p:nvPr/>
        </p:nvSpPr>
        <p:spPr>
          <a:xfrm>
            <a:off x="658368" y="6702552"/>
            <a:ext cx="530352" cy="530352"/>
          </a:xfrm>
          <a:prstGeom prst="ellipse">
            <a:avLst/>
          </a:prstGeom>
          <a:solidFill>
            <a:srgbClr val="0B5E86"/>
          </a:solidFill>
          <a:ln>
            <a:noFill/>
          </a:ln>
          <a:effectLst>
            <a:outerShdw sx="100000" sy="100000" kx="0" ky="0" algn="bl" rotWithShape="0" blurRad="76200" dist="25400" dir="5400000">
              <a:srgbClr val="0A2C40">
                <a:alpha val="16000"/>
              </a:srgbClr>
            </a:outerShdw>
          </a:effectLst>
        </p:spPr>
      </p:sp>
      <p:pic>
        <p:nvPicPr>
          <p:cNvPr id="3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5652" y="6829836"/>
            <a:ext cx="275783" cy="275783"/>
          </a:xfrm>
          <a:prstGeom prst="rect">
            <a:avLst/>
          </a:prstGeom>
        </p:spPr>
      </p:pic>
      <p:sp>
        <p:nvSpPr>
          <p:cNvPr id="34" name="Text 19"/>
          <p:cNvSpPr/>
          <p:nvPr/>
        </p:nvSpPr>
        <p:spPr>
          <a:xfrm>
            <a:off x="1325880" y="6702552"/>
            <a:ext cx="55961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Полезные советы пассажиру</a:t>
            </a:r>
            <a:endParaRPr lang="en-US" sz="1600" dirty="0"/>
          </a:p>
        </p:txBody>
      </p:sp>
      <p:pic>
        <p:nvPicPr>
          <p:cNvPr id="3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1520" y="7306056"/>
            <a:ext cx="173736" cy="173736"/>
          </a:xfrm>
          <a:prstGeom prst="rect">
            <a:avLst/>
          </a:prstGeom>
        </p:spPr>
      </p:pic>
      <p:sp>
        <p:nvSpPr>
          <p:cNvPr id="36" name="Text 20"/>
          <p:cNvSpPr/>
          <p:nvPr/>
        </p:nvSpPr>
        <p:spPr>
          <a:xfrm>
            <a:off x="987552" y="7278624"/>
            <a:ext cx="272948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Стойте за жёлтой линией, ждите поезд.</a:t>
            </a:r>
            <a:endParaRPr lang="en-US" sz="1200" dirty="0"/>
          </a:p>
        </p:txBody>
      </p:sp>
      <p:pic>
        <p:nvPicPr>
          <p:cNvPr id="3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1520" y="7726680"/>
            <a:ext cx="173736" cy="173736"/>
          </a:xfrm>
          <a:prstGeom prst="rect">
            <a:avLst/>
          </a:prstGeom>
        </p:spPr>
      </p:pic>
      <p:sp>
        <p:nvSpPr>
          <p:cNvPr id="38" name="Text 21"/>
          <p:cNvSpPr/>
          <p:nvPr/>
        </p:nvSpPr>
        <p:spPr>
          <a:xfrm>
            <a:off x="987552" y="7699248"/>
            <a:ext cx="272948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Пропустите выходящих, потом заходите.</a:t>
            </a:r>
            <a:endParaRPr lang="en-US" sz="1200" dirty="0"/>
          </a:p>
        </p:txBody>
      </p:sp>
      <p:pic>
        <p:nvPicPr>
          <p:cNvPr id="3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1520" y="8147304"/>
            <a:ext cx="173736" cy="173736"/>
          </a:xfrm>
          <a:prstGeom prst="rect">
            <a:avLst/>
          </a:prstGeom>
        </p:spPr>
      </p:pic>
      <p:sp>
        <p:nvSpPr>
          <p:cNvPr id="40" name="Text 22"/>
          <p:cNvSpPr/>
          <p:nvPr/>
        </p:nvSpPr>
        <p:spPr>
          <a:xfrm>
            <a:off x="987552" y="8119872"/>
            <a:ext cx="272948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Держитесь за поручни, особенно с детьми.</a:t>
            </a:r>
            <a:endParaRPr lang="en-US" sz="1200" dirty="0"/>
          </a:p>
        </p:txBody>
      </p:sp>
      <p:pic>
        <p:nvPicPr>
          <p:cNvPr id="4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26764" y="7306056"/>
            <a:ext cx="173736" cy="173736"/>
          </a:xfrm>
          <a:prstGeom prst="rect">
            <a:avLst/>
          </a:prstGeom>
        </p:spPr>
      </p:pic>
      <p:sp>
        <p:nvSpPr>
          <p:cNvPr id="42" name="Text 23"/>
          <p:cNvSpPr/>
          <p:nvPr/>
        </p:nvSpPr>
        <p:spPr>
          <a:xfrm>
            <a:off x="4082796" y="7278624"/>
            <a:ext cx="272948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Уступайте места тем, кому нужнее.</a:t>
            </a:r>
            <a:endParaRPr lang="en-US" sz="1200" dirty="0"/>
          </a:p>
        </p:txBody>
      </p:sp>
      <p:pic>
        <p:nvPicPr>
          <p:cNvPr id="43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26764" y="7726680"/>
            <a:ext cx="173736" cy="173736"/>
          </a:xfrm>
          <a:prstGeom prst="rect">
            <a:avLst/>
          </a:prstGeom>
        </p:spPr>
      </p:pic>
      <p:sp>
        <p:nvSpPr>
          <p:cNvPr id="44" name="Text 24"/>
          <p:cNvSpPr/>
          <p:nvPr/>
        </p:nvSpPr>
        <p:spPr>
          <a:xfrm>
            <a:off x="4082796" y="7699248"/>
            <a:ext cx="272948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прислоняйтесь к дверям.</a:t>
            </a:r>
            <a:endParaRPr lang="en-US" sz="1200" dirty="0"/>
          </a:p>
        </p:txBody>
      </p:sp>
      <p:pic>
        <p:nvPicPr>
          <p:cNvPr id="4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26764" y="8147304"/>
            <a:ext cx="173736" cy="173736"/>
          </a:xfrm>
          <a:prstGeom prst="rect">
            <a:avLst/>
          </a:prstGeom>
        </p:spPr>
      </p:pic>
      <p:sp>
        <p:nvSpPr>
          <p:cNvPr id="46" name="Text 25"/>
          <p:cNvSpPr/>
          <p:nvPr/>
        </p:nvSpPr>
        <p:spPr>
          <a:xfrm>
            <a:off x="4082796" y="8119872"/>
            <a:ext cx="272948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Держите детей за руку.</a:t>
            </a:r>
            <a:endParaRPr lang="en-US" sz="1200" dirty="0"/>
          </a:p>
        </p:txBody>
      </p:sp>
      <p:sp>
        <p:nvSpPr>
          <p:cNvPr id="47" name="Text 26"/>
          <p:cNvSpPr/>
          <p:nvPr/>
        </p:nvSpPr>
        <p:spPr>
          <a:xfrm>
            <a:off x="457200" y="8796528"/>
            <a:ext cx="6647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Экстренные номера</a:t>
            </a:r>
            <a:endParaRPr lang="en-US" sz="1500" dirty="0"/>
          </a:p>
        </p:txBody>
      </p:sp>
      <p:sp>
        <p:nvSpPr>
          <p:cNvPr id="48" name="Shape 27"/>
          <p:cNvSpPr/>
          <p:nvPr/>
        </p:nvSpPr>
        <p:spPr>
          <a:xfrm>
            <a:off x="457200" y="9107424"/>
            <a:ext cx="2093976" cy="676656"/>
          </a:xfrm>
          <a:prstGeom prst="roundRect">
            <a:avLst>
              <a:gd name="adj" fmla="val 16216"/>
            </a:avLst>
          </a:prstGeom>
          <a:solidFill>
            <a:srgbClr val="E4572E"/>
          </a:solidFill>
          <a:ln/>
          <a:effectLst>
            <a:outerShdw sx="100000" sy="100000" kx="0" ky="0" algn="bl" rotWithShape="0" blurRad="101600" dist="38100" dir="5400000">
              <a:srgbClr val="0A2C40">
                <a:alpha val="13000"/>
              </a:srgbClr>
            </a:outerShdw>
          </a:effectLst>
        </p:spPr>
      </p:sp>
      <p:sp>
        <p:nvSpPr>
          <p:cNvPr id="49" name="Text 28"/>
          <p:cNvSpPr/>
          <p:nvPr/>
        </p:nvSpPr>
        <p:spPr>
          <a:xfrm>
            <a:off x="548640" y="9107424"/>
            <a:ext cx="84124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</a:t>
            </a:r>
            <a:endParaRPr lang="en-US" sz="2900" dirty="0"/>
          </a:p>
        </p:txBody>
      </p:sp>
      <p:sp>
        <p:nvSpPr>
          <p:cNvPr id="50" name="Text 29"/>
          <p:cNvSpPr/>
          <p:nvPr/>
        </p:nvSpPr>
        <p:spPr>
          <a:xfrm>
            <a:off x="1353312" y="9107424"/>
            <a:ext cx="112471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служба спасения</a:t>
            </a:r>
            <a:endParaRPr lang="en-US" sz="1100" dirty="0"/>
          </a:p>
        </p:txBody>
      </p:sp>
      <p:sp>
        <p:nvSpPr>
          <p:cNvPr id="51" name="Shape 30"/>
          <p:cNvSpPr/>
          <p:nvPr/>
        </p:nvSpPr>
        <p:spPr>
          <a:xfrm>
            <a:off x="2734056" y="9107424"/>
            <a:ext cx="2093976" cy="676656"/>
          </a:xfrm>
          <a:prstGeom prst="roundRect">
            <a:avLst>
              <a:gd name="adj" fmla="val 16216"/>
            </a:avLst>
          </a:prstGeom>
          <a:solidFill>
            <a:srgbClr val="0B5E86"/>
          </a:solidFill>
          <a:ln/>
          <a:effectLst>
            <a:outerShdw sx="100000" sy="100000" kx="0" ky="0" algn="bl" rotWithShape="0" blurRad="101600" dist="38100" dir="5400000">
              <a:srgbClr val="0A2C40">
                <a:alpha val="13000"/>
              </a:srgbClr>
            </a:outerShdw>
          </a:effectLst>
        </p:spPr>
      </p:sp>
      <p:sp>
        <p:nvSpPr>
          <p:cNvPr id="52" name="Text 31"/>
          <p:cNvSpPr/>
          <p:nvPr/>
        </p:nvSpPr>
        <p:spPr>
          <a:xfrm>
            <a:off x="2825496" y="9107424"/>
            <a:ext cx="84124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2900" dirty="0"/>
          </a:p>
        </p:txBody>
      </p:sp>
      <p:sp>
        <p:nvSpPr>
          <p:cNvPr id="53" name="Text 32"/>
          <p:cNvSpPr/>
          <p:nvPr/>
        </p:nvSpPr>
        <p:spPr>
          <a:xfrm>
            <a:off x="3630168" y="9107424"/>
            <a:ext cx="112471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Полиция</a:t>
            </a:r>
            <a:endParaRPr lang="en-US" sz="1100" dirty="0"/>
          </a:p>
        </p:txBody>
      </p:sp>
      <p:sp>
        <p:nvSpPr>
          <p:cNvPr id="54" name="Shape 33"/>
          <p:cNvSpPr/>
          <p:nvPr/>
        </p:nvSpPr>
        <p:spPr>
          <a:xfrm>
            <a:off x="5010912" y="9107424"/>
            <a:ext cx="2093976" cy="676656"/>
          </a:xfrm>
          <a:prstGeom prst="roundRect">
            <a:avLst>
              <a:gd name="adj" fmla="val 16216"/>
            </a:avLst>
          </a:prstGeom>
          <a:solidFill>
            <a:srgbClr val="1E8A60"/>
          </a:solidFill>
          <a:ln/>
          <a:effectLst>
            <a:outerShdw sx="100000" sy="100000" kx="0" ky="0" algn="bl" rotWithShape="0" blurRad="101600" dist="38100" dir="5400000">
              <a:srgbClr val="0A2C40">
                <a:alpha val="13000"/>
              </a:srgbClr>
            </a:outerShdw>
          </a:effectLst>
        </p:spPr>
      </p:sp>
      <p:sp>
        <p:nvSpPr>
          <p:cNvPr id="55" name="Text 34"/>
          <p:cNvSpPr/>
          <p:nvPr/>
        </p:nvSpPr>
        <p:spPr>
          <a:xfrm>
            <a:off x="5102352" y="9107424"/>
            <a:ext cx="84124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2900" dirty="0"/>
          </a:p>
        </p:txBody>
      </p:sp>
      <p:sp>
        <p:nvSpPr>
          <p:cNvPr id="56" name="Text 35"/>
          <p:cNvSpPr/>
          <p:nvPr/>
        </p:nvSpPr>
        <p:spPr>
          <a:xfrm>
            <a:off x="5907024" y="9107424"/>
            <a:ext cx="112471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Скорая помощь</a:t>
            </a:r>
            <a:endParaRPr lang="en-US" sz="1100" dirty="0"/>
          </a:p>
        </p:txBody>
      </p:sp>
      <p:sp>
        <p:nvSpPr>
          <p:cNvPr id="57" name="Shape 36"/>
          <p:cNvSpPr/>
          <p:nvPr/>
        </p:nvSpPr>
        <p:spPr>
          <a:xfrm>
            <a:off x="457200" y="9857232"/>
            <a:ext cx="6647688" cy="512064"/>
          </a:xfrm>
          <a:prstGeom prst="roundRect">
            <a:avLst>
              <a:gd name="adj" fmla="val 21429"/>
            </a:avLst>
          </a:prstGeom>
          <a:solidFill>
            <a:srgbClr val="0E3A54"/>
          </a:solidFill>
          <a:ln/>
          <a:effectLst>
            <a:outerShdw sx="100000" sy="100000" kx="0" ky="0" algn="bl" rotWithShape="0" blurRad="101600" dist="38100" dir="5400000">
              <a:srgbClr val="0A2C40">
                <a:alpha val="13000"/>
              </a:srgbClr>
            </a:outerShdw>
          </a:effectLst>
        </p:spPr>
      </p:sp>
      <p:sp>
        <p:nvSpPr>
          <p:cNvPr id="58" name="Text 37"/>
          <p:cNvSpPr/>
          <p:nvPr/>
        </p:nvSpPr>
        <p:spPr>
          <a:xfrm>
            <a:off x="640080" y="9857232"/>
            <a:ext cx="62819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FDB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Ваша безопасность — в ваших руках. Будьте внимательны!</a:t>
            </a:r>
            <a:endParaRPr lang="en-US" sz="1450" dirty="0"/>
          </a:p>
        </p:txBody>
      </p:sp>
      <p:sp>
        <p:nvSpPr>
          <p:cNvPr id="59" name="Rectangle 58"/>
          <p:cNvSpPr/>
          <p:nvPr/>
        </p:nvSpPr>
        <p:spPr>
          <a:xfrm>
            <a:off x="0" y="0"/>
            <a:ext cx="7562088" cy="88900"/>
          </a:xfrm>
          <a:prstGeom prst="rect">
            <a:avLst/>
          </a:prstGeom>
          <a:solidFill>
            <a:srgbClr val="0E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841248" cy="841248"/>
          </a:xfrm>
          <a:prstGeom prst="rect">
            <a:avLst/>
          </a:prstGeom>
        </p:spPr>
      </p:pic>
      <p:pic>
        <p:nvPicPr>
          <p:cNvPr id="3" name="Image 1" descr="/home/claude/zan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5906" y="384048"/>
            <a:ext cx="1108982" cy="7498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60120" y="384048"/>
            <a:ext cx="609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LRT</a:t>
            </a:r>
            <a:r>
              <a:rPr sz="2900" b="1">
                <a:solidFill>
                  <a:srgbClr val="0E3A54"/>
                </a:solidFill>
                <a:latin typeface="Calibri"/>
              </a:rPr>
              <a:t>: қауіпсіздік ережелері</a:t>
            </a:r>
            <a:endParaRPr lang="en-US" sz="2900" dirty="0"/>
          </a:p>
        </p:txBody>
      </p:sp>
      <p:sp>
        <p:nvSpPr>
          <p:cNvPr id="5" name="Text 1"/>
          <p:cNvSpPr/>
          <p:nvPr/>
        </p:nvSpPr>
        <p:spPr>
          <a:xfrm>
            <a:off x="822960" y="950976"/>
            <a:ext cx="5916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5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Астананың жердегі метросы жолаушыларына арналған қарапайым ережелер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960120" y="1371600"/>
            <a:ext cx="5641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Астана қаласының прокуратурасы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457200" y="1645920"/>
            <a:ext cx="6647688" cy="232257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9ED"/>
            </a:solidFill>
          </a:ln>
          <a:effectLst>
            <a:outerShdw sx="100000" sy="100000" kx="0" ky="0" algn="bl" rotWithShape="0" blurRad="101600" dist="38100" dir="5400000">
              <a:srgbClr val="0A2C40">
                <a:alpha val="13000"/>
              </a:srgbClr>
            </a:outerShdw>
          </a:effectLst>
        </p:spPr>
      </p:sp>
      <p:sp>
        <p:nvSpPr>
          <p:cNvPr id="60" name="Rounded Rectangle 59"/>
          <p:cNvSpPr/>
          <p:nvPr/>
        </p:nvSpPr>
        <p:spPr>
          <a:xfrm>
            <a:off x="457200" y="1645920"/>
            <a:ext cx="6647688" cy="635000"/>
          </a:xfrm>
          <a:prstGeom prst="round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hape 4"/>
          <p:cNvSpPr/>
          <p:nvPr/>
        </p:nvSpPr>
        <p:spPr>
          <a:xfrm>
            <a:off x="658368" y="1801368"/>
            <a:ext cx="530352" cy="530352"/>
          </a:xfrm>
          <a:prstGeom prst="ellipse">
            <a:avLst/>
          </a:prstGeom>
          <a:solidFill>
            <a:srgbClr val="E4572E"/>
          </a:solidFill>
          <a:ln>
            <a:noFill/>
          </a:ln>
          <a:effectLst>
            <a:outerShdw sx="100000" sy="100000" kx="0" ky="0" algn="bl" rotWithShape="0" blurRad="76200" dist="25400" dir="5400000">
              <a:srgbClr val="0A2C40">
                <a:alpha val="16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652" y="1928652"/>
            <a:ext cx="275783" cy="27578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5880" y="1801368"/>
            <a:ext cx="55961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Қалта ұрлығынан сақ болыңыз</a:t>
            </a:r>
            <a:endParaRPr lang="en-US" sz="16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2404872"/>
            <a:ext cx="192024" cy="19202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42416" y="2377440"/>
            <a:ext cx="57790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Сөмкеңізді алдыңызда, ілмегін жауып ұстаңыз.</a:t>
            </a:r>
            <a:endParaRPr lang="en-US" sz="12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2770632"/>
            <a:ext cx="192024" cy="19202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42416" y="2743200"/>
            <a:ext cx="57790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Телефон мен әмиянды артқы қалтаға салмаңыз.</a:t>
            </a:r>
            <a:endParaRPr lang="en-US" sz="12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3136392"/>
            <a:ext cx="192024" cy="19202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42416" y="3108960"/>
            <a:ext cx="57790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Қарбалас кезде, көпшілік ішінде сақ болыңыз.</a:t>
            </a:r>
            <a:endParaRPr lang="en-US" sz="12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3502152"/>
            <a:ext cx="192024" cy="192024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042416" y="3474720"/>
            <a:ext cx="57790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Ұрлықты байқасаңыз — күзетті шақырыңыз не 102.</a:t>
            </a:r>
            <a:endParaRPr lang="en-US" sz="1250" dirty="0"/>
          </a:p>
        </p:txBody>
      </p:sp>
      <p:sp>
        <p:nvSpPr>
          <p:cNvPr id="19" name="Shape 10"/>
          <p:cNvSpPr/>
          <p:nvPr/>
        </p:nvSpPr>
        <p:spPr>
          <a:xfrm>
            <a:off x="457200" y="4096512"/>
            <a:ext cx="6647688" cy="232257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9ED"/>
            </a:solidFill>
          </a:ln>
          <a:effectLst>
            <a:outerShdw sx="100000" sy="100000" kx="0" ky="0" algn="bl" rotWithShape="0" blurRad="101600" dist="38100" dir="5400000">
              <a:srgbClr val="0A2C40">
                <a:alpha val="13000"/>
              </a:srgbClr>
            </a:outerShdw>
          </a:effectLst>
        </p:spPr>
      </p:sp>
      <p:sp>
        <p:nvSpPr>
          <p:cNvPr id="61" name="Rounded Rectangle 60"/>
          <p:cNvSpPr/>
          <p:nvPr/>
        </p:nvSpPr>
        <p:spPr>
          <a:xfrm>
            <a:off x="457200" y="4096512"/>
            <a:ext cx="6647688" cy="635000"/>
          </a:xfrm>
          <a:prstGeom prst="roundRect">
            <a:avLst/>
          </a:prstGeom>
          <a:solidFill>
            <a:srgbClr val="C43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hape 11"/>
          <p:cNvSpPr/>
          <p:nvPr/>
        </p:nvSpPr>
        <p:spPr>
          <a:xfrm>
            <a:off x="658368" y="4251960"/>
            <a:ext cx="530352" cy="530352"/>
          </a:xfrm>
          <a:prstGeom prst="ellipse">
            <a:avLst/>
          </a:prstGeom>
          <a:solidFill>
            <a:srgbClr val="C4321B"/>
          </a:solidFill>
          <a:ln>
            <a:noFill/>
          </a:ln>
          <a:effectLst>
            <a:outerShdw sx="100000" sy="100000" kx="0" ky="0" algn="bl" rotWithShape="0" blurRad="76200" dist="25400" dir="5400000">
              <a:srgbClr val="0A2C40">
                <a:alpha val="16000"/>
              </a:srgbClr>
            </a:outerShdw>
          </a:effectLst>
        </p:spPr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5652" y="4379244"/>
            <a:ext cx="275783" cy="275783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1325880" y="4251960"/>
            <a:ext cx="55961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Қауіпті заттарды алып жүруге тыйым салынады</a:t>
            </a:r>
            <a:endParaRPr lang="en-US" sz="160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" y="4855464"/>
            <a:ext cx="192024" cy="192024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1042416" y="4828032"/>
            <a:ext cx="57790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Пышақ, кескіш-тескіш өткір заттар.</a:t>
            </a:r>
            <a:endParaRPr lang="en-US" sz="1250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808" y="5221224"/>
            <a:ext cx="192024" cy="192024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1042416" y="5193792"/>
            <a:ext cx="57790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Тез тұтанғыш және жарылғыш заттар.</a:t>
            </a:r>
            <a:endParaRPr lang="en-US" sz="1250" dirty="0"/>
          </a:p>
        </p:txBody>
      </p:sp>
      <p:pic>
        <p:nvPicPr>
          <p:cNvPr id="2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9808" y="5586984"/>
            <a:ext cx="192024" cy="192024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1042416" y="5559552"/>
            <a:ext cx="57790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Газ баллоны, пиротехника, қару.</a:t>
            </a:r>
            <a:endParaRPr lang="en-US" sz="1250" dirty="0"/>
          </a:p>
        </p:txBody>
      </p:sp>
      <p:pic>
        <p:nvPicPr>
          <p:cNvPr id="2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9808" y="5952744"/>
            <a:ext cx="192024" cy="192024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1042416" y="5925312"/>
            <a:ext cx="57790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Иесіз затты ұстамаңыз — қызметкерге хабарлаңыз.</a:t>
            </a:r>
            <a:endParaRPr lang="en-US" sz="1250" dirty="0"/>
          </a:p>
        </p:txBody>
      </p:sp>
      <p:sp>
        <p:nvSpPr>
          <p:cNvPr id="31" name="Shape 17"/>
          <p:cNvSpPr/>
          <p:nvPr/>
        </p:nvSpPr>
        <p:spPr>
          <a:xfrm>
            <a:off x="457200" y="6547104"/>
            <a:ext cx="6647688" cy="21214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9ED"/>
            </a:solidFill>
          </a:ln>
          <a:effectLst>
            <a:outerShdw sx="100000" sy="100000" kx="0" ky="0" algn="bl" rotWithShape="0" blurRad="101600" dist="38100" dir="5400000">
              <a:srgbClr val="0A2C40">
                <a:alpha val="13000"/>
              </a:srgbClr>
            </a:outerShdw>
          </a:effectLst>
        </p:spPr>
      </p:sp>
      <p:sp>
        <p:nvSpPr>
          <p:cNvPr id="62" name="Rounded Rectangle 61"/>
          <p:cNvSpPr/>
          <p:nvPr/>
        </p:nvSpPr>
        <p:spPr>
          <a:xfrm>
            <a:off x="457200" y="6547104"/>
            <a:ext cx="6647688" cy="635000"/>
          </a:xfrm>
          <a:prstGeom prst="roundRect">
            <a:avLst/>
          </a:prstGeom>
          <a:solidFill>
            <a:srgbClr val="0B5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hape 18"/>
          <p:cNvSpPr/>
          <p:nvPr/>
        </p:nvSpPr>
        <p:spPr>
          <a:xfrm>
            <a:off x="658368" y="6702552"/>
            <a:ext cx="530352" cy="530352"/>
          </a:xfrm>
          <a:prstGeom prst="ellipse">
            <a:avLst/>
          </a:prstGeom>
          <a:solidFill>
            <a:srgbClr val="0B5E86"/>
          </a:solidFill>
          <a:ln>
            <a:noFill/>
          </a:ln>
          <a:effectLst>
            <a:outerShdw sx="100000" sy="100000" kx="0" ky="0" algn="bl" rotWithShape="0" blurRad="76200" dist="25400" dir="5400000">
              <a:srgbClr val="0A2C40">
                <a:alpha val="16000"/>
              </a:srgbClr>
            </a:outerShdw>
          </a:effectLst>
        </p:spPr>
      </p:sp>
      <p:pic>
        <p:nvPicPr>
          <p:cNvPr id="3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5652" y="6829836"/>
            <a:ext cx="275783" cy="275783"/>
          </a:xfrm>
          <a:prstGeom prst="rect">
            <a:avLst/>
          </a:prstGeom>
        </p:spPr>
      </p:pic>
      <p:sp>
        <p:nvSpPr>
          <p:cNvPr id="34" name="Text 19"/>
          <p:cNvSpPr/>
          <p:nvPr/>
        </p:nvSpPr>
        <p:spPr>
          <a:xfrm>
            <a:off x="1325880" y="6702552"/>
            <a:ext cx="55961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Жолаушыға пайдалы кеңестер</a:t>
            </a:r>
            <a:endParaRPr lang="en-US" sz="1600" dirty="0"/>
          </a:p>
        </p:txBody>
      </p:sp>
      <p:pic>
        <p:nvPicPr>
          <p:cNvPr id="3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1520" y="7306056"/>
            <a:ext cx="173736" cy="173736"/>
          </a:xfrm>
          <a:prstGeom prst="rect">
            <a:avLst/>
          </a:prstGeom>
        </p:spPr>
      </p:pic>
      <p:sp>
        <p:nvSpPr>
          <p:cNvPr id="36" name="Text 20"/>
          <p:cNvSpPr/>
          <p:nvPr/>
        </p:nvSpPr>
        <p:spPr>
          <a:xfrm>
            <a:off x="987552" y="7278624"/>
            <a:ext cx="272948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Сары сызықтың артында тұрып, пойызды күтіңіз.</a:t>
            </a:r>
            <a:endParaRPr lang="en-US" sz="1200" dirty="0"/>
          </a:p>
        </p:txBody>
      </p:sp>
      <p:pic>
        <p:nvPicPr>
          <p:cNvPr id="3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1520" y="7726680"/>
            <a:ext cx="173736" cy="173736"/>
          </a:xfrm>
          <a:prstGeom prst="rect">
            <a:avLst/>
          </a:prstGeom>
        </p:spPr>
      </p:pic>
      <p:sp>
        <p:nvSpPr>
          <p:cNvPr id="38" name="Text 21"/>
          <p:cNvSpPr/>
          <p:nvPr/>
        </p:nvSpPr>
        <p:spPr>
          <a:xfrm>
            <a:off x="987552" y="7699248"/>
            <a:ext cx="272948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Алдымен шыққандарды өткізіп, содан кейін кіріңіз.</a:t>
            </a:r>
            <a:endParaRPr lang="en-US" sz="1200" dirty="0"/>
          </a:p>
        </p:txBody>
      </p:sp>
      <p:pic>
        <p:nvPicPr>
          <p:cNvPr id="3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1520" y="8147304"/>
            <a:ext cx="173736" cy="173736"/>
          </a:xfrm>
          <a:prstGeom prst="rect">
            <a:avLst/>
          </a:prstGeom>
        </p:spPr>
      </p:pic>
      <p:sp>
        <p:nvSpPr>
          <p:cNvPr id="40" name="Text 22"/>
          <p:cNvSpPr/>
          <p:nvPr/>
        </p:nvSpPr>
        <p:spPr>
          <a:xfrm>
            <a:off x="987552" y="8119872"/>
            <a:ext cx="272948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Тұтқадан берік ұстаныңыз, әсіресе баламен.</a:t>
            </a:r>
            <a:endParaRPr lang="en-US" sz="1200" dirty="0"/>
          </a:p>
        </p:txBody>
      </p:sp>
      <p:pic>
        <p:nvPicPr>
          <p:cNvPr id="4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26764" y="7306056"/>
            <a:ext cx="173736" cy="173736"/>
          </a:xfrm>
          <a:prstGeom prst="rect">
            <a:avLst/>
          </a:prstGeom>
        </p:spPr>
      </p:pic>
      <p:sp>
        <p:nvSpPr>
          <p:cNvPr id="42" name="Text 23"/>
          <p:cNvSpPr/>
          <p:nvPr/>
        </p:nvSpPr>
        <p:spPr>
          <a:xfrm>
            <a:off x="4082796" y="7278624"/>
            <a:ext cx="272948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Мұқтаж жолаушыға орын беріңіз.</a:t>
            </a:r>
            <a:endParaRPr lang="en-US" sz="1200" dirty="0"/>
          </a:p>
        </p:txBody>
      </p:sp>
      <p:pic>
        <p:nvPicPr>
          <p:cNvPr id="43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26764" y="7726680"/>
            <a:ext cx="173736" cy="173736"/>
          </a:xfrm>
          <a:prstGeom prst="rect">
            <a:avLst/>
          </a:prstGeom>
        </p:spPr>
      </p:pic>
      <p:sp>
        <p:nvSpPr>
          <p:cNvPr id="44" name="Text 24"/>
          <p:cNvSpPr/>
          <p:nvPr/>
        </p:nvSpPr>
        <p:spPr>
          <a:xfrm>
            <a:off x="4082796" y="7699248"/>
            <a:ext cx="272948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Есікке сүйенбеңіз.</a:t>
            </a:r>
            <a:endParaRPr lang="en-US" sz="1200" dirty="0"/>
          </a:p>
        </p:txBody>
      </p:sp>
      <p:pic>
        <p:nvPicPr>
          <p:cNvPr id="4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26764" y="8147304"/>
            <a:ext cx="173736" cy="173736"/>
          </a:xfrm>
          <a:prstGeom prst="rect">
            <a:avLst/>
          </a:prstGeom>
        </p:spPr>
      </p:pic>
      <p:sp>
        <p:nvSpPr>
          <p:cNvPr id="46" name="Text 25"/>
          <p:cNvSpPr/>
          <p:nvPr/>
        </p:nvSpPr>
        <p:spPr>
          <a:xfrm>
            <a:off x="4082796" y="8119872"/>
            <a:ext cx="272948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Балаларды қолынан ұстаңыз.</a:t>
            </a:r>
            <a:endParaRPr lang="en-US" sz="1200" dirty="0"/>
          </a:p>
        </p:txBody>
      </p:sp>
      <p:sp>
        <p:nvSpPr>
          <p:cNvPr id="47" name="Text 26"/>
          <p:cNvSpPr/>
          <p:nvPr/>
        </p:nvSpPr>
        <p:spPr>
          <a:xfrm>
            <a:off x="457200" y="8796528"/>
            <a:ext cx="6647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Төтенше жағдай нөмірлері</a:t>
            </a:r>
            <a:endParaRPr lang="en-US" sz="1500" dirty="0"/>
          </a:p>
        </p:txBody>
      </p:sp>
      <p:sp>
        <p:nvSpPr>
          <p:cNvPr id="48" name="Shape 27"/>
          <p:cNvSpPr/>
          <p:nvPr/>
        </p:nvSpPr>
        <p:spPr>
          <a:xfrm>
            <a:off x="457200" y="9107424"/>
            <a:ext cx="2093976" cy="676656"/>
          </a:xfrm>
          <a:prstGeom prst="roundRect">
            <a:avLst>
              <a:gd name="adj" fmla="val 16216"/>
            </a:avLst>
          </a:prstGeom>
          <a:solidFill>
            <a:srgbClr val="E4572E"/>
          </a:solidFill>
          <a:ln/>
          <a:effectLst>
            <a:outerShdw sx="100000" sy="100000" kx="0" ky="0" algn="bl" rotWithShape="0" blurRad="101600" dist="38100" dir="5400000">
              <a:srgbClr val="0A2C40">
                <a:alpha val="13000"/>
              </a:srgbClr>
            </a:outerShdw>
          </a:effectLst>
        </p:spPr>
      </p:sp>
      <p:sp>
        <p:nvSpPr>
          <p:cNvPr id="49" name="Text 28"/>
          <p:cNvSpPr/>
          <p:nvPr/>
        </p:nvSpPr>
        <p:spPr>
          <a:xfrm>
            <a:off x="548640" y="9107424"/>
            <a:ext cx="84124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</a:t>
            </a:r>
            <a:endParaRPr lang="en-US" sz="2900" dirty="0"/>
          </a:p>
        </p:txBody>
      </p:sp>
      <p:sp>
        <p:nvSpPr>
          <p:cNvPr id="50" name="Text 29"/>
          <p:cNvSpPr/>
          <p:nvPr/>
        </p:nvSpPr>
        <p:spPr>
          <a:xfrm>
            <a:off x="1353312" y="9107424"/>
            <a:ext cx="112471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Бірыңғай құтқару қызметі</a:t>
            </a:r>
            <a:endParaRPr lang="en-US" sz="1100" dirty="0"/>
          </a:p>
        </p:txBody>
      </p:sp>
      <p:sp>
        <p:nvSpPr>
          <p:cNvPr id="51" name="Shape 30"/>
          <p:cNvSpPr/>
          <p:nvPr/>
        </p:nvSpPr>
        <p:spPr>
          <a:xfrm>
            <a:off x="2734056" y="9107424"/>
            <a:ext cx="2093976" cy="676656"/>
          </a:xfrm>
          <a:prstGeom prst="roundRect">
            <a:avLst>
              <a:gd name="adj" fmla="val 16216"/>
            </a:avLst>
          </a:prstGeom>
          <a:solidFill>
            <a:srgbClr val="0B5E86"/>
          </a:solidFill>
          <a:ln/>
          <a:effectLst>
            <a:outerShdw sx="100000" sy="100000" kx="0" ky="0" algn="bl" rotWithShape="0" blurRad="101600" dist="38100" dir="5400000">
              <a:srgbClr val="0A2C40">
                <a:alpha val="13000"/>
              </a:srgbClr>
            </a:outerShdw>
          </a:effectLst>
        </p:spPr>
      </p:sp>
      <p:sp>
        <p:nvSpPr>
          <p:cNvPr id="52" name="Text 31"/>
          <p:cNvSpPr/>
          <p:nvPr/>
        </p:nvSpPr>
        <p:spPr>
          <a:xfrm>
            <a:off x="2825496" y="9107424"/>
            <a:ext cx="84124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2900" dirty="0"/>
          </a:p>
        </p:txBody>
      </p:sp>
      <p:sp>
        <p:nvSpPr>
          <p:cNvPr id="53" name="Text 32"/>
          <p:cNvSpPr/>
          <p:nvPr/>
        </p:nvSpPr>
        <p:spPr>
          <a:xfrm>
            <a:off x="3630168" y="9107424"/>
            <a:ext cx="112471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Полиция</a:t>
            </a:r>
            <a:endParaRPr lang="en-US" sz="1100" dirty="0"/>
          </a:p>
        </p:txBody>
      </p:sp>
      <p:sp>
        <p:nvSpPr>
          <p:cNvPr id="54" name="Shape 33"/>
          <p:cNvSpPr/>
          <p:nvPr/>
        </p:nvSpPr>
        <p:spPr>
          <a:xfrm>
            <a:off x="5010912" y="9107424"/>
            <a:ext cx="2093976" cy="676656"/>
          </a:xfrm>
          <a:prstGeom prst="roundRect">
            <a:avLst>
              <a:gd name="adj" fmla="val 16216"/>
            </a:avLst>
          </a:prstGeom>
          <a:solidFill>
            <a:srgbClr val="1E8A60"/>
          </a:solidFill>
          <a:ln/>
          <a:effectLst>
            <a:outerShdw sx="100000" sy="100000" kx="0" ky="0" algn="bl" rotWithShape="0" blurRad="101600" dist="38100" dir="5400000">
              <a:srgbClr val="0A2C40">
                <a:alpha val="13000"/>
              </a:srgbClr>
            </a:outerShdw>
          </a:effectLst>
        </p:spPr>
      </p:sp>
      <p:sp>
        <p:nvSpPr>
          <p:cNvPr id="55" name="Text 34"/>
          <p:cNvSpPr/>
          <p:nvPr/>
        </p:nvSpPr>
        <p:spPr>
          <a:xfrm>
            <a:off x="5102352" y="9107424"/>
            <a:ext cx="84124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2900" dirty="0"/>
          </a:p>
        </p:txBody>
      </p:sp>
      <p:sp>
        <p:nvSpPr>
          <p:cNvPr id="56" name="Text 35"/>
          <p:cNvSpPr/>
          <p:nvPr/>
        </p:nvSpPr>
        <p:spPr>
          <a:xfrm>
            <a:off x="5907024" y="9107424"/>
            <a:ext cx="112471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Жедел жәрдем</a:t>
            </a:r>
            <a:endParaRPr lang="en-US" sz="1100" dirty="0"/>
          </a:p>
        </p:txBody>
      </p:sp>
      <p:sp>
        <p:nvSpPr>
          <p:cNvPr id="57" name="Shape 36"/>
          <p:cNvSpPr/>
          <p:nvPr/>
        </p:nvSpPr>
        <p:spPr>
          <a:xfrm>
            <a:off x="457200" y="9857232"/>
            <a:ext cx="6647688" cy="512064"/>
          </a:xfrm>
          <a:prstGeom prst="roundRect">
            <a:avLst>
              <a:gd name="adj" fmla="val 21429"/>
            </a:avLst>
          </a:prstGeom>
          <a:solidFill>
            <a:srgbClr val="0E3A54"/>
          </a:solidFill>
          <a:ln/>
          <a:effectLst>
            <a:outerShdw sx="100000" sy="100000" kx="0" ky="0" algn="bl" rotWithShape="0" blurRad="101600" dist="38100" dir="5400000">
              <a:srgbClr val="0A2C40">
                <a:alpha val="13000"/>
              </a:srgbClr>
            </a:outerShdw>
          </a:effectLst>
        </p:spPr>
      </p:sp>
      <p:sp>
        <p:nvSpPr>
          <p:cNvPr id="58" name="Text 37"/>
          <p:cNvSpPr/>
          <p:nvPr/>
        </p:nvSpPr>
        <p:spPr>
          <a:xfrm>
            <a:off x="640080" y="9857232"/>
            <a:ext cx="62819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FDB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Қауіпсіздік — өз қолыңызда. Абай болыңыз!</a:t>
            </a:r>
            <a:endParaRPr lang="en-US" sz="1450" dirty="0"/>
          </a:p>
        </p:txBody>
      </p:sp>
      <p:sp>
        <p:nvSpPr>
          <p:cNvPr id="59" name="Rectangle 58"/>
          <p:cNvSpPr/>
          <p:nvPr/>
        </p:nvSpPr>
        <p:spPr>
          <a:xfrm>
            <a:off x="0" y="0"/>
            <a:ext cx="7562088" cy="88900"/>
          </a:xfrm>
          <a:prstGeom prst="rect">
            <a:avLst/>
          </a:prstGeom>
          <a:solidFill>
            <a:srgbClr val="0E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Брошюра безопасности ЛРТ</dc:title>
  <dc:subject>PptxGenJS Presentation</dc:subject>
  <dc:creator>Прокуратура города Астаны</dc:creator>
  <cp:lastModifiedBy>Прокуратура города Астаны</cp:lastModifiedBy>
  <cp:revision>1</cp:revision>
  <dcterms:created xsi:type="dcterms:W3CDTF">2026-07-07T18:25:23Z</dcterms:created>
  <dcterms:modified xsi:type="dcterms:W3CDTF">2026-07-07T18:25:23Z</dcterms:modified>
</cp:coreProperties>
</file>